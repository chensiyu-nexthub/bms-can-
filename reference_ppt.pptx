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F9F6"/>
    <a:srgbClr val="0E4A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3810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各位老师好。我汇报的题目是基于 STM32 的蓝牙智能加湿器，目标是用成熟模块做出一台可手机控制、自动判断湿度、支持定时和超时保护的完整样机。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背景：市面上已有的单片机加湿器大多只有简单阈值控制。本课题在成熟技术上补上手机蓝牙、定时加湿和长时间运行保护，兼具实用、学习和延伸价值。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毕设要做的是一台蓝牙智能加湿器样机。核心是 STM32F103C8T6，配合 DHT11、OLED、JDY-31、HE-30A 雾化片和蜂鸣器，完成从采集、决策、控制到执行的完整闭环。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功能上主要分六块：显示、蓝牙控制、定时、自动、保护和告警。自动模式的逻辑是湿度低于 40% 持续加湿，40% 到 70% 间歇加湿，高于 70% 停止，保护逻辑覆盖长时间运行场景。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实施上采用“先分模块、后系统集成”的方式：资料调研和方案先行，每个模块单独写测试程序验证，再库函数化并集成主程序，最后经过整机测试转入 PCB。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难点主要集中在传感器时序、蓝牙与雾化控制的并发、定时可靠性、长时运行保护和 PCB 设计。每项都有对应工程措施，并且坚持增量测试，降低联调难度。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预期成果是一台可稳定运行的 PCB 样机，配合模块化源码、测试记录和论文。验收标准覆盖显示、蓝牙控制、定时、自动模式和保护逻辑，能够现场演示答辩。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进度安排上，当前已完成选题、任务书和开题报告；9 月下旬到 10 月中旬完成作品设计与实现，10 月中期检查，11 到 12 月完成论文和评审送审，12 月 23 日答辩。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我的汇报到这里结束，谢谢各位老师，恳请批评指正。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F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EFF9F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2743200" y="2171700"/>
            <a:ext cx="670255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0" b="1" dirty="0">
                <a:solidFill>
                  <a:srgbClr val="123B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 题 报 告</a:t>
            </a:r>
            <a:endParaRPr lang="en-US" sz="9200" dirty="0"/>
          </a:p>
        </p:txBody>
      </p:sp>
      <p:sp>
        <p:nvSpPr>
          <p:cNvPr id="4" name="Text 2"/>
          <p:cNvSpPr/>
          <p:nvPr/>
        </p:nvSpPr>
        <p:spPr>
          <a:xfrm>
            <a:off x="6126480" y="39776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0E7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项目名称：基于 STM32 的蓝牙智能加湿器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31520" y="555955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23B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姓名：林鸿烨      学号：239200519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587044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23B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班级：230918105    指导教师：刘超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" y="310896"/>
            <a:ext cx="512064" cy="512064"/>
          </a:xfrm>
          <a:prstGeom prst="roundRect">
            <a:avLst>
              <a:gd name="adj" fmla="val 28571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76072" y="384048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98448" y="228600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23B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选题背景与意义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94360" y="1170432"/>
            <a:ext cx="11000232" cy="749808"/>
          </a:xfrm>
          <a:prstGeom prst="roundRect">
            <a:avLst>
              <a:gd name="adj" fmla="val 14634"/>
            </a:avLst>
          </a:prstGeom>
          <a:solidFill>
            <a:srgbClr val="E3F5F1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353312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243584"/>
            <a:ext cx="10058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123B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家庭、宿舍和实验室都需要合适的湿度：太干会让人不适，太湿容易发霉。加湿器正从手动开关走向传感自动与无线智能控制。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94360" y="2148840"/>
            <a:ext cx="580644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594360" y="2148840"/>
            <a:ext cx="580644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/>
          <a:effectLst>
            <a:outerShdw blurRad="76200" dist="50800" dir="2700000" algn="bl" rotWithShape="0">
              <a:srgbClr val="9FBDB8">
                <a:alpha val="7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850392" y="2368296"/>
            <a:ext cx="5294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23B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发展路径与本课题切入点</a:t>
            </a:r>
            <a:endParaRPr lang="en-US" sz="15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3872" y="2359152"/>
            <a:ext cx="365760" cy="36576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868680" y="2971800"/>
            <a:ext cx="438912" cy="438912"/>
          </a:xfrm>
          <a:prstGeom prst="roundRect">
            <a:avLst>
              <a:gd name="adj" fmla="val 29167"/>
            </a:avLst>
          </a:prstGeom>
          <a:solidFill>
            <a:srgbClr val="E3F5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0"/>
          <p:cNvSpPr/>
          <p:nvPr/>
        </p:nvSpPr>
        <p:spPr>
          <a:xfrm>
            <a:off x="868680" y="306324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7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481328" y="2916936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23B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手动机械阶段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1481328" y="326440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E7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只能到机旁开关，不能判断房间干湿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68680" y="3840480"/>
            <a:ext cx="438912" cy="438912"/>
          </a:xfrm>
          <a:prstGeom prst="roundRect">
            <a:avLst>
              <a:gd name="adj" fmla="val 29167"/>
            </a:avLst>
          </a:prstGeom>
          <a:solidFill>
            <a:srgbClr val="E3F5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4"/>
          <p:cNvSpPr/>
          <p:nvPr/>
        </p:nvSpPr>
        <p:spPr>
          <a:xfrm>
            <a:off x="868680" y="393192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7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1481328" y="3785616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23B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传感自动阶段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1481328" y="413308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E7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单片机 + 湿度传感器，低湿开、高湿关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868680" y="4709160"/>
            <a:ext cx="438912" cy="438912"/>
          </a:xfrm>
          <a:prstGeom prst="roundRect">
            <a:avLst>
              <a:gd name="adj" fmla="val 29167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8"/>
          <p:cNvSpPr/>
          <p:nvPr/>
        </p:nvSpPr>
        <p:spPr>
          <a:xfrm>
            <a:off x="868680" y="480060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1481328" y="4654296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23B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智能一体阶段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1481328" y="500176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E7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蓝牙手机控制、定时与多模式逐渐出现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868680" y="5596128"/>
            <a:ext cx="5257800" cy="640080"/>
          </a:xfrm>
          <a:prstGeom prst="roundRect">
            <a:avLst>
              <a:gd name="adj" fmla="val 14286"/>
            </a:avLst>
          </a:prstGeom>
          <a:solidFill>
            <a:srgbClr val="FDE8D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2"/>
          <p:cNvSpPr/>
          <p:nvPr/>
        </p:nvSpPr>
        <p:spPr>
          <a:xfrm>
            <a:off x="1078992" y="5669280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23B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已有研究多为“低湿开、高湿关”，蓝牙指令少，缺少定时与长时间运行保护，正是本课题的切入点。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6629400" y="2148840"/>
            <a:ext cx="4965192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4"/>
          <p:cNvSpPr/>
          <p:nvPr/>
        </p:nvSpPr>
        <p:spPr>
          <a:xfrm>
            <a:off x="6629400" y="2148840"/>
            <a:ext cx="4965192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/>
          <a:effectLst>
            <a:outerShdw blurRad="76200" dist="50800" dir="2700000" algn="bl" rotWithShape="0">
              <a:srgbClr val="9FBDB8">
                <a:alpha val="7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5"/>
          <p:cNvSpPr/>
          <p:nvPr/>
        </p:nvSpPr>
        <p:spPr>
          <a:xfrm>
            <a:off x="6885432" y="2368296"/>
            <a:ext cx="4453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23B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选题依据与三方面意义</a:t>
            </a:r>
            <a:endParaRPr lang="en-US" sz="1500" dirty="0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7664" y="2359152"/>
            <a:ext cx="365760" cy="365760"/>
          </a:xfrm>
          <a:prstGeom prst="rect">
            <a:avLst/>
          </a:prstGeom>
        </p:spPr>
      </p:pic>
      <p:sp>
        <p:nvSpPr>
          <p:cNvPr id="31" name="Shape 26"/>
          <p:cNvSpPr/>
          <p:nvPr/>
        </p:nvSpPr>
        <p:spPr>
          <a:xfrm>
            <a:off x="6885432" y="2962656"/>
            <a:ext cx="420624" cy="420624"/>
          </a:xfrm>
          <a:prstGeom prst="roundRect">
            <a:avLst>
              <a:gd name="adj" fmla="val 30435"/>
            </a:avLst>
          </a:prstGeom>
          <a:solidFill>
            <a:srgbClr val="E3F5F1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2008" y="2999232"/>
            <a:ext cx="347472" cy="347472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452360" y="294436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9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实用价值</a:t>
            </a:r>
            <a:endParaRPr lang="en-US" sz="1250" dirty="0"/>
          </a:p>
        </p:txBody>
      </p:sp>
      <p:sp>
        <p:nvSpPr>
          <p:cNvPr id="34" name="Text 28"/>
          <p:cNvSpPr/>
          <p:nvPr/>
        </p:nvSpPr>
        <p:spPr>
          <a:xfrm>
            <a:off x="7452360" y="3255264"/>
            <a:ext cx="3913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3F5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自动判断湿度，手机蓝牙控制、定时加湿，并带防干烧、防过热保护</a:t>
            </a:r>
            <a:endParaRPr lang="en-US" sz="1100" dirty="0"/>
          </a:p>
        </p:txBody>
      </p:sp>
      <p:sp>
        <p:nvSpPr>
          <p:cNvPr id="35" name="Shape 29"/>
          <p:cNvSpPr/>
          <p:nvPr/>
        </p:nvSpPr>
        <p:spPr>
          <a:xfrm>
            <a:off x="6885432" y="3858768"/>
            <a:ext cx="420624" cy="420624"/>
          </a:xfrm>
          <a:prstGeom prst="roundRect">
            <a:avLst>
              <a:gd name="adj" fmla="val 30435"/>
            </a:avLst>
          </a:prstGeom>
          <a:solidFill>
            <a:srgbClr val="E3F5F1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2008" y="3895344"/>
            <a:ext cx="347472" cy="347472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7452360" y="384048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9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学习价值</a:t>
            </a:r>
            <a:endParaRPr lang="en-US" sz="1250" dirty="0"/>
          </a:p>
        </p:txBody>
      </p:sp>
      <p:sp>
        <p:nvSpPr>
          <p:cNvPr id="38" name="Text 31"/>
          <p:cNvSpPr/>
          <p:nvPr/>
        </p:nvSpPr>
        <p:spPr>
          <a:xfrm>
            <a:off x="7452360" y="4151376"/>
            <a:ext cx="3913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3F5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完整串联单片机、传感器、显示、蓝牙与雾化控制，训练模块化开发和排障能力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6885432" y="4754880"/>
            <a:ext cx="420624" cy="420624"/>
          </a:xfrm>
          <a:prstGeom prst="roundRect">
            <a:avLst>
              <a:gd name="adj" fmla="val 30435"/>
            </a:avLst>
          </a:prstGeom>
          <a:solidFill>
            <a:srgbClr val="E3F5F1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2008" y="4791456"/>
            <a:ext cx="347472" cy="347472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7452360" y="473659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9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延伸价值</a:t>
            </a:r>
            <a:endParaRPr lang="en-US" sz="1250" dirty="0"/>
          </a:p>
        </p:txBody>
      </p:sp>
      <p:sp>
        <p:nvSpPr>
          <p:cNvPr id="42" name="Text 34"/>
          <p:cNvSpPr/>
          <p:nvPr/>
        </p:nvSpPr>
        <p:spPr>
          <a:xfrm>
            <a:off x="7452360" y="5047488"/>
            <a:ext cx="3913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3F5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可继续扩展联网远程控制、加湿时长统计、更多数据展示</a:t>
            </a:r>
            <a:endParaRPr lang="en-US" sz="1100" dirty="0"/>
          </a:p>
        </p:txBody>
      </p:sp>
      <p:sp>
        <p:nvSpPr>
          <p:cNvPr id="43" name="Shape 35"/>
          <p:cNvSpPr/>
          <p:nvPr/>
        </p:nvSpPr>
        <p:spPr>
          <a:xfrm>
            <a:off x="6885432" y="5650992"/>
            <a:ext cx="420624" cy="420624"/>
          </a:xfrm>
          <a:prstGeom prst="roundRect">
            <a:avLst>
              <a:gd name="adj" fmla="val 30435"/>
            </a:avLst>
          </a:prstGeom>
          <a:solidFill>
            <a:srgbClr val="E3F5F1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2008" y="5687568"/>
            <a:ext cx="347472" cy="347472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7452360" y="563270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9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技术可行</a:t>
            </a:r>
            <a:endParaRPr lang="en-US" sz="1250" dirty="0"/>
          </a:p>
        </p:txBody>
      </p:sp>
      <p:sp>
        <p:nvSpPr>
          <p:cNvPr id="46" name="Text 37"/>
          <p:cNvSpPr/>
          <p:nvPr/>
        </p:nvSpPr>
        <p:spPr>
          <a:xfrm>
            <a:off x="7452360" y="5943600"/>
            <a:ext cx="3913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3F5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STM32 性价比高、资料多，DHT11 / OLED / JDY-31 / HE-30A 均为成熟器件</a:t>
            </a:r>
            <a:endParaRPr lang="en-US" sz="1100" dirty="0"/>
          </a:p>
        </p:txBody>
      </p:sp>
      <p:sp>
        <p:nvSpPr>
          <p:cNvPr id="47" name="Text 38"/>
          <p:cNvSpPr/>
          <p:nvPr/>
        </p:nvSpPr>
        <p:spPr>
          <a:xfrm>
            <a:off x="594360" y="645566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5E7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林鸿烨 ｜ 基于 STM32 的蓝牙智能加湿器 · 毕业设计开题汇报</a:t>
            </a:r>
            <a:endParaRPr lang="en-US" sz="850" dirty="0"/>
          </a:p>
        </p:txBody>
      </p:sp>
      <p:sp>
        <p:nvSpPr>
          <p:cNvPr id="48" name="Text 39"/>
          <p:cNvSpPr/>
          <p:nvPr/>
        </p:nvSpPr>
        <p:spPr>
          <a:xfrm>
            <a:off x="10835640" y="64556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5E7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09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" y="310896"/>
            <a:ext cx="512064" cy="512064"/>
          </a:xfrm>
          <a:prstGeom prst="roundRect">
            <a:avLst>
              <a:gd name="adj" fmla="val 28571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76072" y="384048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98448" y="228600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 err="1">
                <a:solidFill>
                  <a:srgbClr val="123B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毕设内容：做一台</a:t>
            </a:r>
            <a:r>
              <a:rPr lang="zh-CN" altLang="en-US" sz="2500" b="1" dirty="0">
                <a:solidFill>
                  <a:srgbClr val="123B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</a:t>
            </a:r>
            <a:r>
              <a:rPr lang="en-US" altLang="zh-CN" sz="2500" b="1" dirty="0">
                <a:solidFill>
                  <a:srgbClr val="123B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STM32</a:t>
            </a:r>
            <a:r>
              <a:rPr lang="zh-CN" altLang="en-US" sz="2500" b="1" dirty="0">
                <a:solidFill>
                  <a:srgbClr val="123B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的蓝牙加湿器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94360" y="1170432"/>
            <a:ext cx="11000232" cy="731520"/>
          </a:xfrm>
          <a:prstGeom prst="roundRect">
            <a:avLst>
              <a:gd name="adj" fmla="val 15000"/>
            </a:avLst>
          </a:prstGeom>
          <a:solidFill>
            <a:srgbClr val="E3F5F1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344168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225296"/>
            <a:ext cx="10104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23B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 STM32F103C8T6 为控制核心制作蓝牙智能加湿器样机：测量并显示温湿度，由手机蓝牙控制加湿，支持手动、自动、定时与保护。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594360" y="210312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  <a:effectLst>
            <a:outerShdw blurRad="76200" dist="50800" dir="2700000" algn="bl" rotWithShape="0">
              <a:srgbClr val="9FBDB8">
                <a:alpha val="7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850392" y="2322576"/>
            <a:ext cx="4974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23B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主要硬件与职责</a:t>
            </a:r>
            <a:endParaRPr lang="en-US" sz="15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3832" y="2313432"/>
            <a:ext cx="365760" cy="36576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896112" y="2944368"/>
            <a:ext cx="2359152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0"/>
          <p:cNvSpPr/>
          <p:nvPr/>
        </p:nvSpPr>
        <p:spPr>
          <a:xfrm>
            <a:off x="1024128" y="303580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09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STM32F103C8T6</a:t>
            </a:r>
            <a:endParaRPr lang="en-US" sz="1080" dirty="0"/>
          </a:p>
        </p:txBody>
      </p:sp>
      <p:sp>
        <p:nvSpPr>
          <p:cNvPr id="15" name="Text 11"/>
          <p:cNvSpPr/>
          <p:nvPr/>
        </p:nvSpPr>
        <p:spPr>
          <a:xfrm>
            <a:off x="1024128" y="3328416"/>
            <a:ext cx="2121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900" dirty="0">
                <a:solidFill>
                  <a:srgbClr val="5E7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控制核心：读传感器、处理蓝牙指令并驱动输出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3401568" y="2944368"/>
            <a:ext cx="2359152" cy="822960"/>
          </a:xfrm>
          <a:prstGeom prst="roundRect">
            <a:avLst>
              <a:gd name="adj" fmla="val 11111"/>
            </a:avLst>
          </a:prstGeom>
          <a:solidFill>
            <a:srgbClr val="F6FC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3"/>
          <p:cNvSpPr/>
          <p:nvPr/>
        </p:nvSpPr>
        <p:spPr>
          <a:xfrm>
            <a:off x="3529584" y="303580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09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DHT11</a:t>
            </a:r>
            <a:endParaRPr lang="en-US" sz="1080" dirty="0"/>
          </a:p>
        </p:txBody>
      </p:sp>
      <p:sp>
        <p:nvSpPr>
          <p:cNvPr id="18" name="Text 14"/>
          <p:cNvSpPr/>
          <p:nvPr/>
        </p:nvSpPr>
        <p:spPr>
          <a:xfrm>
            <a:off x="3529584" y="3328416"/>
            <a:ext cx="2121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900" dirty="0">
                <a:solidFill>
                  <a:srgbClr val="5E7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测温湿度，数据线接 PA5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896112" y="3858768"/>
            <a:ext cx="2359152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6"/>
          <p:cNvSpPr/>
          <p:nvPr/>
        </p:nvSpPr>
        <p:spPr>
          <a:xfrm>
            <a:off x="1024128" y="395020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09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0.96 寸 OLED</a:t>
            </a:r>
            <a:endParaRPr lang="en-US" sz="1080" dirty="0"/>
          </a:p>
        </p:txBody>
      </p:sp>
      <p:sp>
        <p:nvSpPr>
          <p:cNvPr id="21" name="Text 17"/>
          <p:cNvSpPr/>
          <p:nvPr/>
        </p:nvSpPr>
        <p:spPr>
          <a:xfrm>
            <a:off x="1024128" y="4242816"/>
            <a:ext cx="2121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900" dirty="0">
                <a:solidFill>
                  <a:srgbClr val="5E7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SSD1306 驱动，PB6 / PB7，显示时间与数据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3401568" y="3858768"/>
            <a:ext cx="2359152" cy="822960"/>
          </a:xfrm>
          <a:prstGeom prst="roundRect">
            <a:avLst>
              <a:gd name="adj" fmla="val 11111"/>
            </a:avLst>
          </a:prstGeom>
          <a:solidFill>
            <a:srgbClr val="F6FC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19"/>
          <p:cNvSpPr/>
          <p:nvPr/>
        </p:nvSpPr>
        <p:spPr>
          <a:xfrm>
            <a:off x="3529584" y="395020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09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JDY-31</a:t>
            </a:r>
            <a:endParaRPr lang="en-US" sz="1080" dirty="0"/>
          </a:p>
        </p:txBody>
      </p:sp>
      <p:sp>
        <p:nvSpPr>
          <p:cNvPr id="24" name="Text 20"/>
          <p:cNvSpPr/>
          <p:nvPr/>
        </p:nvSpPr>
        <p:spPr>
          <a:xfrm>
            <a:off x="3529584" y="4242816"/>
            <a:ext cx="2121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900" dirty="0">
                <a:solidFill>
                  <a:srgbClr val="5E7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SPP 蓝牙，9600</a:t>
            </a:r>
            <a:r>
              <a:rPr lang="zh-CN" altLang="en-US" sz="900" dirty="0">
                <a:solidFill>
                  <a:srgbClr val="5E7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波特率</a:t>
            </a:r>
            <a:r>
              <a:rPr lang="en-US" sz="900" dirty="0">
                <a:solidFill>
                  <a:srgbClr val="5E7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，PA2 / PA3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896112" y="4773168"/>
            <a:ext cx="2359152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2"/>
          <p:cNvSpPr/>
          <p:nvPr/>
        </p:nvSpPr>
        <p:spPr>
          <a:xfrm>
            <a:off x="1024128" y="486460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09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HE-30A 雾化片</a:t>
            </a:r>
            <a:endParaRPr lang="en-US" sz="1080" dirty="0"/>
          </a:p>
        </p:txBody>
      </p:sp>
      <p:sp>
        <p:nvSpPr>
          <p:cNvPr id="27" name="Text 23"/>
          <p:cNvSpPr/>
          <p:nvPr/>
        </p:nvSpPr>
        <p:spPr>
          <a:xfrm>
            <a:off x="1024128" y="5157216"/>
            <a:ext cx="2121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900" dirty="0">
                <a:solidFill>
                  <a:srgbClr val="5E7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高频振动雾化水，控制接 PA7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3401568" y="4773168"/>
            <a:ext cx="2359152" cy="822960"/>
          </a:xfrm>
          <a:prstGeom prst="roundRect">
            <a:avLst>
              <a:gd name="adj" fmla="val 11111"/>
            </a:avLst>
          </a:prstGeom>
          <a:solidFill>
            <a:srgbClr val="F6FC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5"/>
          <p:cNvSpPr/>
          <p:nvPr/>
        </p:nvSpPr>
        <p:spPr>
          <a:xfrm>
            <a:off x="3529584" y="486460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09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有源蜂鸣器</a:t>
            </a:r>
            <a:endParaRPr lang="en-US" sz="1080" dirty="0"/>
          </a:p>
        </p:txBody>
      </p:sp>
      <p:sp>
        <p:nvSpPr>
          <p:cNvPr id="30" name="Text 26"/>
          <p:cNvSpPr/>
          <p:nvPr/>
        </p:nvSpPr>
        <p:spPr>
          <a:xfrm>
            <a:off x="3529584" y="5157216"/>
            <a:ext cx="2121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900" dirty="0">
                <a:solidFill>
                  <a:srgbClr val="5E7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定时结束与异常报警，接 PB10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6355080" y="2103120"/>
            <a:ext cx="5239512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28"/>
          <p:cNvSpPr/>
          <p:nvPr/>
        </p:nvSpPr>
        <p:spPr>
          <a:xfrm>
            <a:off x="6355080" y="2103120"/>
            <a:ext cx="5239512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  <a:effectLst>
            <a:outerShdw blurRad="76200" dist="50800" dir="2700000" algn="bl" rotWithShape="0">
              <a:srgbClr val="9FBDB8">
                <a:alpha val="7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3" name="Text 29"/>
          <p:cNvSpPr/>
          <p:nvPr/>
        </p:nvSpPr>
        <p:spPr>
          <a:xfrm>
            <a:off x="6611112" y="2322576"/>
            <a:ext cx="4727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23B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工作闭环：采集 → 决策 → 执行</a:t>
            </a:r>
            <a:endParaRPr lang="en-US" sz="1500" dirty="0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7664" y="2313432"/>
            <a:ext cx="365760" cy="365760"/>
          </a:xfrm>
          <a:prstGeom prst="rect">
            <a:avLst/>
          </a:prstGeom>
        </p:spPr>
      </p:pic>
      <p:sp>
        <p:nvSpPr>
          <p:cNvPr id="35" name="Shape 30"/>
          <p:cNvSpPr/>
          <p:nvPr/>
        </p:nvSpPr>
        <p:spPr>
          <a:xfrm>
            <a:off x="6656832" y="3035808"/>
            <a:ext cx="2487168" cy="1152144"/>
          </a:xfrm>
          <a:prstGeom prst="roundRect">
            <a:avLst>
              <a:gd name="adj" fmla="val 7937"/>
            </a:avLst>
          </a:prstGeom>
          <a:solidFill>
            <a:srgbClr val="E3F5F1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3182112"/>
            <a:ext cx="402336" cy="402336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7434072" y="321868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9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</a:t>
            </a:r>
            <a:endParaRPr lang="en-US" sz="1300" dirty="0"/>
          </a:p>
        </p:txBody>
      </p:sp>
      <p:sp>
        <p:nvSpPr>
          <p:cNvPr id="38" name="Text 32"/>
          <p:cNvSpPr/>
          <p:nvPr/>
        </p:nvSpPr>
        <p:spPr>
          <a:xfrm>
            <a:off x="7434072" y="35844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F5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DHT11 温湿度</a:t>
            </a:r>
            <a:endParaRPr lang="en-US" sz="1050" dirty="0"/>
          </a:p>
        </p:txBody>
      </p:sp>
      <p:sp>
        <p:nvSpPr>
          <p:cNvPr id="39" name="Text 33"/>
          <p:cNvSpPr/>
          <p:nvPr/>
        </p:nvSpPr>
        <p:spPr>
          <a:xfrm>
            <a:off x="9034272" y="3383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96F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40" name="Shape 34"/>
          <p:cNvSpPr/>
          <p:nvPr/>
        </p:nvSpPr>
        <p:spPr>
          <a:xfrm>
            <a:off x="9354312" y="3035808"/>
            <a:ext cx="2487168" cy="1152144"/>
          </a:xfrm>
          <a:prstGeom prst="roundRect">
            <a:avLst>
              <a:gd name="adj" fmla="val 7937"/>
            </a:avLst>
          </a:prstGeom>
          <a:solidFill>
            <a:srgbClr val="F6FCFA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2912" y="3182112"/>
            <a:ext cx="402336" cy="402336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10131552" y="321868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9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</a:t>
            </a:r>
            <a:endParaRPr lang="en-US" sz="1300" dirty="0"/>
          </a:p>
        </p:txBody>
      </p:sp>
      <p:sp>
        <p:nvSpPr>
          <p:cNvPr id="43" name="Text 36"/>
          <p:cNvSpPr/>
          <p:nvPr/>
        </p:nvSpPr>
        <p:spPr>
          <a:xfrm>
            <a:off x="10131552" y="35844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F5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STM32 主控</a:t>
            </a:r>
            <a:endParaRPr lang="en-US" sz="1050" dirty="0"/>
          </a:p>
        </p:txBody>
      </p:sp>
      <p:sp>
        <p:nvSpPr>
          <p:cNvPr id="44" name="Text 37"/>
          <p:cNvSpPr/>
          <p:nvPr/>
        </p:nvSpPr>
        <p:spPr>
          <a:xfrm>
            <a:off x="10277856" y="4233295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96F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600" dirty="0"/>
          </a:p>
        </p:txBody>
      </p:sp>
      <p:sp>
        <p:nvSpPr>
          <p:cNvPr id="45" name="Shape 38"/>
          <p:cNvSpPr/>
          <p:nvPr/>
        </p:nvSpPr>
        <p:spPr>
          <a:xfrm>
            <a:off x="6656832" y="4453128"/>
            <a:ext cx="2487168" cy="1152144"/>
          </a:xfrm>
          <a:prstGeom prst="roundRect">
            <a:avLst>
              <a:gd name="adj" fmla="val 7937"/>
            </a:avLst>
          </a:prstGeom>
          <a:solidFill>
            <a:srgbClr val="E3F5F1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6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4599432"/>
            <a:ext cx="402336" cy="402336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7434072" y="463600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9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</a:t>
            </a:r>
            <a:endParaRPr lang="en-US" sz="1300" dirty="0"/>
          </a:p>
        </p:txBody>
      </p:sp>
      <p:sp>
        <p:nvSpPr>
          <p:cNvPr id="48" name="Text 40"/>
          <p:cNvSpPr/>
          <p:nvPr/>
        </p:nvSpPr>
        <p:spPr>
          <a:xfrm>
            <a:off x="7434072" y="500176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F5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JDY-31 + </a:t>
            </a:r>
            <a:r>
              <a:rPr lang="en-US" sz="1050" dirty="0" err="1">
                <a:solidFill>
                  <a:srgbClr val="3F5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</a:t>
            </a:r>
            <a:r>
              <a:rPr lang="zh-CN" altLang="en-US" sz="1050" dirty="0">
                <a:solidFill>
                  <a:srgbClr val="3F5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蓝牙</a:t>
            </a:r>
            <a:endParaRPr lang="en-US" sz="1050" dirty="0"/>
          </a:p>
        </p:txBody>
      </p:sp>
      <p:sp>
        <p:nvSpPr>
          <p:cNvPr id="49" name="Text 41"/>
          <p:cNvSpPr/>
          <p:nvPr/>
        </p:nvSpPr>
        <p:spPr>
          <a:xfrm>
            <a:off x="9034272" y="4800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96F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50" name="Shape 42"/>
          <p:cNvSpPr/>
          <p:nvPr/>
        </p:nvSpPr>
        <p:spPr>
          <a:xfrm>
            <a:off x="9354312" y="4453128"/>
            <a:ext cx="2487168" cy="1152144"/>
          </a:xfrm>
          <a:prstGeom prst="roundRect">
            <a:avLst>
              <a:gd name="adj" fmla="val 7937"/>
            </a:avLst>
          </a:prstGeom>
          <a:solidFill>
            <a:srgbClr val="E3F5F1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51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2912" y="4599432"/>
            <a:ext cx="402336" cy="402336"/>
          </a:xfrm>
          <a:prstGeom prst="rect">
            <a:avLst/>
          </a:prstGeom>
        </p:spPr>
      </p:pic>
      <p:sp>
        <p:nvSpPr>
          <p:cNvPr id="52" name="Text 43"/>
          <p:cNvSpPr/>
          <p:nvPr/>
        </p:nvSpPr>
        <p:spPr>
          <a:xfrm>
            <a:off x="10131552" y="463600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9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300" dirty="0"/>
          </a:p>
        </p:txBody>
      </p:sp>
      <p:sp>
        <p:nvSpPr>
          <p:cNvPr id="53" name="Text 44"/>
          <p:cNvSpPr/>
          <p:nvPr/>
        </p:nvSpPr>
        <p:spPr>
          <a:xfrm>
            <a:off x="10131552" y="500176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F5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OLED / 雾化片 / 蜂鸣器</a:t>
            </a:r>
            <a:endParaRPr lang="en-US" sz="1050" dirty="0"/>
          </a:p>
        </p:txBody>
      </p:sp>
      <p:sp>
        <p:nvSpPr>
          <p:cNvPr id="55" name="Text 46"/>
          <p:cNvSpPr/>
          <p:nvPr/>
        </p:nvSpPr>
        <p:spPr>
          <a:xfrm>
            <a:off x="594360" y="645566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5E7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林鸿烨 ｜ 基于 STM32 的蓝牙智能加湿器 · 毕业设计开题汇报</a:t>
            </a:r>
            <a:endParaRPr lang="en-US" sz="850" dirty="0"/>
          </a:p>
        </p:txBody>
      </p:sp>
      <p:sp>
        <p:nvSpPr>
          <p:cNvPr id="56" name="Text 47"/>
          <p:cNvSpPr/>
          <p:nvPr/>
        </p:nvSpPr>
        <p:spPr>
          <a:xfrm>
            <a:off x="10835640" y="64556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5E7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09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" y="310896"/>
            <a:ext cx="512064" cy="512064"/>
          </a:xfrm>
          <a:prstGeom prst="roundRect">
            <a:avLst>
              <a:gd name="adj" fmla="val 28571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76072" y="384048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98448" y="228600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23B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核心功能与控制逻辑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94360" y="1234440"/>
            <a:ext cx="3547872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94360" y="1234440"/>
            <a:ext cx="3547872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76200" dist="50800" dir="2700000" algn="bl" rotWithShape="0">
              <a:srgbClr val="9FBDB8">
                <a:alpha val="7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850392" y="1490472"/>
            <a:ext cx="512064" cy="512064"/>
          </a:xfrm>
          <a:prstGeom prst="roundRect">
            <a:avLst>
              <a:gd name="adj" fmla="val 28571"/>
            </a:avLst>
          </a:prstGeom>
          <a:solidFill>
            <a:srgbClr val="E3F5F1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1563624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08760" y="1527048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23B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时钟与状态显示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50392" y="2203704"/>
            <a:ext cx="30358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3F5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OLED 显示日期、时间、温湿度及模块状态，开机即可查看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325112" y="1234440"/>
            <a:ext cx="3547872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0"/>
          <p:cNvSpPr/>
          <p:nvPr/>
        </p:nvSpPr>
        <p:spPr>
          <a:xfrm>
            <a:off x="4325112" y="1234440"/>
            <a:ext cx="3547872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76200" dist="50800" dir="2700000" algn="bl" rotWithShape="0">
              <a:srgbClr val="9FBDB8">
                <a:alpha val="7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1"/>
          <p:cNvSpPr/>
          <p:nvPr/>
        </p:nvSpPr>
        <p:spPr>
          <a:xfrm>
            <a:off x="4581144" y="1490472"/>
            <a:ext cx="512064" cy="512064"/>
          </a:xfrm>
          <a:prstGeom prst="roundRect">
            <a:avLst>
              <a:gd name="adj" fmla="val 28571"/>
            </a:avLst>
          </a:prstGeom>
          <a:solidFill>
            <a:srgbClr val="E3F5F1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4296" y="1563624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239512" y="1527048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23B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手机蓝牙控制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4581144" y="2203704"/>
            <a:ext cx="30358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3F5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/ M 切换页面，O / S 手动启停，Z 进入自动模式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055864" y="1234440"/>
            <a:ext cx="3547872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5"/>
          <p:cNvSpPr/>
          <p:nvPr/>
        </p:nvSpPr>
        <p:spPr>
          <a:xfrm>
            <a:off x="8055864" y="1234440"/>
            <a:ext cx="3547872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76200" dist="50800" dir="2700000" algn="bl" rotWithShape="0">
              <a:srgbClr val="9FBDB8">
                <a:alpha val="7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6"/>
          <p:cNvSpPr/>
          <p:nvPr/>
        </p:nvSpPr>
        <p:spPr>
          <a:xfrm>
            <a:off x="8311896" y="1490472"/>
            <a:ext cx="512064" cy="512064"/>
          </a:xfrm>
          <a:prstGeom prst="roundRect">
            <a:avLst>
              <a:gd name="adj" fmla="val 28571"/>
            </a:avLst>
          </a:prstGeom>
          <a:solidFill>
            <a:srgbClr val="E3F5F1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048" y="1563624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970264" y="1527048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23B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定时加湿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8311896" y="2203704"/>
            <a:ext cx="30358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3F5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手机发送 30s、5m 等定时命令，到点自动停止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594360" y="3794760"/>
            <a:ext cx="3547872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0"/>
          <p:cNvSpPr/>
          <p:nvPr/>
        </p:nvSpPr>
        <p:spPr>
          <a:xfrm>
            <a:off x="594360" y="3794760"/>
            <a:ext cx="3547872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76200" dist="50800" dir="2700000" algn="bl" rotWithShape="0">
              <a:srgbClr val="9FBDB8">
                <a:alpha val="7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1"/>
          <p:cNvSpPr/>
          <p:nvPr/>
        </p:nvSpPr>
        <p:spPr>
          <a:xfrm>
            <a:off x="850392" y="4050792"/>
            <a:ext cx="512064" cy="512064"/>
          </a:xfrm>
          <a:prstGeom prst="roundRect">
            <a:avLst>
              <a:gd name="adj" fmla="val 28571"/>
            </a:avLst>
          </a:prstGeom>
          <a:solidFill>
            <a:srgbClr val="E3F5F1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4123944"/>
            <a:ext cx="365760" cy="36576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508760" y="4087368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23B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自动模式</a:t>
            </a:r>
            <a:endParaRPr lang="en-US" sz="1450" dirty="0"/>
          </a:p>
        </p:txBody>
      </p:sp>
      <p:sp>
        <p:nvSpPr>
          <p:cNvPr id="29" name="Text 23"/>
          <p:cNvSpPr/>
          <p:nvPr/>
        </p:nvSpPr>
        <p:spPr>
          <a:xfrm>
            <a:off x="850392" y="4764024"/>
            <a:ext cx="30358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3F5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按环境湿度自动选择持续、间歇或停止加湿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4325112" y="3794760"/>
            <a:ext cx="3547872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5"/>
          <p:cNvSpPr/>
          <p:nvPr/>
        </p:nvSpPr>
        <p:spPr>
          <a:xfrm>
            <a:off x="4325112" y="3794760"/>
            <a:ext cx="3547872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76200" dist="50800" dir="2700000" algn="bl" rotWithShape="0">
              <a:srgbClr val="9FBDB8">
                <a:alpha val="7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26"/>
          <p:cNvSpPr/>
          <p:nvPr/>
        </p:nvSpPr>
        <p:spPr>
          <a:xfrm>
            <a:off x="4581144" y="4050792"/>
            <a:ext cx="512064" cy="512064"/>
          </a:xfrm>
          <a:prstGeom prst="roundRect">
            <a:avLst>
              <a:gd name="adj" fmla="val 28571"/>
            </a:avLst>
          </a:prstGeom>
          <a:solidFill>
            <a:srgbClr val="FDE8D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4296" y="4123944"/>
            <a:ext cx="365760" cy="36576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239512" y="4087368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23B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超时保护</a:t>
            </a:r>
            <a:endParaRPr lang="en-US" sz="1450" dirty="0"/>
          </a:p>
        </p:txBody>
      </p:sp>
      <p:sp>
        <p:nvSpPr>
          <p:cNvPr id="35" name="Text 28"/>
          <p:cNvSpPr/>
          <p:nvPr/>
        </p:nvSpPr>
        <p:spPr>
          <a:xfrm>
            <a:off x="4581144" y="4764024"/>
            <a:ext cx="30358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3F5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连续加湿满 1 小时强制停止并蜂鸣报警，防止过热损坏</a:t>
            </a:r>
            <a:endParaRPr lang="en-US" sz="1150" dirty="0"/>
          </a:p>
        </p:txBody>
      </p:sp>
      <p:sp>
        <p:nvSpPr>
          <p:cNvPr id="36" name="Shape 29"/>
          <p:cNvSpPr/>
          <p:nvPr/>
        </p:nvSpPr>
        <p:spPr>
          <a:xfrm>
            <a:off x="8055864" y="3794760"/>
            <a:ext cx="3547872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0"/>
          <p:cNvSpPr/>
          <p:nvPr/>
        </p:nvSpPr>
        <p:spPr>
          <a:xfrm>
            <a:off x="8055864" y="3794760"/>
            <a:ext cx="3547872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76200" dist="50800" dir="2700000" algn="bl" rotWithShape="0">
              <a:srgbClr val="9FBDB8">
                <a:alpha val="7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1"/>
          <p:cNvSpPr/>
          <p:nvPr/>
        </p:nvSpPr>
        <p:spPr>
          <a:xfrm>
            <a:off x="8311896" y="4050792"/>
            <a:ext cx="512064" cy="512064"/>
          </a:xfrm>
          <a:prstGeom prst="roundRect">
            <a:avLst>
              <a:gd name="adj" fmla="val 28571"/>
            </a:avLst>
          </a:prstGeom>
          <a:solidFill>
            <a:srgbClr val="E3F5F1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048" y="4123944"/>
            <a:ext cx="365760" cy="36576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8970264" y="4087368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23B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提示与告警</a:t>
            </a:r>
            <a:endParaRPr lang="en-US" sz="1450" dirty="0"/>
          </a:p>
        </p:txBody>
      </p:sp>
      <p:sp>
        <p:nvSpPr>
          <p:cNvPr id="41" name="Text 33"/>
          <p:cNvSpPr/>
          <p:nvPr/>
        </p:nvSpPr>
        <p:spPr>
          <a:xfrm>
            <a:off x="8311896" y="4764024"/>
            <a:ext cx="30358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3F5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蜂鸣器提示定时结束与异常状态，水位不足时可及时发现</a:t>
            </a:r>
            <a:endParaRPr lang="en-US" sz="1150" dirty="0"/>
          </a:p>
        </p:txBody>
      </p:sp>
      <p:sp>
        <p:nvSpPr>
          <p:cNvPr id="42" name="Shape 34"/>
          <p:cNvSpPr/>
          <p:nvPr/>
        </p:nvSpPr>
        <p:spPr>
          <a:xfrm>
            <a:off x="594360" y="5230368"/>
            <a:ext cx="11000232" cy="960120"/>
          </a:xfrm>
          <a:prstGeom prst="roundRect">
            <a:avLst>
              <a:gd name="adj" fmla="val 11429"/>
            </a:avLst>
          </a:prstGeom>
          <a:solidFill>
            <a:srgbClr val="F6FC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35"/>
          <p:cNvSpPr/>
          <p:nvPr/>
        </p:nvSpPr>
        <p:spPr>
          <a:xfrm>
            <a:off x="868680" y="53675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9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自动加湿判断</a:t>
            </a:r>
            <a:endParaRPr lang="en-US" sz="1350" dirty="0"/>
          </a:p>
        </p:txBody>
      </p:sp>
      <p:sp>
        <p:nvSpPr>
          <p:cNvPr id="44" name="Shape 36"/>
          <p:cNvSpPr/>
          <p:nvPr/>
        </p:nvSpPr>
        <p:spPr>
          <a:xfrm>
            <a:off x="3337560" y="5349240"/>
            <a:ext cx="2606040" cy="713232"/>
          </a:xfrm>
          <a:prstGeom prst="roundRect">
            <a:avLst>
              <a:gd name="adj" fmla="val 15385"/>
            </a:avLst>
          </a:prstGeom>
          <a:solidFill>
            <a:srgbClr val="FDE8D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37"/>
          <p:cNvSpPr/>
          <p:nvPr/>
        </p:nvSpPr>
        <p:spPr>
          <a:xfrm>
            <a:off x="3502152" y="544068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E96F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RH &lt; 40%</a:t>
            </a:r>
            <a:endParaRPr lang="en-US" sz="1150" dirty="0"/>
          </a:p>
        </p:txBody>
      </p:sp>
      <p:sp>
        <p:nvSpPr>
          <p:cNvPr id="46" name="Text 38"/>
          <p:cNvSpPr/>
          <p:nvPr/>
        </p:nvSpPr>
        <p:spPr>
          <a:xfrm>
            <a:off x="3502152" y="57607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F5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持续加湿</a:t>
            </a:r>
            <a:endParaRPr lang="en-US" sz="1000" dirty="0"/>
          </a:p>
        </p:txBody>
      </p:sp>
      <p:sp>
        <p:nvSpPr>
          <p:cNvPr id="47" name="Shape 39"/>
          <p:cNvSpPr/>
          <p:nvPr/>
        </p:nvSpPr>
        <p:spPr>
          <a:xfrm>
            <a:off x="6099048" y="5349240"/>
            <a:ext cx="2606040" cy="713232"/>
          </a:xfrm>
          <a:prstGeom prst="roundRect">
            <a:avLst>
              <a:gd name="adj" fmla="val 15385"/>
            </a:avLst>
          </a:prstGeom>
          <a:solidFill>
            <a:srgbClr val="FFF2D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0"/>
          <p:cNvSpPr/>
          <p:nvPr/>
        </p:nvSpPr>
        <p:spPr>
          <a:xfrm>
            <a:off x="6263640" y="544068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B47A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RH 40% ~ 70%</a:t>
            </a:r>
            <a:endParaRPr lang="en-US" sz="1150" dirty="0"/>
          </a:p>
        </p:txBody>
      </p:sp>
      <p:sp>
        <p:nvSpPr>
          <p:cNvPr id="49" name="Text 41"/>
          <p:cNvSpPr/>
          <p:nvPr/>
        </p:nvSpPr>
        <p:spPr>
          <a:xfrm>
            <a:off x="6263640" y="57607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F5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喷 1 秒 / 停 1 秒</a:t>
            </a:r>
            <a:endParaRPr lang="en-US" sz="1000" dirty="0"/>
          </a:p>
        </p:txBody>
      </p:sp>
      <p:sp>
        <p:nvSpPr>
          <p:cNvPr id="50" name="Shape 42"/>
          <p:cNvSpPr/>
          <p:nvPr/>
        </p:nvSpPr>
        <p:spPr>
          <a:xfrm>
            <a:off x="8860536" y="5349240"/>
            <a:ext cx="2606040" cy="713232"/>
          </a:xfrm>
          <a:prstGeom prst="roundRect">
            <a:avLst>
              <a:gd name="adj" fmla="val 15385"/>
            </a:avLst>
          </a:prstGeom>
          <a:solidFill>
            <a:srgbClr val="E3F5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3"/>
          <p:cNvSpPr/>
          <p:nvPr/>
        </p:nvSpPr>
        <p:spPr>
          <a:xfrm>
            <a:off x="9025128" y="544068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9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RH &gt; 70%</a:t>
            </a:r>
            <a:endParaRPr lang="en-US" sz="1150" dirty="0"/>
          </a:p>
        </p:txBody>
      </p:sp>
      <p:sp>
        <p:nvSpPr>
          <p:cNvPr id="52" name="Text 44"/>
          <p:cNvSpPr/>
          <p:nvPr/>
        </p:nvSpPr>
        <p:spPr>
          <a:xfrm>
            <a:off x="9025128" y="57607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F5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停止加湿</a:t>
            </a:r>
            <a:endParaRPr lang="en-US" sz="1000" dirty="0"/>
          </a:p>
        </p:txBody>
      </p:sp>
      <p:pic>
        <p:nvPicPr>
          <p:cNvPr id="53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5742432"/>
            <a:ext cx="329184" cy="329184"/>
          </a:xfrm>
          <a:prstGeom prst="rect">
            <a:avLst/>
          </a:prstGeom>
        </p:spPr>
      </p:pic>
      <p:sp>
        <p:nvSpPr>
          <p:cNvPr id="54" name="Text 45"/>
          <p:cNvSpPr/>
          <p:nvPr/>
        </p:nvSpPr>
        <p:spPr>
          <a:xfrm>
            <a:off x="594360" y="645566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5E7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林鸿烨 ｜ 基于 STM32 的蓝牙智能加湿器 · 毕业设计开题汇报</a:t>
            </a:r>
            <a:endParaRPr lang="en-US" sz="850" dirty="0"/>
          </a:p>
        </p:txBody>
      </p:sp>
      <p:sp>
        <p:nvSpPr>
          <p:cNvPr id="55" name="Text 46"/>
          <p:cNvSpPr/>
          <p:nvPr/>
        </p:nvSpPr>
        <p:spPr>
          <a:xfrm>
            <a:off x="10835640" y="64556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5E7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09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" y="310896"/>
            <a:ext cx="512064" cy="512064"/>
          </a:xfrm>
          <a:prstGeom prst="roundRect">
            <a:avLst>
              <a:gd name="adj" fmla="val 28571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76072" y="384048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98448" y="228600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23B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研究方法与实施步骤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94360" y="1234440"/>
            <a:ext cx="5468112" cy="2121408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94360" y="1234440"/>
            <a:ext cx="5468112" cy="2121408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/>
          <a:effectLst>
            <a:outerShdw blurRad="76200" dist="50800" dir="2700000" algn="bl" rotWithShape="0">
              <a:srgbClr val="9FBDB8">
                <a:alpha val="7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868680" y="1508760"/>
            <a:ext cx="530352" cy="530352"/>
          </a:xfrm>
          <a:prstGeom prst="roundRect">
            <a:avLst>
              <a:gd name="adj" fmla="val 27586"/>
            </a:avLst>
          </a:prstGeom>
          <a:solidFill>
            <a:srgbClr val="E3F5F1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1581912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45336" y="145389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5E7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01-02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545336" y="1746504"/>
            <a:ext cx="4279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23B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调研与方案设计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868680" y="2221992"/>
            <a:ext cx="4919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3F5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查阅 STM32、DHT11、OLED、JDY-31、HE-30A 资料与相关论文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68680" y="2807208"/>
            <a:ext cx="4919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3F5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明确自动加湿、蓝牙控制、定时、报警等功能，完成器件选型并画出系统框图</a:t>
            </a:r>
            <a:endParaRPr lang="en-US" sz="11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5544" y="1527048"/>
            <a:ext cx="310896" cy="310896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263640" y="1234440"/>
            <a:ext cx="5468112" cy="2121408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2"/>
          <p:cNvSpPr/>
          <p:nvPr/>
        </p:nvSpPr>
        <p:spPr>
          <a:xfrm>
            <a:off x="6263640" y="1234440"/>
            <a:ext cx="5468112" cy="2121408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/>
          <a:effectLst>
            <a:outerShdw blurRad="76200" dist="50800" dir="2700000" algn="bl" rotWithShape="0">
              <a:srgbClr val="9FBDB8">
                <a:alpha val="7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3"/>
          <p:cNvSpPr/>
          <p:nvPr/>
        </p:nvSpPr>
        <p:spPr>
          <a:xfrm>
            <a:off x="6537960" y="1508760"/>
            <a:ext cx="530352" cy="530352"/>
          </a:xfrm>
          <a:prstGeom prst="roundRect">
            <a:avLst>
              <a:gd name="adj" fmla="val 27586"/>
            </a:avLst>
          </a:prstGeom>
          <a:solidFill>
            <a:srgbClr val="E0F4E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1581912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214616" y="145389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5E7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03-04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7214616" y="1746504"/>
            <a:ext cx="4279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23B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开发环境与分模块调试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6537960" y="2221992"/>
            <a:ext cx="4919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3F5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Keil 建立工程，准备开发板、下载器与模块并完成基础接线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6537960" y="2807208"/>
            <a:ext cx="4919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3F5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显示、温湿度、蓝牙、雾化片、蜂鸣器分别写测试程序，逐一确认可用</a:t>
            </a:r>
            <a:endParaRPr lang="en-US" sz="11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4824" y="1527048"/>
            <a:ext cx="310896" cy="310896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594360" y="3611880"/>
            <a:ext cx="5468112" cy="2121408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19"/>
          <p:cNvSpPr/>
          <p:nvPr/>
        </p:nvSpPr>
        <p:spPr>
          <a:xfrm>
            <a:off x="594360" y="3611880"/>
            <a:ext cx="5468112" cy="2121408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/>
          <a:effectLst>
            <a:outerShdw blurRad="76200" dist="50800" dir="2700000" algn="bl" rotWithShape="0">
              <a:srgbClr val="9FBDB8">
                <a:alpha val="7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0"/>
          <p:cNvSpPr/>
          <p:nvPr/>
        </p:nvSpPr>
        <p:spPr>
          <a:xfrm>
            <a:off x="868680" y="3886200"/>
            <a:ext cx="530352" cy="530352"/>
          </a:xfrm>
          <a:prstGeom prst="roundRect">
            <a:avLst>
              <a:gd name="adj" fmla="val 27586"/>
            </a:avLst>
          </a:prstGeom>
          <a:solidFill>
            <a:srgbClr val="FFF2DD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3959352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545336" y="383133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5E7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05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1545336" y="4123944"/>
            <a:ext cx="4279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23B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系统集成与主程序</a:t>
            </a:r>
            <a:endParaRPr lang="en-US" sz="1550" dirty="0"/>
          </a:p>
        </p:txBody>
      </p:sp>
      <p:sp>
        <p:nvSpPr>
          <p:cNvPr id="30" name="Text 23"/>
          <p:cNvSpPr/>
          <p:nvPr/>
        </p:nvSpPr>
        <p:spPr>
          <a:xfrm>
            <a:off x="868680" y="4599432"/>
            <a:ext cx="4919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3F5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将各模块整理成独立库函数，再编写主程序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868680" y="5184648"/>
            <a:ext cx="4919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3F5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组合实现手机控制、定时加湿、自动模式和保护功能</a:t>
            </a:r>
            <a:endParaRPr lang="en-US" sz="1100" dirty="0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5544" y="3904488"/>
            <a:ext cx="310896" cy="310896"/>
          </a:xfrm>
          <a:prstGeom prst="rect">
            <a:avLst/>
          </a:prstGeom>
        </p:spPr>
      </p:pic>
      <p:sp>
        <p:nvSpPr>
          <p:cNvPr id="33" name="Shape 25"/>
          <p:cNvSpPr/>
          <p:nvPr/>
        </p:nvSpPr>
        <p:spPr>
          <a:xfrm>
            <a:off x="6263640" y="3611880"/>
            <a:ext cx="5468112" cy="2121408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26"/>
          <p:cNvSpPr/>
          <p:nvPr/>
        </p:nvSpPr>
        <p:spPr>
          <a:xfrm>
            <a:off x="6263640" y="3611880"/>
            <a:ext cx="5468112" cy="2121408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/>
          <a:effectLst>
            <a:outerShdw blurRad="76200" dist="50800" dir="2700000" algn="bl" rotWithShape="0">
              <a:srgbClr val="9FBDB8">
                <a:alpha val="7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27"/>
          <p:cNvSpPr/>
          <p:nvPr/>
        </p:nvSpPr>
        <p:spPr>
          <a:xfrm>
            <a:off x="6537960" y="3886200"/>
            <a:ext cx="530352" cy="530352"/>
          </a:xfrm>
          <a:prstGeom prst="roundRect">
            <a:avLst>
              <a:gd name="adj" fmla="val 27586"/>
            </a:avLst>
          </a:prstGeom>
          <a:solidFill>
            <a:srgbClr val="FDE8D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3959352"/>
            <a:ext cx="384048" cy="38404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214616" y="383133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5E7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06-07</a:t>
            </a:r>
            <a:endParaRPr lang="en-US" sz="950" dirty="0"/>
          </a:p>
        </p:txBody>
      </p:sp>
      <p:sp>
        <p:nvSpPr>
          <p:cNvPr id="38" name="Text 29"/>
          <p:cNvSpPr/>
          <p:nvPr/>
        </p:nvSpPr>
        <p:spPr>
          <a:xfrm>
            <a:off x="7214616" y="4123944"/>
            <a:ext cx="4279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23B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测试、修复与 PCB 定型</a:t>
            </a:r>
            <a:endParaRPr lang="en-US" sz="1550" dirty="0"/>
          </a:p>
        </p:txBody>
      </p:sp>
      <p:sp>
        <p:nvSpPr>
          <p:cNvPr id="39" name="Text 30"/>
          <p:cNvSpPr/>
          <p:nvPr/>
        </p:nvSpPr>
        <p:spPr>
          <a:xfrm>
            <a:off x="6537960" y="4599432"/>
            <a:ext cx="4919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3F5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逐项测试蓝牙连接、显示、定时、自动和保护，发现问题及时修复</a:t>
            </a:r>
            <a:endParaRPr lang="en-US" sz="1100" dirty="0"/>
          </a:p>
        </p:txBody>
      </p:sp>
      <p:sp>
        <p:nvSpPr>
          <p:cNvPr id="40" name="Text 31"/>
          <p:cNvSpPr/>
          <p:nvPr/>
        </p:nvSpPr>
        <p:spPr>
          <a:xfrm>
            <a:off x="6537960" y="5184648"/>
            <a:ext cx="4919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3F5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面包板方案转 PCB：嘉立创画板、打样、焊接组装，再复测整机功能</a:t>
            </a:r>
            <a:endParaRPr lang="en-US" sz="1100" dirty="0"/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4824" y="3904488"/>
            <a:ext cx="310896" cy="310896"/>
          </a:xfrm>
          <a:prstGeom prst="rect">
            <a:avLst/>
          </a:prstGeom>
        </p:spPr>
      </p:pic>
      <p:sp>
        <p:nvSpPr>
          <p:cNvPr id="42" name="Shape 32"/>
          <p:cNvSpPr/>
          <p:nvPr/>
        </p:nvSpPr>
        <p:spPr>
          <a:xfrm>
            <a:off x="594360" y="5833872"/>
            <a:ext cx="11000232" cy="438912"/>
          </a:xfrm>
          <a:prstGeom prst="roundRect">
            <a:avLst>
              <a:gd name="adj" fmla="val 20833"/>
            </a:avLst>
          </a:prstGeom>
          <a:solidFill>
            <a:srgbClr val="E3F5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33"/>
          <p:cNvSpPr/>
          <p:nvPr/>
        </p:nvSpPr>
        <p:spPr>
          <a:xfrm>
            <a:off x="822960" y="5888736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09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开发工具：Keil ｜ 手机蓝牙调试助手 ｜ 万用表 ｜ 嘉立创 EDA</a:t>
            </a:r>
            <a:endParaRPr lang="en-US" sz="1150" dirty="0"/>
          </a:p>
        </p:txBody>
      </p:sp>
      <p:sp>
        <p:nvSpPr>
          <p:cNvPr id="44" name="Text 34"/>
          <p:cNvSpPr/>
          <p:nvPr/>
        </p:nvSpPr>
        <p:spPr>
          <a:xfrm>
            <a:off x="594360" y="645566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5E7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林鸿烨 ｜ 基于 STM32 的蓝牙智能加湿器 · 毕业设计开题汇报</a:t>
            </a:r>
            <a:endParaRPr lang="en-US" sz="850" dirty="0"/>
          </a:p>
        </p:txBody>
      </p:sp>
      <p:sp>
        <p:nvSpPr>
          <p:cNvPr id="45" name="Text 35"/>
          <p:cNvSpPr/>
          <p:nvPr/>
        </p:nvSpPr>
        <p:spPr>
          <a:xfrm>
            <a:off x="10835640" y="64556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5E7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09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" y="310896"/>
            <a:ext cx="512064" cy="512064"/>
          </a:xfrm>
          <a:prstGeom prst="roundRect">
            <a:avLst>
              <a:gd name="adj" fmla="val 28571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76072" y="384048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98448" y="228600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23B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关键难点与保障措施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94360" y="1298448"/>
            <a:ext cx="5468112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777240" y="1444752"/>
            <a:ext cx="420624" cy="420624"/>
          </a:xfrm>
          <a:prstGeom prst="roundRect">
            <a:avLst>
              <a:gd name="adj" fmla="val 30435"/>
            </a:avLst>
          </a:prstGeom>
          <a:solidFill>
            <a:srgbClr val="FDE8D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1499616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07592" y="1389888"/>
            <a:ext cx="4553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23B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DHT11 读取时序严格，稍有偏差就读数失败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307592" y="1691640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09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对策：读取加入超时判断，失败不会卡死程序</a:t>
            </a:r>
            <a:endParaRPr lang="en-US" sz="10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0408" y="1481328"/>
            <a:ext cx="329184" cy="32918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263640" y="1298448"/>
            <a:ext cx="5468112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9"/>
          <p:cNvSpPr/>
          <p:nvPr/>
        </p:nvSpPr>
        <p:spPr>
          <a:xfrm>
            <a:off x="6446520" y="1444752"/>
            <a:ext cx="420624" cy="420624"/>
          </a:xfrm>
          <a:prstGeom prst="roundRect">
            <a:avLst>
              <a:gd name="adj" fmla="val 30435"/>
            </a:avLst>
          </a:prstGeom>
          <a:solidFill>
            <a:srgbClr val="FDE8D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1384" y="1499616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76872" y="1389888"/>
            <a:ext cx="4553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23B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蓝牙接收与雾化片控制易互相干扰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6976872" y="1691640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09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对策：蓝牙接收用中断方式，指令处理与主循环分离</a:t>
            </a:r>
            <a:endParaRPr lang="en-US" sz="10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9688" y="1481328"/>
            <a:ext cx="329184" cy="329184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94360" y="2157984"/>
            <a:ext cx="5468112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3"/>
          <p:cNvSpPr/>
          <p:nvPr/>
        </p:nvSpPr>
        <p:spPr>
          <a:xfrm>
            <a:off x="777240" y="2304288"/>
            <a:ext cx="420624" cy="420624"/>
          </a:xfrm>
          <a:prstGeom prst="roundRect">
            <a:avLst>
              <a:gd name="adj" fmla="val 30435"/>
            </a:avLst>
          </a:prstGeom>
          <a:solidFill>
            <a:srgbClr val="FDE8D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2359152"/>
            <a:ext cx="310896" cy="31089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307592" y="2249424"/>
            <a:ext cx="4553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23B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定时、自动控制怕主程序卡顿而延后</a:t>
            </a:r>
            <a:endParaRPr lang="en-US" sz="1150" dirty="0"/>
          </a:p>
        </p:txBody>
      </p:sp>
      <p:sp>
        <p:nvSpPr>
          <p:cNvPr id="22" name="Text 15"/>
          <p:cNvSpPr/>
          <p:nvPr/>
        </p:nvSpPr>
        <p:spPr>
          <a:xfrm>
            <a:off x="1307592" y="2551176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09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对策：用状态机实现定时与模式切换，避免长时间占用</a:t>
            </a:r>
            <a:endParaRPr lang="en-US" sz="105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0408" y="2340864"/>
            <a:ext cx="329184" cy="329184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6263640" y="2157984"/>
            <a:ext cx="5468112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17"/>
          <p:cNvSpPr/>
          <p:nvPr/>
        </p:nvSpPr>
        <p:spPr>
          <a:xfrm>
            <a:off x="6446520" y="2304288"/>
            <a:ext cx="420624" cy="420624"/>
          </a:xfrm>
          <a:prstGeom prst="roundRect">
            <a:avLst>
              <a:gd name="adj" fmla="val 30435"/>
            </a:avLst>
          </a:prstGeom>
          <a:solidFill>
            <a:srgbClr val="FDE8D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1384" y="2359152"/>
            <a:ext cx="310896" cy="310896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6976872" y="2249424"/>
            <a:ext cx="4553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23B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加湿器长时间工作可能过热损坏</a:t>
            </a:r>
            <a:endParaRPr lang="en-US" sz="1150" dirty="0"/>
          </a:p>
        </p:txBody>
      </p:sp>
      <p:sp>
        <p:nvSpPr>
          <p:cNvPr id="28" name="Text 19"/>
          <p:cNvSpPr/>
          <p:nvPr/>
        </p:nvSpPr>
        <p:spPr>
          <a:xfrm>
            <a:off x="6976872" y="2551176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09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对策：连续加湿满 1 小时强制停止并蜂鸣报警</a:t>
            </a:r>
            <a:endParaRPr lang="en-US" sz="1050" dirty="0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9688" y="2340864"/>
            <a:ext cx="329184" cy="329184"/>
          </a:xfrm>
          <a:prstGeom prst="rect">
            <a:avLst/>
          </a:prstGeom>
        </p:spPr>
      </p:pic>
      <p:sp>
        <p:nvSpPr>
          <p:cNvPr id="30" name="Shape 20"/>
          <p:cNvSpPr/>
          <p:nvPr/>
        </p:nvSpPr>
        <p:spPr>
          <a:xfrm>
            <a:off x="594360" y="3017520"/>
            <a:ext cx="5468112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1"/>
          <p:cNvSpPr/>
          <p:nvPr/>
        </p:nvSpPr>
        <p:spPr>
          <a:xfrm>
            <a:off x="777240" y="3163824"/>
            <a:ext cx="420624" cy="420624"/>
          </a:xfrm>
          <a:prstGeom prst="roundRect">
            <a:avLst>
              <a:gd name="adj" fmla="val 30435"/>
            </a:avLst>
          </a:prstGeom>
          <a:solidFill>
            <a:srgbClr val="FDE8D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3218688"/>
            <a:ext cx="310896" cy="310896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1307592" y="3108960"/>
            <a:ext cx="4553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23B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多模块联调时错误难定位</a:t>
            </a:r>
            <a:endParaRPr lang="en-US" sz="1150" dirty="0"/>
          </a:p>
        </p:txBody>
      </p:sp>
      <p:sp>
        <p:nvSpPr>
          <p:cNvPr id="34" name="Text 23"/>
          <p:cNvSpPr/>
          <p:nvPr/>
        </p:nvSpPr>
        <p:spPr>
          <a:xfrm>
            <a:off x="1307592" y="3410712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09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对策：每完成一个模块就烧录测试一次，改动随时记录</a:t>
            </a:r>
            <a:endParaRPr lang="en-US" sz="1050" dirty="0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0408" y="3200400"/>
            <a:ext cx="329184" cy="329184"/>
          </a:xfrm>
          <a:prstGeom prst="rect">
            <a:avLst/>
          </a:prstGeom>
        </p:spPr>
      </p:pic>
      <p:sp>
        <p:nvSpPr>
          <p:cNvPr id="36" name="Shape 24"/>
          <p:cNvSpPr/>
          <p:nvPr/>
        </p:nvSpPr>
        <p:spPr>
          <a:xfrm>
            <a:off x="6263640" y="3017520"/>
            <a:ext cx="5468112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25"/>
          <p:cNvSpPr/>
          <p:nvPr/>
        </p:nvSpPr>
        <p:spPr>
          <a:xfrm>
            <a:off x="6446520" y="3163824"/>
            <a:ext cx="420624" cy="420624"/>
          </a:xfrm>
          <a:prstGeom prst="roundRect">
            <a:avLst>
              <a:gd name="adj" fmla="val 30435"/>
            </a:avLst>
          </a:prstGeom>
          <a:solidFill>
            <a:srgbClr val="FDE8D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8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1384" y="3218688"/>
            <a:ext cx="310896" cy="310896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6976872" y="3108960"/>
            <a:ext cx="4553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23B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PCB 电压不稳或模块间干扰</a:t>
            </a:r>
            <a:endParaRPr lang="en-US" sz="1150" dirty="0"/>
          </a:p>
        </p:txBody>
      </p:sp>
      <p:sp>
        <p:nvSpPr>
          <p:cNvPr id="40" name="Text 27"/>
          <p:cNvSpPr/>
          <p:nvPr/>
        </p:nvSpPr>
        <p:spPr>
          <a:xfrm>
            <a:off x="6976872" y="3410712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09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对策：提前研究布局走线，上电前用万用表逐点检查</a:t>
            </a:r>
            <a:endParaRPr lang="en-US" sz="1050" dirty="0"/>
          </a:p>
        </p:txBody>
      </p:sp>
      <p:pic>
        <p:nvPicPr>
          <p:cNvPr id="41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9688" y="3200400"/>
            <a:ext cx="329184" cy="329184"/>
          </a:xfrm>
          <a:prstGeom prst="rect">
            <a:avLst/>
          </a:prstGeom>
        </p:spPr>
      </p:pic>
      <p:sp>
        <p:nvSpPr>
          <p:cNvPr id="42" name="Shape 28"/>
          <p:cNvSpPr/>
          <p:nvPr/>
        </p:nvSpPr>
        <p:spPr>
          <a:xfrm>
            <a:off x="594360" y="5742432"/>
            <a:ext cx="11000232" cy="512064"/>
          </a:xfrm>
          <a:prstGeom prst="roundRect">
            <a:avLst>
              <a:gd name="adj" fmla="val 21429"/>
            </a:avLst>
          </a:prstGeom>
          <a:solidFill>
            <a:srgbClr val="F6FCFA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3" name="Image 1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5833872"/>
            <a:ext cx="329184" cy="329184"/>
          </a:xfrm>
          <a:prstGeom prst="rect">
            <a:avLst/>
          </a:prstGeom>
        </p:spPr>
      </p:pic>
      <p:sp>
        <p:nvSpPr>
          <p:cNvPr id="44" name="Text 29"/>
          <p:cNvSpPr/>
          <p:nvPr/>
        </p:nvSpPr>
        <p:spPr>
          <a:xfrm>
            <a:off x="1316736" y="5797296"/>
            <a:ext cx="10058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23B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测试节奏：单模块 → 组合 → 整机；每改一次程序就烧录验证，出现的问题与解决办法随时记录。</a:t>
            </a:r>
            <a:endParaRPr lang="en-US" sz="1150" dirty="0"/>
          </a:p>
        </p:txBody>
      </p:sp>
      <p:sp>
        <p:nvSpPr>
          <p:cNvPr id="45" name="Text 30"/>
          <p:cNvSpPr/>
          <p:nvPr/>
        </p:nvSpPr>
        <p:spPr>
          <a:xfrm>
            <a:off x="594360" y="645566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5E7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林鸿烨 ｜ 基于 STM32 的蓝牙智能加湿器 · 毕业设计开题汇报</a:t>
            </a:r>
            <a:endParaRPr lang="en-US" sz="850" dirty="0"/>
          </a:p>
        </p:txBody>
      </p:sp>
      <p:sp>
        <p:nvSpPr>
          <p:cNvPr id="46" name="Text 31"/>
          <p:cNvSpPr/>
          <p:nvPr/>
        </p:nvSpPr>
        <p:spPr>
          <a:xfrm>
            <a:off x="10835640" y="64556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5E7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09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" y="6400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0E7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600200" y="4572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23B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预期结果：完成一台能演示的样机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4480560" cy="507492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960120" y="14813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E7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做完的作品是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96596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123B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一台 PCB 蓝牙智能加湿器样机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60120" y="306324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5E7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可稳定运行，能现场演示蓝牙控制、自动加湿、定时加湿与保护功能。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60120" y="3840480"/>
            <a:ext cx="3794760" cy="566928"/>
          </a:xfrm>
          <a:prstGeom prst="roundRect">
            <a:avLst>
              <a:gd name="adj" fmla="val 19355"/>
            </a:avLst>
          </a:prstGeom>
          <a:solidFill>
            <a:srgbClr val="E3F5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143000" y="397764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23B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样机硬件：PCB 整机 + 模块化固件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60120" y="4462272"/>
            <a:ext cx="3794760" cy="566928"/>
          </a:xfrm>
          <a:prstGeom prst="roundRect">
            <a:avLst>
              <a:gd name="adj" fmla="val 19355"/>
            </a:avLst>
          </a:prstGeom>
          <a:solidFill>
            <a:srgbClr val="E3F5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1143000" y="459943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23B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软件成果：分模块库函数与主程序源码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60120" y="5084064"/>
            <a:ext cx="3794760" cy="566928"/>
          </a:xfrm>
          <a:prstGeom prst="roundRect">
            <a:avLst>
              <a:gd name="adj" fmla="val 19355"/>
            </a:avLst>
          </a:prstGeom>
          <a:solidFill>
            <a:srgbClr val="E3F5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143000" y="522122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23B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过程记录：功能测试与调试问题记录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60120" y="5705856"/>
            <a:ext cx="3794760" cy="566928"/>
          </a:xfrm>
          <a:prstGeom prst="roundRect">
            <a:avLst>
              <a:gd name="adj" fmla="val 19355"/>
            </a:avLst>
          </a:prstGeom>
          <a:solidFill>
            <a:srgbClr val="E3F5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143000" y="584301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23B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论文成果：毕业设计论文及答辩材料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349240" y="1234440"/>
            <a:ext cx="6199632" cy="5074920"/>
          </a:xfrm>
          <a:prstGeom prst="roundRect">
            <a:avLst>
              <a:gd name="adj" fmla="val 180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5669280" y="1481328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7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样机应达到的验收标准</a:t>
            </a:r>
            <a:endParaRPr lang="en-US" sz="15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2075688"/>
            <a:ext cx="310896" cy="310896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172200" y="2057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23B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开机正常显示日期、时间与温湿度</a:t>
            </a:r>
            <a:endParaRPr lang="en-US" sz="125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2697480"/>
            <a:ext cx="310896" cy="31089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172200" y="267919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23B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手机蓝牙可切换页面，执行手动开 / 停 / 自动模式</a:t>
            </a:r>
            <a:endParaRPr lang="en-US" sz="125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3319272"/>
            <a:ext cx="310896" cy="31089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172200" y="330098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23B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30s、5m 等定时命令到点自动停止，并响一声提示</a:t>
            </a:r>
            <a:endParaRPr lang="en-US" sz="125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3941064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172200" y="392277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23B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自动模式按 &lt;40%、40% ~ 70%、&gt;70% 湿度区间正确切换</a:t>
            </a:r>
            <a:endParaRPr lang="en-US" sz="125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4562856"/>
            <a:ext cx="310896" cy="31089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172200" y="45445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23B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连续加湿满 1 小时自动停止并报警</a:t>
            </a:r>
            <a:endParaRPr lang="en-US" sz="125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5184648"/>
            <a:ext cx="310896" cy="310896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6172200" y="51663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23B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面包板与 PCB 两个阶段均能完成功能复现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" y="310896"/>
            <a:ext cx="512064" cy="512064"/>
          </a:xfrm>
          <a:prstGeom prst="roundRect">
            <a:avLst>
              <a:gd name="adj" fmla="val 28571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76072" y="384048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98448" y="228600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23B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研究进度安排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94360" y="1298448"/>
            <a:ext cx="11000232" cy="658368"/>
          </a:xfrm>
          <a:prstGeom prst="roundRect">
            <a:avLst>
              <a:gd name="adj" fmla="val 16667"/>
            </a:avLst>
          </a:prstGeom>
          <a:solidFill>
            <a:srgbClr val="E3F5F1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1435608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89888" y="1371600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23B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当前进度：选题、任务书与开题报告已完成，下一阶段进入毕设作品设计与实现。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94360" y="2377440"/>
            <a:ext cx="3529584" cy="1719072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594360" y="2377440"/>
            <a:ext cx="3529584" cy="1719072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/>
          <a:effectLst>
            <a:outerShdw blurRad="76200" dist="50800" dir="2700000" algn="bl" rotWithShape="0">
              <a:srgbClr val="9FBDB8">
                <a:alpha val="7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8"/>
          <p:cNvSpPr/>
          <p:nvPr/>
        </p:nvSpPr>
        <p:spPr>
          <a:xfrm>
            <a:off x="868680" y="2633472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26A9A2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2688336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68680" y="3072384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23B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选题与任务书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868680" y="3547872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9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2026.06.25-07.16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362456" y="265176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9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868680" y="3794760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5E7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确定题目，明确任务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4325112" y="2377440"/>
            <a:ext cx="3529584" cy="1719072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4"/>
          <p:cNvSpPr/>
          <p:nvPr/>
        </p:nvSpPr>
        <p:spPr>
          <a:xfrm>
            <a:off x="4325112" y="2377440"/>
            <a:ext cx="3529584" cy="1719072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/>
          <a:effectLst>
            <a:outerShdw blurRad="76200" dist="50800" dir="2700000" algn="bl" rotWithShape="0">
              <a:srgbClr val="9FBDB8">
                <a:alpha val="7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5"/>
          <p:cNvSpPr/>
          <p:nvPr/>
        </p:nvSpPr>
        <p:spPr>
          <a:xfrm>
            <a:off x="4599432" y="2633472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26A9A2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4296" y="2688336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599432" y="3072384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23B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开题报告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4599432" y="3547872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9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2026.07.17-09.22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5093208" y="265176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9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4599432" y="3794760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5E7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方案论证与资料准备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8055864" y="2377440"/>
            <a:ext cx="3529584" cy="1719072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1"/>
          <p:cNvSpPr/>
          <p:nvPr/>
        </p:nvSpPr>
        <p:spPr>
          <a:xfrm>
            <a:off x="8055864" y="2377440"/>
            <a:ext cx="3529584" cy="1719072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/>
          <a:effectLst>
            <a:outerShdw blurRad="76200" dist="50800" dir="2700000" algn="bl" rotWithShape="0">
              <a:srgbClr val="9FBDB8">
                <a:alpha val="7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2"/>
          <p:cNvSpPr/>
          <p:nvPr/>
        </p:nvSpPr>
        <p:spPr>
          <a:xfrm>
            <a:off x="8330184" y="2633472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E96F4A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2697480"/>
            <a:ext cx="237744" cy="23774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8330184" y="3072384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23B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作品设计与实现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8330184" y="3547872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96F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2026.09.24-10.19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8823960" y="265176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96F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当前重点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8330184" y="3794760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5E7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开发、测试并完成 PCB 样机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594360" y="4343400"/>
            <a:ext cx="3529584" cy="1719072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28"/>
          <p:cNvSpPr/>
          <p:nvPr/>
        </p:nvSpPr>
        <p:spPr>
          <a:xfrm>
            <a:off x="594360" y="4343400"/>
            <a:ext cx="3529584" cy="1719072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/>
          <a:effectLst>
            <a:outerShdw blurRad="76200" dist="50800" dir="2700000" algn="bl" rotWithShape="0">
              <a:srgbClr val="9FBDB8">
                <a:alpha val="7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29"/>
          <p:cNvSpPr/>
          <p:nvPr/>
        </p:nvSpPr>
        <p:spPr>
          <a:xfrm>
            <a:off x="868680" y="4599432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CFE7E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0"/>
          <p:cNvSpPr/>
          <p:nvPr/>
        </p:nvSpPr>
        <p:spPr>
          <a:xfrm>
            <a:off x="868680" y="5038344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23B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中期检查</a:t>
            </a:r>
            <a:endParaRPr lang="en-US" sz="1500" dirty="0"/>
          </a:p>
        </p:txBody>
      </p:sp>
      <p:sp>
        <p:nvSpPr>
          <p:cNvPr id="37" name="Text 31"/>
          <p:cNvSpPr/>
          <p:nvPr/>
        </p:nvSpPr>
        <p:spPr>
          <a:xfrm>
            <a:off x="868680" y="5513832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9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2026.10.20-11.01</a:t>
            </a:r>
            <a:endParaRPr lang="en-US" sz="1000" dirty="0"/>
          </a:p>
        </p:txBody>
      </p:sp>
      <p:sp>
        <p:nvSpPr>
          <p:cNvPr id="38" name="Text 32"/>
          <p:cNvSpPr/>
          <p:nvPr/>
        </p:nvSpPr>
        <p:spPr>
          <a:xfrm>
            <a:off x="868680" y="5760720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5E7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按进度提交中期材料</a:t>
            </a:r>
            <a:endParaRPr lang="en-US" sz="950" dirty="0"/>
          </a:p>
        </p:txBody>
      </p:sp>
      <p:sp>
        <p:nvSpPr>
          <p:cNvPr id="39" name="Shape 33"/>
          <p:cNvSpPr/>
          <p:nvPr/>
        </p:nvSpPr>
        <p:spPr>
          <a:xfrm>
            <a:off x="4325112" y="4343400"/>
            <a:ext cx="3529584" cy="1719072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4"/>
          <p:cNvSpPr/>
          <p:nvPr/>
        </p:nvSpPr>
        <p:spPr>
          <a:xfrm>
            <a:off x="4325112" y="4343400"/>
            <a:ext cx="3529584" cy="1719072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/>
          <a:effectLst>
            <a:outerShdw blurRad="76200" dist="50800" dir="2700000" algn="bl" rotWithShape="0">
              <a:srgbClr val="9FBDB8">
                <a:alpha val="7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5"/>
          <p:cNvSpPr/>
          <p:nvPr/>
        </p:nvSpPr>
        <p:spPr>
          <a:xfrm>
            <a:off x="4599432" y="4599432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CFE7E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36"/>
          <p:cNvSpPr/>
          <p:nvPr/>
        </p:nvSpPr>
        <p:spPr>
          <a:xfrm>
            <a:off x="4599432" y="5038344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23B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论文撰写与送审</a:t>
            </a:r>
            <a:endParaRPr lang="en-US" sz="1500" dirty="0"/>
          </a:p>
        </p:txBody>
      </p:sp>
      <p:sp>
        <p:nvSpPr>
          <p:cNvPr id="43" name="Text 37"/>
          <p:cNvSpPr/>
          <p:nvPr/>
        </p:nvSpPr>
        <p:spPr>
          <a:xfrm>
            <a:off x="4599432" y="5513832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9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2026.11.02-12.22</a:t>
            </a:r>
            <a:endParaRPr lang="en-US" sz="1000" dirty="0"/>
          </a:p>
        </p:txBody>
      </p:sp>
      <p:sp>
        <p:nvSpPr>
          <p:cNvPr id="44" name="Text 38"/>
          <p:cNvSpPr/>
          <p:nvPr/>
        </p:nvSpPr>
        <p:spPr>
          <a:xfrm>
            <a:off x="4599432" y="5760720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5E7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论文撰写、评审、修改与送审</a:t>
            </a:r>
            <a:endParaRPr lang="en-US" sz="950" dirty="0"/>
          </a:p>
        </p:txBody>
      </p:sp>
      <p:sp>
        <p:nvSpPr>
          <p:cNvPr id="45" name="Shape 39"/>
          <p:cNvSpPr/>
          <p:nvPr/>
        </p:nvSpPr>
        <p:spPr>
          <a:xfrm>
            <a:off x="8055864" y="4343400"/>
            <a:ext cx="3529584" cy="1719072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0"/>
          <p:cNvSpPr/>
          <p:nvPr/>
        </p:nvSpPr>
        <p:spPr>
          <a:xfrm>
            <a:off x="8055864" y="4343400"/>
            <a:ext cx="3529584" cy="1719072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/>
          <a:effectLst>
            <a:outerShdw blurRad="76200" dist="50800" dir="2700000" algn="bl" rotWithShape="0">
              <a:srgbClr val="9FBDB8">
                <a:alpha val="7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1"/>
          <p:cNvSpPr/>
          <p:nvPr/>
        </p:nvSpPr>
        <p:spPr>
          <a:xfrm>
            <a:off x="8330184" y="4599432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CFE7E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2"/>
          <p:cNvSpPr/>
          <p:nvPr/>
        </p:nvSpPr>
        <p:spPr>
          <a:xfrm>
            <a:off x="8330184" y="5038344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23B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毕业答辩</a:t>
            </a:r>
            <a:endParaRPr lang="en-US" sz="1500" dirty="0"/>
          </a:p>
        </p:txBody>
      </p:sp>
      <p:sp>
        <p:nvSpPr>
          <p:cNvPr id="49" name="Text 43"/>
          <p:cNvSpPr/>
          <p:nvPr/>
        </p:nvSpPr>
        <p:spPr>
          <a:xfrm>
            <a:off x="8330184" y="5513832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9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2026.12.23</a:t>
            </a:r>
            <a:endParaRPr lang="en-US" sz="1000" dirty="0"/>
          </a:p>
        </p:txBody>
      </p:sp>
      <p:sp>
        <p:nvSpPr>
          <p:cNvPr id="50" name="Text 44"/>
          <p:cNvSpPr/>
          <p:nvPr/>
        </p:nvSpPr>
        <p:spPr>
          <a:xfrm>
            <a:off x="8330184" y="5760720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5E7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现场演示与答辩</a:t>
            </a:r>
            <a:endParaRPr lang="en-US" sz="950" dirty="0"/>
          </a:p>
        </p:txBody>
      </p:sp>
      <p:sp>
        <p:nvSpPr>
          <p:cNvPr id="51" name="Text 45"/>
          <p:cNvSpPr/>
          <p:nvPr/>
        </p:nvSpPr>
        <p:spPr>
          <a:xfrm>
            <a:off x="594360" y="645566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5E7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林鸿烨 ｜ 基于 STM32 的蓝牙智能加湿器 · 毕业设计开题汇报</a:t>
            </a:r>
            <a:endParaRPr lang="en-US" sz="850" dirty="0"/>
          </a:p>
        </p:txBody>
      </p:sp>
      <p:sp>
        <p:nvSpPr>
          <p:cNvPr id="52" name="Text 46"/>
          <p:cNvSpPr/>
          <p:nvPr/>
        </p:nvSpPr>
        <p:spPr>
          <a:xfrm>
            <a:off x="10835640" y="64556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5E7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/ 09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148840"/>
            <a:ext cx="103601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0" b="1" dirty="0">
                <a:solidFill>
                  <a:srgbClr val="123B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谢谢聆听</a:t>
            </a:r>
            <a:endParaRPr lang="en-US" sz="7600" dirty="0"/>
          </a:p>
        </p:txBody>
      </p:sp>
      <p:sp>
        <p:nvSpPr>
          <p:cNvPr id="3" name="Text 1"/>
          <p:cNvSpPr/>
          <p:nvPr/>
        </p:nvSpPr>
        <p:spPr>
          <a:xfrm>
            <a:off x="914400" y="379476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E7C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恳请各位老师批评指正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760</Words>
  <Application>Microsoft Office PowerPoint</Application>
  <PresentationFormat>宽屏</PresentationFormat>
  <Paragraphs>182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2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 STM32 的蓝牙智能加湿器 - 开题报告</dc:title>
  <dc:subject>毕业设计开题汇报</dc:subject>
  <dc:creator>林鸿烨</dc:creator>
  <cp:lastModifiedBy>魂石 丶</cp:lastModifiedBy>
  <cp:revision>2</cp:revision>
  <dcterms:created xsi:type="dcterms:W3CDTF">2026-09-07T11:49:08Z</dcterms:created>
  <dcterms:modified xsi:type="dcterms:W3CDTF">2026-09-07T11:56:24Z</dcterms:modified>
</cp:coreProperties>
</file>