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3fbf71e2984ebd" /><Relationship Type="http://schemas.openxmlformats.org/officeDocument/2006/relationships/extended-properties" Target="/docProps/app.xml" Id="R3827edc62ed44a9c" /><Relationship Type="http://schemas.openxmlformats.org/officeDocument/2006/relationships/officeDocument" Target="/ppt/presentation.xml" Id="Re51f88ac7a5643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56235f04bc41c6"/>
  </p:sldMasterIdLst>
  <p:notesMasterIdLst>
    <p:notesMasterId xmlns:r="http://schemas.openxmlformats.org/officeDocument/2006/relationships" r:id="R99d3d4af4fa949fe"/>
  </p:notesMasterIdLst>
  <p:sldIdLst>
    <p:sldId xmlns:r="http://schemas.openxmlformats.org/officeDocument/2006/relationships" id="256" r:id="R3d6212ea77ad494a"/>
    <p:sldId xmlns:r="http://schemas.openxmlformats.org/officeDocument/2006/relationships" id="257" r:id="R215aba254bb044fc"/>
    <p:sldId xmlns:r="http://schemas.openxmlformats.org/officeDocument/2006/relationships" id="258" r:id="R2078b611c9b14dae"/>
    <p:sldId xmlns:r="http://schemas.openxmlformats.org/officeDocument/2006/relationships" id="259" r:id="Re902a14e3113494f"/>
    <p:sldId xmlns:r="http://schemas.openxmlformats.org/officeDocument/2006/relationships" id="260" r:id="R66c8afb68b7e4964"/>
    <p:sldId xmlns:r="http://schemas.openxmlformats.org/officeDocument/2006/relationships" id="261" r:id="Ra4d87c7bd4d54ac2"/>
    <p:sldId xmlns:r="http://schemas.openxmlformats.org/officeDocument/2006/relationships" id="262" r:id="R9e670fbe67ad457d"/>
    <p:sldId xmlns:r="http://schemas.openxmlformats.org/officeDocument/2006/relationships" id="263" r:id="Reb6295b00a3c426e"/>
    <p:sldId xmlns:r="http://schemas.openxmlformats.org/officeDocument/2006/relationships" id="264" r:id="R1ec91538594f41c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92b91178244372" /><Relationship Type="http://schemas.openxmlformats.org/officeDocument/2006/relationships/slideMaster" Target="/ppt/slideMasters/slideMaster1.xml" Id="Rf856235f04bc41c6" /><Relationship Type="http://schemas.openxmlformats.org/officeDocument/2006/relationships/notesMaster" Target="/ppt/notesMasters/notesMaster1.xml" Id="R99d3d4af4fa949fe" /><Relationship Type="http://schemas.openxmlformats.org/officeDocument/2006/relationships/presProps" Target="/ppt/presProps.xml" Id="R6fdebaa591e54752" /><Relationship Type="http://schemas.openxmlformats.org/officeDocument/2006/relationships/tableStyles" Target="/ppt/tableStyles.xml" Id="R4a1e163a54644019" /><Relationship Type="http://schemas.openxmlformats.org/officeDocument/2006/relationships/slide" Target="/ppt/slides/slide1.xml" Id="R3d6212ea77ad494a" /><Relationship Type="http://schemas.openxmlformats.org/officeDocument/2006/relationships/slide" Target="/ppt/slides/slide2.xml" Id="R215aba254bb044fc" /><Relationship Type="http://schemas.openxmlformats.org/officeDocument/2006/relationships/slide" Target="/ppt/slides/slide3.xml" Id="R2078b611c9b14dae" /><Relationship Type="http://schemas.openxmlformats.org/officeDocument/2006/relationships/slide" Target="/ppt/slides/slide4.xml" Id="Re902a14e3113494f" /><Relationship Type="http://schemas.openxmlformats.org/officeDocument/2006/relationships/slide" Target="/ppt/slides/slide5.xml" Id="R66c8afb68b7e4964" /><Relationship Type="http://schemas.openxmlformats.org/officeDocument/2006/relationships/slide" Target="/ppt/slides/slide6.xml" Id="Ra4d87c7bd4d54ac2" /><Relationship Type="http://schemas.openxmlformats.org/officeDocument/2006/relationships/slide" Target="/ppt/slides/slide7.xml" Id="R9e670fbe67ad457d" /><Relationship Type="http://schemas.openxmlformats.org/officeDocument/2006/relationships/slide" Target="/ppt/slides/slide8.xml" Id="Reb6295b00a3c426e" /><Relationship Type="http://schemas.openxmlformats.org/officeDocument/2006/relationships/slide" Target="/ppt/slides/slide9.xml" Id="R1ec91538594f41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b80277937e447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ool Blue Gray Academic">
      <a:dk1>
        <a:srgbClr val="121C27"/>
      </a:dk1>
      <a:lt1>
        <a:srgbClr val="FFFFFF"/>
      </a:lt1>
      <a:dk2>
        <a:srgbClr val="1B2B3A"/>
      </a:dk2>
      <a:lt2>
        <a:srgbClr val="DCE8F0"/>
      </a:lt2>
      <a:accent1>
        <a:srgbClr val="17395C"/>
      </a:accent1>
      <a:accent2>
        <a:srgbClr val="2C6B96"/>
      </a:accent2>
      <a:accent3>
        <a:srgbClr val="C4A55D"/>
      </a:accent3>
      <a:accent4>
        <a:srgbClr val="8F4242"/>
      </a:accent4>
      <a:accent5>
        <a:srgbClr val="2F6E52"/>
      </a:accent5>
      <a:accent6>
        <a:srgbClr val="70849A"/>
      </a:accent6>
      <a:hlink>
        <a:srgbClr val="17395C"/>
      </a:hlink>
      <a:folHlink>
        <a:srgbClr val="2C6B96"/>
      </a:folHlink>
    </a:clrScheme>
    <a:fontScheme name="Microsoft 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Cool Blue Gray Academic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27ce07e0a64f84" /><Relationship Type="http://schemas.openxmlformats.org/officeDocument/2006/relationships/notesMaster" Target="/ppt/notesMasters/notesMaster1.xml" Id="R1ea2da3778aa45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e08205dcd04483" /><Relationship Type="http://schemas.openxmlformats.org/officeDocument/2006/relationships/notesMaster" Target="/ppt/notesMasters/notesMaster1.xml" Id="R4d37fb758d954b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af4529e319458a" /><Relationship Type="http://schemas.openxmlformats.org/officeDocument/2006/relationships/notesMaster" Target="/ppt/notesMasters/notesMaster1.xml" Id="R7308fb957aaf44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22f19cbc3b4a45" /><Relationship Type="http://schemas.openxmlformats.org/officeDocument/2006/relationships/notesMaster" Target="/ppt/notesMasters/notesMaster1.xml" Id="Ra9d87b1a2fd64a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b5bf475a8214da4" /><Relationship Type="http://schemas.openxmlformats.org/officeDocument/2006/relationships/notesMaster" Target="/ppt/notesMasters/notesMaster1.xml" Id="R64c5e84272b844f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816354dadf40a1" /><Relationship Type="http://schemas.openxmlformats.org/officeDocument/2006/relationships/notesMaster" Target="/ppt/notesMasters/notesMaster1.xml" Id="R4bcc1d9cc203478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d92b59427a4a67" /><Relationship Type="http://schemas.openxmlformats.org/officeDocument/2006/relationships/notesMaster" Target="/ppt/notesMasters/notesMaster1.xml" Id="R272d19c34f7f4f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92e2878d080495d" /><Relationship Type="http://schemas.openxmlformats.org/officeDocument/2006/relationships/notesMaster" Target="/ppt/notesMasters/notesMaster1.xml" Id="Rcbf390e8675649a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888dd078b1c4416" /><Relationship Type="http://schemas.openxmlformats.org/officeDocument/2006/relationships/notesMaster" Target="/ppt/notesMasters/notesMaster1.xml" Id="R012ffc6bdf6141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开场介绍题目、姓名、专业和指导教师，说明汇报围绕8分钟开题答辩展开。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用问题链说明选题来源，右侧图仅作为均衡硬件参考，不宣称当前已完成全部硬件验证。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明确CAN、蓝牙、串口屏只是扩展预留，不写成当前已实现功能。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三层意义从工程、学习到应用参考，避免空泛夸大。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合并研究趋势与本课题研究内容，避免逐篇念文献。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一页内同时交代系统分层与选型理由，注意说明扩展功能边界。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重点说明任务优先级、共享资源保护和ALERT中断边界。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把研究方法、技术路线和学校进度合并成一页收束。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最后强调拟验证边界和预期成果，回答老师可能关心的可行性问题。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9fd5367f3d4237" /><Relationship Type="http://schemas.openxmlformats.org/officeDocument/2006/relationships/theme" Target="/ppt/theme/theme1.xml" Id="R6bdb71b913d24aed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9fd5367f3d4237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c4f6b305c549a8" /><Relationship Type="http://schemas.openxmlformats.org/officeDocument/2006/relationships/image" Target="/ppt/media/image.png" Id="Rfdd051b4400a44d0" /><Relationship Type="http://schemas.openxmlformats.org/officeDocument/2006/relationships/notesSlide" Target="/ppt/notesSlides/notesSlide1.xml" Id="R0c8efcaedf7c47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034ee391324fcc" /><Relationship Type="http://schemas.openxmlformats.org/officeDocument/2006/relationships/image" Target="/ppt/media/image2.png" Id="R8b4d29d68ed84c80" /><Relationship Type="http://schemas.openxmlformats.org/officeDocument/2006/relationships/notesSlide" Target="/ppt/notesSlides/notesSlide2.xml" Id="Rb46c8b88da894a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68d163bc77428e" /><Relationship Type="http://schemas.openxmlformats.org/officeDocument/2006/relationships/notesSlide" Target="/ppt/notesSlides/notesSlide3.xml" Id="R803f1fd6f3434d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35175dd2554450" /><Relationship Type="http://schemas.openxmlformats.org/officeDocument/2006/relationships/notesSlide" Target="/ppt/notesSlides/notesSlide4.xml" Id="R9d57f174d70f4ff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decb53956144d4" /><Relationship Type="http://schemas.openxmlformats.org/officeDocument/2006/relationships/notesSlide" Target="/ppt/notesSlides/notesSlide5.xml" Id="R915cf292fbf145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ac113504614e99" /><Relationship Type="http://schemas.openxmlformats.org/officeDocument/2006/relationships/image" Target="/ppt/media/image3.png" Id="Red19f2a34a484adc" /><Relationship Type="http://schemas.openxmlformats.org/officeDocument/2006/relationships/notesSlide" Target="/ppt/notesSlides/notesSlide6.xml" Id="R3ef85c7a7c6c4a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bd0e0e0a3048d4" /><Relationship Type="http://schemas.openxmlformats.org/officeDocument/2006/relationships/notesSlide" Target="/ppt/notesSlides/notesSlide7.xml" Id="Rf5549d21b3db494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2ed0f3db0e4d03" /><Relationship Type="http://schemas.openxmlformats.org/officeDocument/2006/relationships/notesSlide" Target="/ppt/notesSlides/notesSlide8.xml" Id="R8394a9ec322f47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c9dd41c5eb4bc8" /><Relationship Type="http://schemas.openxmlformats.org/officeDocument/2006/relationships/notesSlide" Target="/ppt/notesSlides/notesSlide9.xml" Id="R8d321a202d6e46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d051b4400a44d0"/>
          <a:srcRect xmlns:a="http://schemas.openxmlformats.org/drawingml/2006/main" l="0" t="32639" r="0" b="326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2381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2F35A4-085C-47E1-AF01-2F904493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860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95C"/>
          </a:solidFill>
          <a:ln xmlns:a="http://schemas.openxmlformats.org/drawingml/2006/main" w="0">
            <a:solidFill>
              <a:srgbClr val="17395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066D8C-474F-4AF0-8544-F4324DAE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0"/>
            <a:ext cx="895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3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基于STM32的多串锂电池管理系统设计与实现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5466EB-06E1-4603-A79A-108380AD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862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75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C6B96"/>
                </a:solidFill>
                <a:latin typeface="Microsoft YaHei"/>
                <a:ea typeface="Microsoft YaHei"/>
                <a:cs typeface="Microsoft YaHei"/>
              </a:rPr>
              <a:t>本科毕业设计（论文）开题答辩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F2F9F8-311B-434B-80CB-3DDD2AF4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汇报人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93FF30-E465-401C-9360-9F532FB4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8635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8D2"/>
          </a:solidFill>
          <a:ln xmlns:a="http://schemas.openxmlformats.org/drawingml/2006/main" w="0">
            <a:solidFill>
              <a:srgbClr val="B9C8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70BD84-1AC3-4102-9DEC-D4811D29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625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学号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75E9E7-FF3C-49BC-862A-58455AE1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8635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8D2"/>
          </a:solidFill>
          <a:ln xmlns:a="http://schemas.openxmlformats.org/drawingml/2006/main" w="0">
            <a:solidFill>
              <a:srgbClr val="B9C8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3D0295-4861-4377-9C38-435979D4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625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专业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8C27DB-BE42-4BF5-835D-CE883A55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08635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8D2"/>
          </a:solidFill>
          <a:ln xmlns:a="http://schemas.openxmlformats.org/drawingml/2006/main" w="0">
            <a:solidFill>
              <a:srgbClr val="B9C8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93F572-8994-48E8-842D-A232EEEF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7625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指导教师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5A8AF4-50DD-4720-91B7-4D0ADBA1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08635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8D2"/>
          </a:solidFill>
          <a:ln xmlns:a="http://schemas.openxmlformats.org/drawingml/2006/main" w="0">
            <a:solidFill>
              <a:srgbClr val="B9C8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7B9A94-594F-4ED5-86F3-3D08F0B4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背景图：Image2生成，仅用于答辩视觉背景</a:t>
            </a:r>
          </a:p>
        </p:txBody>
      </p:sp>
    </p:spTree>
    <p:extLst>
      <p:ext uri="{BB962C8B-B14F-4D97-AF65-F5344CB8AC3E}">
        <p14:creationId xmlns:p14="http://schemas.microsoft.com/office/powerpoint/2010/main" val="19333872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A7D742-C7D6-4287-AFF8-56192589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1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研究背景与选题依据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5EB51E-9294-44C0-A5A2-BD6D007F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B96"/>
          </a:solidFill>
          <a:ln xmlns:a="http://schemas.openxmlformats.org/drawingml/2006/main" w="0">
            <a:solidFill>
              <a:srgbClr val="2C6B9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4B5C93-355E-4EEB-A882-4B3A8DFC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666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  <a:defRPr sz="12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多串锂电池组在充放电过程中容易出现单体差异，电压、温度和容量不一致会降低可用容量，并带来过充、过放、过流和过温风险。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F98898-149B-4971-B42B-AB90E2CD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428750" cy="4953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多串成组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719BE2-0DF1-42FF-B2E2-C2426C86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381250"/>
            <a:ext cx="1428750" cy="4953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单体差异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8A493B-CE22-45A7-B611-1002AA02F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81250"/>
            <a:ext cx="1428750" cy="4953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运行风险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F95741-A798-4096-8C2A-72EB8734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381250"/>
            <a:ext cx="1428750" cy="4953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实时管理</a:t>
            </a:r>
          </a:p>
        </p:txBody>
      </p:sp>
      <p:cxnSp>
        <p:nvCxnSpPr>
          <p:cNvPr id="2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1962150" y="26289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30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95700" y="26289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3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429250" y="26289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2028C3-29EF-4584-A5DF-B772DE45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9090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  <a:defRPr sz="12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课题面向9串18650电池组，设计能够实时采集状态、判断风险并执行保护的管理系统。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4d29d68ed84c80"/>
          <a:stretch xmlns:a="http://schemas.openxmlformats.org/drawingml/2006/main"/>
        </p:blipFill>
        <p:spPr>
          <a:xfrm xmlns:a="http://schemas.openxmlformats.org/drawingml/2006/main">
            <a:off x="8753625" y="1333500"/>
            <a:ext cx="1638000" cy="24765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4E1922-3EC5-46E6-A7A7-816F2D67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481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被动均衡驱动参考电路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来源：项目参考资料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23C8D4-5EBC-4102-AAFC-0F2BC54D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00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温度风险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6E7970-ECFF-4FC1-B1C8-BC8653F8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00550"/>
            <a:ext cx="552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徐伟巍等[1]指出高倍率放电会显著增加温升。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D02720-780E-4638-B68B-A7D2A5D3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339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远程监测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79401B-13CE-4DA7-BE0E-379F35BE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33950"/>
            <a:ext cx="552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黄新星[2]说明远程数据交互可弥补本地能力不足。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A3C1DE-E5C4-4B86-996D-0575F8DE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工程参考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CD07ED-0C4F-443D-847E-B5D2A6A9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67350"/>
            <a:ext cx="552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黄青青等[3]验证了以STM32为核心的BMS方案。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C4B938-9755-4649-9141-B09DF73F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02 / 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68BB1F-8C00-49CA-A474-8FE06E7C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资料来源：开题报告研究背景与国内研究现状</a:t>
            </a:r>
          </a:p>
        </p:txBody>
      </p:sp>
    </p:spTree>
    <p:extLst>
      <p:ext uri="{BB962C8B-B14F-4D97-AF65-F5344CB8AC3E}">
        <p14:creationId xmlns:p14="http://schemas.microsoft.com/office/powerpoint/2010/main" val="599616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EBEC40-696F-4CBA-BE6A-1F5A540F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1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研究目的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37764-993A-4889-8BF1-28B391E6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B96"/>
          </a:solidFill>
          <a:ln xmlns:a="http://schemas.openxmlformats.org/drawingml/2006/main" w="0">
            <a:solidFill>
              <a:srgbClr val="2C6B9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84AFC1-963F-4201-9C62-2E895C96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257300"/>
            <a:ext cx="7239000" cy="685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设计并实现基于STM32F103C8T6与BQ76940的多串锂电池管理系统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379CC4-E539-415A-9A17-7E383761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476500" cy="9144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状态感知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采集单体电压、电流、温度</a:t>
            </a:r>
          </a:p>
        </p:txBody>
      </p:sp>
      <p:cxnSp>
        <p:nvCxnSpPr>
          <p:cNvPr id="22" name=""/>
          <p:cNvCxnSpPr>
            <a:stCxn xmlns:a="http://schemas.openxmlformats.org/drawingml/2006/main" id="3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 flipH="1">
            <a:off x="1924050" y="1943100"/>
            <a:ext cx="3409950" cy="10096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D090B1-D2E6-498E-8386-515A7705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952750"/>
            <a:ext cx="2476500" cy="9144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安全控制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识别阈值与硬件告警，控制MOS</a:t>
            </a:r>
          </a:p>
        </p:txBody>
      </p:sp>
      <p:cxnSp>
        <p:nvCxnSpPr>
          <p:cNvPr id="24" name=""/>
          <p:cNvCxnSpPr>
            <a:stCxn xmlns:a="http://schemas.openxmlformats.org/drawingml/2006/main" id="3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4324350" y="1943100"/>
            <a:ext cx="1009650" cy="10096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78FF49-AB49-4AD7-AB97-BF07AE11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52750"/>
            <a:ext cx="2476500" cy="9144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状态估算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SOC计算与静置OCV校正</a:t>
            </a:r>
          </a:p>
        </p:txBody>
      </p:sp>
      <p:cxnSp>
        <p:nvCxnSpPr>
          <p:cNvPr id="26" name=""/>
          <p:cNvCxnSpPr>
            <a:stCxn xmlns:a="http://schemas.openxmlformats.org/drawingml/2006/main" id="3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5334000" y="1943100"/>
            <a:ext cx="1390650" cy="10096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E9BE57-F41B-4359-9FB5-B93B512D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52750"/>
            <a:ext cx="2476500" cy="9144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调试交互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UART命令与Python上位机</a:t>
            </a:r>
          </a:p>
        </p:txBody>
      </p:sp>
      <p:cxnSp>
        <p:nvCxnSpPr>
          <p:cNvPr id="28" name=""/>
          <p:cNvCxnSpPr>
            <a:stCxn xmlns:a="http://schemas.openxmlformats.org/drawingml/2006/main" id="3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5334000" y="1943100"/>
            <a:ext cx="3790950" cy="10096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5CC80D-858E-4304-860D-809C098F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6245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  <a:defRPr sz="12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研究目标不是追求复杂算法，而是形成结构清晰、安全边界明确、可在实验平台上验证的完整实现。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FCC431-3D5B-47AF-9982-C7010100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38750"/>
            <a:ext cx="2095500" cy="43815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CAN为扩展方向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7F5F2B-AF97-46D4-AC21-9514C414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238750"/>
            <a:ext cx="2095500" cy="43815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蓝牙为扩展方向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4FBA44-B46B-4776-A4FD-8C6DA04E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38750"/>
            <a:ext cx="2095500" cy="43815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串口屏为扩展方向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7C416B-C8F0-4900-A179-1AF5FCA6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03 / 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D1DAAA-3803-41BF-A43D-5AA6DDA14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资料来源：开题报告研究目的与预期目标</a:t>
            </a:r>
          </a:p>
        </p:txBody>
      </p:sp>
    </p:spTree>
    <p:extLst>
      <p:ext uri="{BB962C8B-B14F-4D97-AF65-F5344CB8AC3E}">
        <p14:creationId xmlns:p14="http://schemas.microsoft.com/office/powerpoint/2010/main" val="16272402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05C830-327C-4160-8267-E348E30F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1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研究意义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C03BD0-47B9-4B0F-8EF5-138DFFA7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B96"/>
          </a:solidFill>
          <a:ln xmlns:a="http://schemas.openxmlformats.org/drawingml/2006/main" w="0">
            <a:solidFill>
              <a:srgbClr val="2C6B9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BDB74D-DEAB-4EB8-BEB2-3778BF3D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38250"/>
            <a:ext cx="1428750" cy="66675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3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工程意义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60F8D1-E3D1-4A7B-838A-4AE7F67D7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33350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  <a:defRPr sz="12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降低过充、过放、过流、过温风险，延长电池组使用寿命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CD4B24-4662-4121-942A-6C2DA01C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1428750" cy="66675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3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学习意义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E8BB6C-42A3-4EE3-A265-47E70F36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0030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  <a:defRPr sz="12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覆盖嵌入式软硬件、I2C通信、FreeRTOS任务调度和电池保护策略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24AD2F-C1DF-440D-A7A0-1C9C7519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71850"/>
            <a:ext cx="1428750" cy="66675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3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应用参考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60EA5F-5845-4718-AA44-144B4773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6710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  <a:defRPr sz="12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为同类小规模多串锂电池管理系统提供可复用设计思路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D5C9B3-96AB-4EEB-9D3E-9D13A2A2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  <a:defRPr sz="13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课题重点解决工程实现与验证闭环，价值体现在安全、可维护和可复用，而不是单纯增加功能。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18084B-5419-4998-BBF4-5A514613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04 / 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0ED434-52A3-4F9A-BD1A-FEF1FADC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资料来源：开题报告研究意义</a:t>
            </a:r>
          </a:p>
        </p:txBody>
      </p:sp>
    </p:spTree>
    <p:extLst>
      <p:ext uri="{BB962C8B-B14F-4D97-AF65-F5344CB8AC3E}">
        <p14:creationId xmlns:p14="http://schemas.microsoft.com/office/powerpoint/2010/main" val="7656068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A63121-F103-49F1-8973-8B644312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1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国内外研究现状与研究内容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1263B2-86CD-4699-AFDA-9EBEB5F5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B96"/>
          </a:solidFill>
          <a:ln xmlns:a="http://schemas.openxmlformats.org/drawingml/2006/main" w="0">
            <a:solidFill>
              <a:srgbClr val="2C6B96"/>
            </a:solidFill>
            <a:prstDash val="solid"/>
          </a:ln>
        </p:spPr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33400" y="1238250"/>
          <a:ext xmlns:a="http://schemas.openxmlformats.org/drawingml/2006/main" cx="6667500" cy="2952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222500"/>
                <a:gridCol w="2222500"/>
                <a:gridCol w="2222500"/>
              </a:tblGrid>
              <a:tr h="495300">
                <a:tc>
                  <a:txBody>
                    <a:bodyPr lIns="76200" tIns="57150" rIns="76200" bIns="57150"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方向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lIns="76200" tIns="57150" rIns="76200" bIns="57150"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国内进展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lIns="76200" tIns="57150" rIns="76200" bIns="57150"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国外进展</a:t>
                      </a:r>
                    </a:p>
                  </a:txBody>
                  <a:tcPr marL="91440" marR="91440" marT="45720" marB="45720" anchor="ctr"/>
                </a:tc>
              </a:tr>
              <a:tr h="819150">
                <a:tc>
                  <a:txBody>
                    <a:bodyPr lIns="76200" tIns="57150" rIns="76200" bIns="57150"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975" b="0">
                          <a:solidFill>
                            <a:srgbClr val="1F2A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系统实现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lIns="76200" tIns="57150" rIns="76200" bIns="57150"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975" b="0">
                          <a:solidFill>
                            <a:srgbClr val="1F2A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STM32与多串采集保护方案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lIns="76200" tIns="57150" rIns="76200" bIns="57150"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975" b="0">
                          <a:solidFill>
                            <a:srgbClr val="1F2A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STM32、LTC6804与物联网交互</a:t>
                      </a:r>
                    </a:p>
                  </a:txBody>
                  <a:tcPr marL="91440" marR="91440" marT="45720" marB="45720" anchor="ctr"/>
                </a:tc>
              </a:tr>
              <a:tr h="819150">
                <a:tc>
                  <a:txBody>
                    <a:bodyPr lIns="76200" tIns="57150" rIns="76200" bIns="57150"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975" b="0">
                          <a:solidFill>
                            <a:srgbClr val="1F2A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状态估算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lIns="76200" tIns="57150" rIns="76200" bIns="57150"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975" b="0">
                          <a:solidFill>
                            <a:srgbClr val="1F2A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安时积分结合OCV与滤波修正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lIns="76200" tIns="57150" rIns="76200" bIns="57150"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975" b="0">
                          <a:solidFill>
                            <a:srgbClr val="1F2A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EKF、LSTM与优化算法融合</a:t>
                      </a:r>
                    </a:p>
                  </a:txBody>
                  <a:tcPr marL="91440" marR="91440" marT="45720" marB="45720" anchor="ctr"/>
                </a:tc>
              </a:tr>
              <a:tr h="819150">
                <a:tc>
                  <a:txBody>
                    <a:bodyPr lIns="76200" tIns="57150" rIns="76200" bIns="57150"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975" b="0">
                          <a:solidFill>
                            <a:srgbClr val="1F2A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均衡保护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lIns="76200" tIns="57150" rIns="76200" bIns="57150"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975" b="0">
                          <a:solidFill>
                            <a:srgbClr val="1F2A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主动均衡、被动均衡与温度保护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lIns="76200" tIns="57150" rIns="76200" bIns="57150"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975" b="0">
                          <a:solidFill>
                            <a:srgbClr val="1F2A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拓扑优化与多级安全保护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2650EC-F1DC-4789-BE5F-CBF08CDA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38250"/>
            <a:ext cx="3429000" cy="5334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850CC4-1FD6-457D-89DF-EC074C9B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52625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系统架构、采集保护、SOC估算与交互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828199-72C5-43E1-B6ED-265ED91E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67000"/>
            <a:ext cx="3429000" cy="400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硬件架构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BCD08D-C06F-408A-8DD9-58E5F3C1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62300"/>
            <a:ext cx="3429000" cy="400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采集保护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58DDBF-49C2-45C1-BB4F-E61A536D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57600"/>
            <a:ext cx="3429000" cy="400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SOC估算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61674A-5062-44E7-A39C-105B6D47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52900"/>
            <a:ext cx="3429000" cy="400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上位机交互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B3D975-038C-40C3-A0E0-A9B0B437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研究空间：在有限MCU资源下实现稳定采集、及时保护和可验证状态估算。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667146-B881-4EF1-A82D-9F90BC3F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05 / 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B50A24-BC50-47F3-9555-014BA5C8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资料来源：开题报告研究现状与基本内容</a:t>
            </a:r>
          </a:p>
        </p:txBody>
      </p:sp>
    </p:spTree>
    <p:extLst>
      <p:ext uri="{BB962C8B-B14F-4D97-AF65-F5344CB8AC3E}">
        <p14:creationId xmlns:p14="http://schemas.microsoft.com/office/powerpoint/2010/main" val="1402625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D1CE9F-E10C-4E7F-92C1-62E05304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1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系统总体方案与硬件选型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672C00-3F76-442A-A52C-3D3EBAE7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B96"/>
          </a:solidFill>
          <a:ln xmlns:a="http://schemas.openxmlformats.org/drawingml/2006/main" w="0">
            <a:solidFill>
              <a:srgbClr val="2C6B9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E1A2AF-956D-48DC-A569-DD758E97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047750" cy="47625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电池层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27C07C-571C-46DA-8F7B-171A7C5C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304925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9串18650锂电池组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AD50FF-5BB4-4318-93C1-AEF85BD7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1047750" cy="47625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采集层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FBAE41-491A-47F0-B738-726CE06C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895475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BQ76940采集电压、电流、温度，提供硬件告警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DD0110-6CBD-4EF5-9945-E0619448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47750" cy="47625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控制层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6C43EA-F779-4B49-810A-BCA3F120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86025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STM32读取数据，执行阈值判断、SOC估算与命令交互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E09FF2-E2C0-4812-98BF-E61308F3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71800"/>
            <a:ext cx="1047750" cy="47625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交互层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368753-6835-4DB0-975E-DF06CD97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76575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UART连接Python上位机，显示状态并接收命令</a:t>
            </a:r>
          </a:p>
        </p:txBody>
      </p:sp>
      <p:cxnSp>
        <p:nvCxnSpPr>
          <p:cNvPr id="42" name=""/>
          <p:cNvCxnSpPr>
            <a:stCxn xmlns:a="http://schemas.openxmlformats.org/drawingml/2006/main" id="3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1057275" y="1676400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none" w="med" len="med"/>
          </a:ln>
        </p:spPr>
      </p:cxnSp>
      <p:cxnSp>
        <p:nvCxnSpPr>
          <p:cNvPr id="43" name=""/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1057275" y="2266950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none" w="med" len="med"/>
          </a:ln>
        </p:spPr>
      </p:cxnSp>
      <p:cxnSp>
        <p:nvCxnSpPr>
          <p:cNvPr id="44" name=""/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057275" y="2857500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non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E02390-B0E0-4287-AEE9-E31E26C2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143000"/>
            <a:ext cx="857250" cy="400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主控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CDCA4A-3F67-493F-A04A-6BFDA27E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143000"/>
            <a:ext cx="1238250" cy="400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8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STM32F103C8T6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247F3E-CB5E-47BD-BB5A-04A05505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1906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外设资源与成本适合课题验证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290729-A3D5-48C2-88D1-EF947275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95450"/>
            <a:ext cx="857250" cy="400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模拟前端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EBBC14-6119-481D-BDA8-4730B261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95450"/>
            <a:ext cx="1238250" cy="400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8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BQ76940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46E37D-F85D-4C70-86C6-D4B45303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430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多串采集、硬件告警与MOS控制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9DA1A0-A198-4FD6-9E46-753D63BA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47900"/>
            <a:ext cx="857250" cy="400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均衡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0D4868-6E6A-4EB0-A64F-948C5B0A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47900"/>
            <a:ext cx="1238250" cy="400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8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被动均衡接口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875D05-DBDE-4AB5-9837-736D9034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2955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结构简单，适合实验验证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B22909-AD53-47D3-8B65-9A458B88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00350"/>
            <a:ext cx="857250" cy="400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通信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8AD078-2033-427A-B59D-EF33FF95B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00350"/>
            <a:ext cx="1238250" cy="400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8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20F2DD-6EE6-4698-83DE-D4FDEBE8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479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当前连接Python上位机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19f2a34a484adc"/>
          <a:stretch xmlns:a="http://schemas.openxmlformats.org/drawingml/2006/main"/>
        </p:blipFill>
        <p:spPr>
          <a:xfrm xmlns:a="http://schemas.openxmlformats.org/drawingml/2006/main">
            <a:off x="8371300" y="3524250"/>
            <a:ext cx="1450150" cy="219075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4A0FB6-EB04-451E-9729-9CD89AE9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7531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BQ769X0外围连接参考图 来源：BQ769X0参考设计资料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C4D658-FF5F-4CA0-A096-F853A1A3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0"/>
            <a:ext cx="5905500" cy="400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8F42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8F4242"/>
                </a:solidFill>
                <a:latin typeface="Microsoft YaHei"/>
                <a:ea typeface="Microsoft YaHei"/>
                <a:cs typeface="Microsoft YaHei"/>
              </a:rPr>
              <a:t>CAN、蓝牙、串口屏仅作为扩展预留，不计入当前实现范围。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9BA593-A2E0-47F4-8587-0743175C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0100"/>
            <a:ext cx="5905500" cy="59055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安全控制：BQ76940硬件告警与STM32软件阈值共同判断，驱动充放电MOS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E52980-C66A-43C6-8F18-2A3D6180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06 / 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10EC42-B723-47DA-83E5-0E2F779F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资料来源：开题报告研究方案、总体设计与硬件选型</a:t>
            </a:r>
          </a:p>
        </p:txBody>
      </p:sp>
    </p:spTree>
    <p:extLst>
      <p:ext uri="{BB962C8B-B14F-4D97-AF65-F5344CB8AC3E}">
        <p14:creationId xmlns:p14="http://schemas.microsoft.com/office/powerpoint/2010/main" val="2910992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5D0016-F351-4BB1-9745-BBEDC785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1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软件设计与任务流程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04E37B-BE49-4FB3-87C9-B92BB4A6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B96"/>
          </a:solidFill>
          <a:ln xmlns:a="http://schemas.openxmlformats.org/drawingml/2006/main" w="0">
            <a:solidFill>
              <a:srgbClr val="2C6B9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3CC6E3-D537-4D66-8BEE-807CBA56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2667000" cy="9525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BMS_Task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高优先级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500ms周期，可由ALERT唤醒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F6EBD6-B288-4D5D-9761-5EE254FF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200150"/>
            <a:ext cx="2095500" cy="9525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UART_Task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低优先级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50ms轮询串口命令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712E5D-D195-4940-9ED3-7ABB53F1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200150"/>
            <a:ext cx="1619250" cy="9525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8F42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8F4242"/>
                </a:solidFill>
                <a:latin typeface="Microsoft YaHei"/>
                <a:ea typeface="Microsoft YaHei"/>
                <a:cs typeface="Microsoft YaHei"/>
              </a:rPr>
              <a:t>ALERT中断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8F42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8F4242"/>
                </a:solidFill>
                <a:latin typeface="Microsoft YaHei"/>
                <a:ea typeface="Microsoft YaHei"/>
                <a:cs typeface="Microsoft YaHei"/>
              </a:rPr>
              <a:t>只发送任务通知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2499F4-6D1D-402F-BC9B-D3EC4CE3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200150"/>
            <a:ext cx="1619250" cy="9525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I2C互斥锁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保护BQ76940访问</a:t>
            </a:r>
          </a:p>
        </p:txBody>
      </p:sp>
      <p:cxnSp>
        <p:nvCxnSpPr>
          <p:cNvPr id="28" name=""/>
          <p:cNvCxnSpPr>
            <a:stCxn xmlns:a="http://schemas.openxmlformats.org/drawingml/2006/main" id="5" idx="2"/>
            <a:endCxn xmlns:a="http://schemas.openxmlformats.org/drawingml/2006/main" id="3" idx="0"/>
          </p:cNvCxnSpPr>
          <p:nvPr/>
        </p:nvCxnSpPr>
        <p:spPr>
          <a:xfrm xmlns:a="http://schemas.openxmlformats.org/drawingml/2006/main" flipH="1" flipV="1">
            <a:off x="2095500" y="1200150"/>
            <a:ext cx="5000625" cy="9525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29" name=""/>
          <p:cNvCxnSpPr>
            <a:stCxn xmlns:a="http://schemas.openxmlformats.org/drawingml/2006/main" id="4" idx="0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4857750" y="1200150"/>
            <a:ext cx="42386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B38ACE-8001-496B-A417-A6B6D89E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1714500" cy="762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采样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电压、电流、温度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078AEE-570C-4775-A966-CB307EC2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952750"/>
            <a:ext cx="1714500" cy="762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软件阈值与硬件告警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A6F20E-71D2-4444-ADB5-881F39F6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52750"/>
            <a:ext cx="1714500" cy="762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SOC更新与MOS控制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11D914-F1C7-4525-B3E1-8CD22260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52750"/>
            <a:ext cx="1714500" cy="762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上报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UART状态输出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AB2F6C-E8D8-4FA5-A1EF-11506D43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52750"/>
            <a:ext cx="1714500" cy="762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显示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上位机刷新</a:t>
            </a:r>
          </a:p>
        </p:txBody>
      </p:sp>
      <p:cxnSp>
        <p:nvCxnSpPr>
          <p:cNvPr id="35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476500" y="33337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36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476750" y="33337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37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477000" y="33337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38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477250" y="33337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33705A-080D-4643-BEA6-0F5A339C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  <a:defRPr sz="11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中断服务程序不执行I2C操作，寄存器读取、故障解析与状态更新在任务上下文完成。串口命令访问BQ76940时，同样由互斥锁保护。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D733B2-FF87-4623-B728-5871535C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SOC采用安时积分，静置约30s后结合开路电压校正，并以满电、空电边界校准。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935D80-B4A1-4050-9742-68EDCEA9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07 / 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2DAC43-8BDB-4E3C-8B5F-87D86775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资料来源：开题报告软件设计与流程设计</a:t>
            </a:r>
          </a:p>
        </p:txBody>
      </p:sp>
    </p:spTree>
    <p:extLst>
      <p:ext uri="{BB962C8B-B14F-4D97-AF65-F5344CB8AC3E}">
        <p14:creationId xmlns:p14="http://schemas.microsoft.com/office/powerpoint/2010/main" val="9520947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90E9A8-7559-4DCC-BAE1-2D4C8B58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1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研究方法与技术路线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41C4A9-1849-48EA-A070-7C629B29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B96"/>
          </a:solidFill>
          <a:ln xmlns:a="http://schemas.openxmlformats.org/drawingml/2006/main" w="0">
            <a:solidFill>
              <a:srgbClr val="2C6B9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CF9D3A-CDB9-445E-984D-9CE595DE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90500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需求分析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功能范围与边界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39B641-EFA8-4503-B096-A76C7D7F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200150"/>
            <a:ext cx="190500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系统设计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硬件结构与任务划分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F84A85-4FB6-4F76-84EF-A62237B8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200150"/>
            <a:ext cx="190500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功能实现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驱动、算法与通信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CF7C3F-8BBD-4AC8-9685-89632857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200150"/>
            <a:ext cx="190500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联调测试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保护、SOC与上位机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D2047C-5A97-477A-808D-FE81582E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200150"/>
            <a:ext cx="190500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总结完善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数据整理与论文撰写</a:t>
            </a:r>
          </a:p>
        </p:txBody>
      </p:sp>
      <p:cxnSp>
        <p:nvCxnSpPr>
          <p:cNvPr id="40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438400" y="15906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4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629150" y="15906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4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819900" y="15906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cxnSp>
        <p:nvCxnSpPr>
          <p:cNvPr id="4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010650" y="15906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C6B96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5522E3-CB04-4298-B97A-3C435E6B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238250" cy="43815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文献研究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E9261B-8FA9-4E55-A851-E5E3500A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527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梳理BMS实现、SOC估算与均衡策略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96300E-8048-4BA7-A0C6-7F0B7942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1238250" cy="43815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模块设计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DF44AC-165A-44F0-BAD3-68903ED6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1432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按主控、采集、保护、通信和显示划分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3B8F32-87D4-45C2-8B90-67E48847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7600"/>
            <a:ext cx="1238250" cy="43815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实验验证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E227B4-7896-43EE-B686-10C0CE03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338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从通信读取到保护动作逐步记录数据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75660C-8431-4914-8138-A8E3470F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33625"/>
            <a:ext cx="1666875" cy="285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75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2026.06.25-07.02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4F12BD-6BD4-4466-BBFA-8852962D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选题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871FD4-50B2-4639-813D-C2697622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95575"/>
            <a:ext cx="1666875" cy="285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75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2026.07.03-07.16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8DB5D8-CE51-493F-B6F7-A6587907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432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文献调研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E20E9C-1198-49F6-83F1-C2E1E165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57525"/>
            <a:ext cx="1666875" cy="285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75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2026.07.17-09.22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75E02E-FFF3-4B76-9950-57B65D5C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05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开题报告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989116-1533-4238-A429-0738AF8A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19475"/>
            <a:ext cx="1666875" cy="285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75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2026.09.24-10.19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CDF14D-819A-4BBB-B81F-0F3884D8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671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系统设计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7350B2-4051-410D-BC66-E3E9E66E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81425"/>
            <a:ext cx="1666875" cy="285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75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2026.10.20-11.01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ACC6C2-6C10-4EF5-BC31-E97DB48E9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29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硬件加工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433B8E-3200-46EA-BAF6-3EF7B90FC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43375"/>
            <a:ext cx="1666875" cy="285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75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2026.11.02-11.30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07C968-AEB1-4010-B255-277B5A70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910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论文撰写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712780-95F9-438F-B723-C6BE57D6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路线核心是从明确需求到工程实现的闭环，测试结果反过来修正驱动、参数与软件逻辑。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031A53-C2A7-4ABA-95B9-B160242D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08 / 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3BEF64-0079-403F-8FA8-DDB0DD7B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资料来源：开题报告研究方法、技术路线与进度安排</a:t>
            </a:r>
          </a:p>
        </p:txBody>
      </p:sp>
    </p:spTree>
    <p:extLst>
      <p:ext uri="{BB962C8B-B14F-4D97-AF65-F5344CB8AC3E}">
        <p14:creationId xmlns:p14="http://schemas.microsoft.com/office/powerpoint/2010/main" val="19982122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9CDDA6-C6E6-4542-A2E8-E33D00E6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1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测试验证与预期成果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B3E4DB-E8C2-4EE4-BF9A-9F384849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B96"/>
          </a:solidFill>
          <a:ln xmlns:a="http://schemas.openxmlformats.org/drawingml/2006/main" w="0">
            <a:solidFill>
              <a:srgbClr val="2C6B9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74FDEF-F48B-4406-8BB7-304F2670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428750" cy="43815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通信与采集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66EEC8-2059-4AB1-8D6F-4EC433D8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26682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验证BQ76940初始化、寄存器读取与ALERT响应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E02750-4C50-4057-97B5-9EEE6EC5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428750" cy="43815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保护与执行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7DFC8A-BA85-4D73-9E25-F04AEBDF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87642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验证保护阈值触发与MOS动作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2541FA-0113-425F-A289-519A1813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19350"/>
            <a:ext cx="1428750" cy="43815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SOC与校正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49F239-E5E0-43F8-94B1-511F478E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48602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验证安时积分、OCV校正与边界校准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F74D19-3284-49CC-8FF5-65265013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28950"/>
            <a:ext cx="1428750" cy="43815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交互与显示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5F8951-3DF1-4BD2-8E99-824DC1A2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9562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验证串口命令与上位机刷新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12E727-63A7-441A-A080-00CCFDAD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1428750" cy="43815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运行稳定性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EC8795-761D-436F-A64E-DF47FDED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0522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验证长时间运行和异常恢复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955B02-26D1-4CAA-BC20-62DA3FDF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200150"/>
            <a:ext cx="1428750" cy="43815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预期成果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3D38EA-9FC0-4D9E-8EB7-CB03D5E9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05000"/>
            <a:ext cx="4286250" cy="400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完成多串锂电池管理系统软硬件设计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5FE1AC-2467-4C1A-A879-6121543E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19350"/>
            <a:ext cx="4286250" cy="400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实现状态采集、保护判断、SOC估算与上位机交互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DF2ADC-8899-48BE-8EA5-726C2BB3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33700"/>
            <a:ext cx="4286250" cy="400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8D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1F2A36"/>
                </a:solidFill>
                <a:latin typeface="Microsoft YaHei"/>
                <a:ea typeface="Microsoft YaHei"/>
                <a:cs typeface="Microsoft YaHei"/>
              </a:rPr>
              <a:t>形成测试数据与毕业设计论文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6F9E94-2671-4319-9762-9EAB6097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测试表述以拟验证为主，未设定具体误差指标的项目不虚构数值。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D45D85-7065-4E52-9181-7E945800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3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95C"/>
                </a:solidFill>
                <a:latin typeface="Microsoft YaHei"/>
                <a:ea typeface="Microsoft YaHei"/>
                <a:cs typeface="Microsoft YaHei"/>
              </a:rPr>
              <a:t>结论：本课题以安全控制与工程验证为中心，形成可复用的多串锂电池管理系统实现路径。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9F8C7B-97FA-449F-A22D-317AF609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341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09 / 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6F0B26-E572-45C1-ABAE-A1715859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D6B75"/>
                </a:solidFill>
                <a:latin typeface="Microsoft YaHei"/>
                <a:ea typeface="Microsoft YaHei"/>
                <a:cs typeface="Microsoft YaHei"/>
              </a:rPr>
              <a:t>资料来源：开题报告测试与验证方案</a:t>
            </a:r>
          </a:p>
        </p:txBody>
      </p:sp>
    </p:spTree>
    <p:extLst>
      <p:ext uri="{BB962C8B-B14F-4D97-AF65-F5344CB8AC3E}">
        <p14:creationId xmlns:p14="http://schemas.microsoft.com/office/powerpoint/2010/main" val="141858447"/>
      </p:ext>
    </p:extLst>
  </p:cSld>
</p:sld>
</file>

<file path=ppt/theme/theme1.xml><?xml version="1.0" encoding="utf-8"?>
<a:theme xmlns:a="http://schemas.openxmlformats.org/drawingml/2006/main" name="ChatGPT">
  <a:themeElements>
    <a:clrScheme name="Cool Blue Gray Academic">
      <a:dk1>
        <a:srgbClr val="121C27"/>
      </a:dk1>
      <a:lt1>
        <a:srgbClr val="FFFFFF"/>
      </a:lt1>
      <a:dk2>
        <a:srgbClr val="1B2B3A"/>
      </a:dk2>
      <a:lt2>
        <a:srgbClr val="DCE8F0"/>
      </a:lt2>
      <a:accent1>
        <a:srgbClr val="17395C"/>
      </a:accent1>
      <a:accent2>
        <a:srgbClr val="2C6B96"/>
      </a:accent2>
      <a:accent3>
        <a:srgbClr val="C4A55D"/>
      </a:accent3>
      <a:accent4>
        <a:srgbClr val="8F4242"/>
      </a:accent4>
      <a:accent5>
        <a:srgbClr val="2F6E52"/>
      </a:accent5>
      <a:accent6>
        <a:srgbClr val="70849A"/>
      </a:accent6>
      <a:hlink>
        <a:srgbClr val="17395C"/>
      </a:hlink>
      <a:folHlink>
        <a:srgbClr val="2C6B96"/>
      </a:folHlink>
    </a:clrScheme>
    <a:fontScheme name="Microsoft 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Cool Blue Gray Academic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2026-09-21T02:21:37.2650000Z</dcterms:created>
  <dcterms:modified xsi:type="dcterms:W3CDTF">2026-09-21T02:21:37.2650000Z</dcterms:modified>
</coreProperties>
</file>