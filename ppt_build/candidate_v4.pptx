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0502b19e4f04b2a" /><Relationship Type="http://schemas.openxmlformats.org/officeDocument/2006/relationships/extended-properties" Target="/docProps/app.xml" Id="Ra79ecff32f424ff0" /><Relationship Type="http://schemas.openxmlformats.org/officeDocument/2006/relationships/officeDocument" Target="/ppt/presentation.xml" Id="R9de2c0a33818435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6a425d5ebe54689"/>
  </p:sldMasterIdLst>
  <p:notesMasterIdLst>
    <p:notesMasterId xmlns:r="http://schemas.openxmlformats.org/officeDocument/2006/relationships" r:id="R6210a5764dd44d7a"/>
  </p:notesMasterIdLst>
  <p:sldIdLst>
    <p:sldId xmlns:r="http://schemas.openxmlformats.org/officeDocument/2006/relationships" id="256" r:id="R06e67667c0f644c2"/>
    <p:sldId xmlns:r="http://schemas.openxmlformats.org/officeDocument/2006/relationships" id="257" r:id="Rdab853aa8b104bd5"/>
    <p:sldId xmlns:r="http://schemas.openxmlformats.org/officeDocument/2006/relationships" id="258" r:id="R09204338f8d744ce"/>
    <p:sldId xmlns:r="http://schemas.openxmlformats.org/officeDocument/2006/relationships" id="259" r:id="R69342d4375084908"/>
    <p:sldId xmlns:r="http://schemas.openxmlformats.org/officeDocument/2006/relationships" id="260" r:id="R0df7de57ec0643a5"/>
    <p:sldId xmlns:r="http://schemas.openxmlformats.org/officeDocument/2006/relationships" id="261" r:id="R1f266f4d19b74313"/>
    <p:sldId xmlns:r="http://schemas.openxmlformats.org/officeDocument/2006/relationships" id="262" r:id="R6d578092a8c04045"/>
    <p:sldId xmlns:r="http://schemas.openxmlformats.org/officeDocument/2006/relationships" id="263" r:id="Rda178bb2199b4712"/>
    <p:sldId xmlns:r="http://schemas.openxmlformats.org/officeDocument/2006/relationships" id="264" r:id="Rd4d98cc37f7147fb"/>
    <p:sldId xmlns:r="http://schemas.openxmlformats.org/officeDocument/2006/relationships" id="265" r:id="Ref3aba8bcc334f9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9818fbaa6ce4518" /><Relationship Type="http://schemas.openxmlformats.org/officeDocument/2006/relationships/slideMaster" Target="/ppt/slideMasters/slideMaster1.xml" Id="Rb6a425d5ebe54689" /><Relationship Type="http://schemas.openxmlformats.org/officeDocument/2006/relationships/notesMaster" Target="/ppt/notesMasters/notesMaster1.xml" Id="R6210a5764dd44d7a" /><Relationship Type="http://schemas.openxmlformats.org/officeDocument/2006/relationships/presProps" Target="/ppt/presProps.xml" Id="R2f55869da5ba4544" /><Relationship Type="http://schemas.openxmlformats.org/officeDocument/2006/relationships/tableStyles" Target="/ppt/tableStyles.xml" Id="R7dd5868814ac46f9" /><Relationship Type="http://schemas.openxmlformats.org/officeDocument/2006/relationships/slide" Target="/ppt/slides/slide1.xml" Id="R06e67667c0f644c2" /><Relationship Type="http://schemas.openxmlformats.org/officeDocument/2006/relationships/slide" Target="/ppt/slides/slide2.xml" Id="Rdab853aa8b104bd5" /><Relationship Type="http://schemas.openxmlformats.org/officeDocument/2006/relationships/slide" Target="/ppt/slides/slide3.xml" Id="R09204338f8d744ce" /><Relationship Type="http://schemas.openxmlformats.org/officeDocument/2006/relationships/slide" Target="/ppt/slides/slide4.xml" Id="R69342d4375084908" /><Relationship Type="http://schemas.openxmlformats.org/officeDocument/2006/relationships/slide" Target="/ppt/slides/slide5.xml" Id="R0df7de57ec0643a5" /><Relationship Type="http://schemas.openxmlformats.org/officeDocument/2006/relationships/slide" Target="/ppt/slides/slide6.xml" Id="R1f266f4d19b74313" /><Relationship Type="http://schemas.openxmlformats.org/officeDocument/2006/relationships/slide" Target="/ppt/slides/slide7.xml" Id="R6d578092a8c04045" /><Relationship Type="http://schemas.openxmlformats.org/officeDocument/2006/relationships/slide" Target="/ppt/slides/slide8.xml" Id="Rda178bb2199b4712" /><Relationship Type="http://schemas.openxmlformats.org/officeDocument/2006/relationships/slide" Target="/ppt/slides/slide9.xml" Id="Rd4d98cc37f7147fb" /><Relationship Type="http://schemas.openxmlformats.org/officeDocument/2006/relationships/slide" Target="/ppt/slides/slide10.xml" Id="Ref3aba8bcc334f9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8adcf5fd805648b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ool Blue Gray Research">
      <a:dk1>
        <a:srgbClr val="12212B"/>
      </a:dk1>
      <a:lt1>
        <a:srgbClr val="FFFFFF"/>
      </a:lt1>
      <a:dk2>
        <a:srgbClr val="1F3342"/>
      </a:dk2>
      <a:lt2>
        <a:srgbClr val="DCEAF3"/>
      </a:lt2>
      <a:accent1>
        <a:srgbClr val="174A7C"/>
      </a:accent1>
      <a:accent2>
        <a:srgbClr val="3F7EA6"/>
      </a:accent2>
      <a:accent3>
        <a:srgbClr val="D9A25F"/>
      </a:accent3>
      <a:accent4>
        <a:srgbClr val="B94B4B"/>
      </a:accent4>
      <a:accent5>
        <a:srgbClr val="2F7D5B"/>
      </a:accent5>
      <a:accent6>
        <a:srgbClr val="6A7F95"/>
      </a:accent6>
      <a:hlink>
        <a:srgbClr val="174A7C"/>
      </a:hlink>
      <a:folHlink>
        <a:srgbClr val="3F7EA6"/>
      </a:folHlink>
    </a:clrScheme>
    <a:fontScheme name="Microsoft YaHei">
      <a:majorFont>
        <a:latin typeface="Microsoft YaHei"/>
        <a:ea typeface="Microsoft YaHei"/>
        <a:cs typeface="Microsoft YaHei"/>
      </a:majorFont>
      <a:minorFont>
        <a:latin typeface="Microsoft YaHei"/>
        <a:ea typeface="Microsoft YaHei"/>
        <a:cs typeface="Microsoft YaHei"/>
      </a:minorFont>
    </a:fontScheme>
    <a:fmtScheme name="Cool Blue Gray Research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b5306524b974b43" /><Relationship Type="http://schemas.openxmlformats.org/officeDocument/2006/relationships/notesMaster" Target="/ppt/notesMasters/notesMaster1.xml" Id="R596d879d64294b3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cf8b0f1aac44c78" /><Relationship Type="http://schemas.openxmlformats.org/officeDocument/2006/relationships/notesMaster" Target="/ppt/notesMasters/notesMaster1.xml" Id="Rc4a5b5d7d540461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7b68bf9710945e3" /><Relationship Type="http://schemas.openxmlformats.org/officeDocument/2006/relationships/notesMaster" Target="/ppt/notesMasters/notesMaster1.xml" Id="Rab233da6267b45b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0272c22a3fe48f0" /><Relationship Type="http://schemas.openxmlformats.org/officeDocument/2006/relationships/notesMaster" Target="/ppt/notesMasters/notesMaster1.xml" Id="R198a138bb10e4fc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be8e10d8fc741cd" /><Relationship Type="http://schemas.openxmlformats.org/officeDocument/2006/relationships/notesMaster" Target="/ppt/notesMasters/notesMaster1.xml" Id="Rde8b36ad449e40f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4fa1205a0084bf4" /><Relationship Type="http://schemas.openxmlformats.org/officeDocument/2006/relationships/notesMaster" Target="/ppt/notesMasters/notesMaster1.xml" Id="Rde6dc20995fb43b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032b1ce6e1c4e81" /><Relationship Type="http://schemas.openxmlformats.org/officeDocument/2006/relationships/notesMaster" Target="/ppt/notesMasters/notesMaster1.xml" Id="R37ae667c813a45e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4fbaf00ff344f4c" /><Relationship Type="http://schemas.openxmlformats.org/officeDocument/2006/relationships/notesMaster" Target="/ppt/notesMasters/notesMaster1.xml" Id="Rc1897997165646c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2d5878a4c734850" /><Relationship Type="http://schemas.openxmlformats.org/officeDocument/2006/relationships/notesMaster" Target="/ppt/notesMasters/notesMaster1.xml" Id="R0e205822ee2141d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2c2c56f46b14e49" /><Relationship Type="http://schemas.openxmlformats.org/officeDocument/2006/relationships/notesMaster" Target="/ppt/notesMasters/notesMaster1.xml" Id="R9a9dde2585b3410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开场介绍课题名称、答辩身份和指导教师，背景为生成图，不作为实验照片。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本页用因果链说明选题来源，不夸大应用规模，重点落在多串成组后的管理需求。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强调验证型目标，不把CAN、蓝牙、串口屏写成当前已实现功能。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把工程价值、学习价值和应用参考分层说明，避免笼统表述。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现状页用表格归纳，不逐篇展开文献，具体依据见开题报告参考文献。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重点区分数据流与安全控制链路，避免把扩展功能说成已实现。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选型说明合适性，不宣称所有硬件均已完整验证成功。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重点讲解任务优先级、共享资源保护和ALERT处理边界。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测试顺序从通信到整机，明确当前硬件仍在联调阶段。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收束页强调从需求到总结的闭环，并对应学校进度安排。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slideLayout1.xml><?xml version="1.0" encoding="utf-8"?>
<p:sldLayout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f250bb84c8435a" /><Relationship Type="http://schemas.openxmlformats.org/officeDocument/2006/relationships/theme" Target="/ppt/theme/theme1.xml" Id="Ra13cbbf73ad14dc9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1f250bb84c8435a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25f849ac4643fe" /><Relationship Type="http://schemas.openxmlformats.org/officeDocument/2006/relationships/image" Target="/ppt/media/image.png" Id="R2f9c33197dbe4f07" /><Relationship Type="http://schemas.openxmlformats.org/officeDocument/2006/relationships/notesSlide" Target="/ppt/notesSlides/notesSlide1.xml" Id="R8a937753c4b1496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62c78e00544f6d" /><Relationship Type="http://schemas.openxmlformats.org/officeDocument/2006/relationships/image" Target="/ppt/media/image2.png" Id="R4f354a2b285d4031" /><Relationship Type="http://schemas.openxmlformats.org/officeDocument/2006/relationships/notesSlide" Target="/ppt/notesSlides/notesSlide2.xml" Id="R6f12c5774df341a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16369118a845b4" /><Relationship Type="http://schemas.openxmlformats.org/officeDocument/2006/relationships/notesSlide" Target="/ppt/notesSlides/notesSlide3.xml" Id="R4acd457321964ac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5287136be0420d" /><Relationship Type="http://schemas.openxmlformats.org/officeDocument/2006/relationships/notesSlide" Target="/ppt/notesSlides/notesSlide4.xml" Id="R01015d6dc65e403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682103d1214043" /><Relationship Type="http://schemas.openxmlformats.org/officeDocument/2006/relationships/notesSlide" Target="/ppt/notesSlides/notesSlide5.xml" Id="R70272949a33a497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36bba2d6ce4f1b" /><Relationship Type="http://schemas.openxmlformats.org/officeDocument/2006/relationships/notesSlide" Target="/ppt/notesSlides/notesSlide6.xml" Id="R3d5c3c9476044c1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c8251eee88487c" /><Relationship Type="http://schemas.openxmlformats.org/officeDocument/2006/relationships/image" Target="/ppt/media/image3.png" Id="R385aa82c56e644b2" /><Relationship Type="http://schemas.openxmlformats.org/officeDocument/2006/relationships/notesSlide" Target="/ppt/notesSlides/notesSlide7.xml" Id="R91a7b80ca0144d2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069cccf8a0419d" /><Relationship Type="http://schemas.openxmlformats.org/officeDocument/2006/relationships/notesSlide" Target="/ppt/notesSlides/notesSlide8.xml" Id="R3029763082cb455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c0239707b24c5f" /><Relationship Type="http://schemas.openxmlformats.org/officeDocument/2006/relationships/notesSlide" Target="/ppt/notesSlides/notesSlide9.xml" Id="R68a08b7f8175497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599d18f5c2417c" /><Relationship Type="http://schemas.openxmlformats.org/officeDocument/2006/relationships/notesSlide" Target="/ppt/notesSlides/notesSlide10.xml" Id="R7ff30b938426458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9c33197dbe4f07"/>
          <a:srcRect xmlns:a="http://schemas.openxmlformats.org/drawingml/2006/main" l="0" t="33333" r="0" b="33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2286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B9CBD2-A41A-4192-94AF-2214F8F1B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A7C"/>
          </a:solidFill>
          <a:ln xmlns:a="http://schemas.openxmlformats.org/drawingml/2006/main" w="0">
            <a:solidFill>
              <a:srgbClr val="174A7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A559A0-D57C-4466-824D-02900F9A7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8191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255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基于STM32的多串锂电池管理系统设计与实现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2CB581-0529-4A6C-B6E2-1AC9DD2E6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500">
                <a:solidFill>
                  <a:srgbClr val="3F7E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3F7EA6"/>
                </a:solidFill>
                <a:latin typeface="Microsoft YaHei"/>
                <a:ea typeface="Microsoft YaHei"/>
                <a:cs typeface="Microsoft YaHei"/>
              </a:rPr>
              <a:t>本科毕业设计（论文）开题答辩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35E1A7-7A1A-497D-A628-7FDDBB4AA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91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汇报人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0B14A7-D369-4169-A763-D9EDFBEF7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991100"/>
            <a:ext cx="209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6D1"/>
          </a:solidFill>
          <a:ln xmlns:a="http://schemas.openxmlformats.org/drawingml/2006/main" w="0">
            <a:solidFill>
              <a:srgbClr val="B8C6D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59AED8-F346-4520-97D9-3261DEB9B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762500"/>
            <a:ext cx="91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学号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DF89D2-E722-4B3A-AA3D-8FA72A2E1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991100"/>
            <a:ext cx="209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6D1"/>
          </a:solidFill>
          <a:ln xmlns:a="http://schemas.openxmlformats.org/drawingml/2006/main" w="0">
            <a:solidFill>
              <a:srgbClr val="B8C6D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B59DB5-B2DB-401F-8932-FF8A33D74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91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专业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20FC4D-DC6E-455B-ABA7-DDAD18A2A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562600"/>
            <a:ext cx="209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6D1"/>
          </a:solidFill>
          <a:ln xmlns:a="http://schemas.openxmlformats.org/drawingml/2006/main" w="0">
            <a:solidFill>
              <a:srgbClr val="B8C6D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535E01-8E56-42A3-AE68-46D18B627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334000"/>
            <a:ext cx="91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指导教师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E8284C-4AAE-4D26-BBD8-1B5FC6DBB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562600"/>
            <a:ext cx="209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6D1"/>
          </a:solidFill>
          <a:ln xmlns:a="http://schemas.openxmlformats.org/drawingml/2006/main" w="0">
            <a:solidFill>
              <a:srgbClr val="B8C6D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71476A-1232-4787-A3B5-BB861B4DA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背景图：Image2生成，仅作学术答辩视觉背景</a:t>
            </a:r>
          </a:p>
        </p:txBody>
      </p:sp>
    </p:spTree>
    <p:extLst>
      <p:ext uri="{BB962C8B-B14F-4D97-AF65-F5344CB8AC3E}">
        <p14:creationId xmlns:p14="http://schemas.microsoft.com/office/powerpoint/2010/main" val="5041544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F7E3F4-4524-47D5-AD4D-878FF76D0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76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225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研究背景与问题界定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EF638B-A793-4EF6-84C4-99EDC80EF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EA6"/>
          </a:solidFill>
          <a:ln xmlns:a="http://schemas.openxmlformats.org/drawingml/2006/main" w="0">
            <a:solidFill>
              <a:srgbClr val="3F7E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083371-A127-4AE2-BB13-F3DF58239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2286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锂电池应用持续扩大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储能与小型动力场景增多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7A198F-E0ED-4395-B2D6-58EEFAEA3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571625"/>
            <a:ext cx="2286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多串成组带来单体差异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电压、容量与温度不一致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59257A-8754-4040-958E-6E6572B53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571625"/>
            <a:ext cx="2286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运行风险需要实时约束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过充、过放、过流、过温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27A100-9701-4528-9280-1481BE7C9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571625"/>
            <a:ext cx="2286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管理系统成为必要环节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12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采集、判断、保护与显示</a:t>
            </a:r>
          </a:p>
        </p:txBody>
      </p:sp>
      <p:cxnSp>
        <p:nvCxnSpPr>
          <p:cNvPr id="22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895600" y="214312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F7EA6"/>
            </a:solidFill>
            <a:prstDash val="solid"/>
            <a:headEnd type="triangle" w="med" len="med"/>
          </a:ln>
        </p:spPr>
      </p:cxnSp>
      <p:cxnSp>
        <p:nvCxnSpPr>
          <p:cNvPr id="23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5619750" y="214312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F7EA6"/>
            </a:solidFill>
            <a:prstDash val="solid"/>
            <a:headEnd type="triangle" w="med" len="med"/>
          </a:ln>
        </p:spPr>
      </p:cxnSp>
      <p:cxnSp>
        <p:nvCxnSpPr>
          <p:cNvPr id="24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8343900" y="214312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F7EA6"/>
            </a:solidFill>
            <a:prstDash val="solid"/>
            <a:headEnd type="triangle" w="med" len="med"/>
          </a:ln>
        </p:spPr>
      </p:cxn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354a2b285d4031"/>
          <a:stretch xmlns:a="http://schemas.openxmlformats.org/drawingml/2006/main"/>
        </p:blipFill>
        <p:spPr>
          <a:xfrm xmlns:a="http://schemas.openxmlformats.org/drawingml/2006/main">
            <a:off x="8927625" y="3190875"/>
            <a:ext cx="1480500" cy="2238375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7A5AF0-DB18-4A65-AF63-45C677398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505450"/>
            <a:ext cx="3524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被动均衡驱动参考电路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来源：项目参考资料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4713A3-8C51-445D-B649-F09BBAF93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704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70000"/>
              </a:lnSpc>
              <a:buNone/>
              <a:defRPr sz="12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多串锂电池组的安全边界与单体差异有关，电池管理系统需要在有限嵌入式资源内完成状态感知、风险判断和执行控制。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DEA7D0-B6E2-4FA6-9D4D-023EF1B8E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704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70000"/>
              </a:lnSpc>
              <a:buNone/>
              <a:defRPr sz="12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课题面向这一需求，围绕多串电池组的安全运行与状态可观测性展开设计。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2FC425-3493-4F27-B5C0-DFCBF0B3D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238875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02 / 10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D10F10-BE71-4643-B821-B7C11B556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3887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资料来源：开题报告研究背景</a:t>
            </a:r>
          </a:p>
        </p:txBody>
      </p:sp>
    </p:spTree>
    <p:extLst>
      <p:ext uri="{BB962C8B-B14F-4D97-AF65-F5344CB8AC3E}">
        <p14:creationId xmlns:p14="http://schemas.microsoft.com/office/powerpoint/2010/main" val="18659343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903D30-17C2-4FAA-B089-11D8505AE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76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225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研究目的与预期成果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FE9F1D-B19B-4912-B9D7-118EBDA08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EA6"/>
          </a:solidFill>
          <a:ln xmlns:a="http://schemas.openxmlformats.org/drawingml/2006/main" w="0">
            <a:solidFill>
              <a:srgbClr val="3F7E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5C2104-5B48-43B2-84A4-2D0DA9FB9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381125"/>
            <a:ext cx="4762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设计一套可验证的多串锂电池管理系统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6BC8E2-8C4B-42FC-93DA-6E528D796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48000"/>
            <a:ext cx="2476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状态感知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电压、电流、温度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C2C544-863C-4488-A40C-E1531D54A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48000"/>
            <a:ext cx="2476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安全控制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阈值判断与MOS动作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047DD3-A230-4F50-86E6-02ED595A2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0"/>
            <a:ext cx="2476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状态估算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SOC计算与校正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B1B253-8ABD-480C-855C-C3D5277C4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0"/>
            <a:ext cx="1238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调试交互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9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UART命令与上位机</a:t>
            </a:r>
          </a:p>
        </p:txBody>
      </p:sp>
      <p:cxnSp>
        <p:nvCxnSpPr>
          <p:cNvPr id="22" name=""/>
          <p:cNvCxnSpPr>
            <a:stCxn xmlns:a="http://schemas.openxmlformats.org/drawingml/2006/main" id="3" idx="2"/>
            <a:endCxn xmlns:a="http://schemas.openxmlformats.org/drawingml/2006/main" id="4" idx="0"/>
          </p:cNvCxnSpPr>
          <p:nvPr/>
        </p:nvCxnSpPr>
        <p:spPr>
          <a:xfrm xmlns:a="http://schemas.openxmlformats.org/drawingml/2006/main" flipH="1">
            <a:off x="2190750" y="2333625"/>
            <a:ext cx="3905250" cy="714375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F7EA6"/>
            </a:solidFill>
            <a:prstDash val="solid"/>
            <a:headEnd type="triangle" w="med" len="med"/>
          </a:ln>
        </p:spPr>
      </p:cxnSp>
      <p:cxnSp>
        <p:nvCxnSpPr>
          <p:cNvPr id="23" name=""/>
          <p:cNvCxnSpPr>
            <a:stCxn xmlns:a="http://schemas.openxmlformats.org/drawingml/2006/main" id="3" idx="2"/>
            <a:endCxn xmlns:a="http://schemas.openxmlformats.org/drawingml/2006/main" id="5" idx="0"/>
          </p:cNvCxnSpPr>
          <p:nvPr/>
        </p:nvCxnSpPr>
        <p:spPr>
          <a:xfrm xmlns:a="http://schemas.openxmlformats.org/drawingml/2006/main" flipH="1">
            <a:off x="5334000" y="2333625"/>
            <a:ext cx="762000" cy="714375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F7EA6"/>
            </a:solidFill>
            <a:prstDash val="solid"/>
            <a:headEnd type="triangle" w="med" len="med"/>
          </a:ln>
        </p:spPr>
      </p:cxnSp>
      <p:cxnSp>
        <p:nvCxnSpPr>
          <p:cNvPr id="24" name=""/>
          <p:cNvCxnSpPr>
            <a:stCxn xmlns:a="http://schemas.openxmlformats.org/drawingml/2006/main" id="3" idx="3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8477250" y="1857375"/>
            <a:ext cx="0" cy="1190625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F7EA6"/>
            </a:solidFill>
            <a:prstDash val="solid"/>
            <a:headEnd type="triangle" w="med" len="med"/>
          </a:ln>
        </p:spPr>
      </p:cxnSp>
      <p:cxnSp>
        <p:nvCxnSpPr>
          <p:cNvPr id="25" name=""/>
          <p:cNvCxnSpPr>
            <a:stCxn xmlns:a="http://schemas.openxmlformats.org/drawingml/2006/main" id="3" idx="3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8477250" y="1857375"/>
            <a:ext cx="2524125" cy="1190625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F7EA6"/>
            </a:solidFill>
            <a:prstDash val="solid"/>
            <a:headEnd type="triangle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EADB20-3EB9-4D13-84E2-BA6D0CD4C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62500"/>
            <a:ext cx="9334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70000"/>
              </a:lnSpc>
              <a:buNone/>
              <a:defRPr sz="12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预期形成一套以STM32F103C8T6与BQ76940为核心的软硬件方案，完成采样、保护、SOC估算和基础被动均衡接口，并通过上位机进行调试与验证。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A04403-5454-451A-9DEB-B4A86B0E0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238875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03 / 10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DBD386-E828-4406-97DF-F69D1549A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3887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资料来源：开题报告研究目的与预期目标</a:t>
            </a:r>
          </a:p>
        </p:txBody>
      </p:sp>
    </p:spTree>
    <p:extLst>
      <p:ext uri="{BB962C8B-B14F-4D97-AF65-F5344CB8AC3E}">
        <p14:creationId xmlns:p14="http://schemas.microsoft.com/office/powerpoint/2010/main" val="97832360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E60243-BE18-4B69-80AC-A3A798CE3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76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225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研究意义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BC00BE-DD13-46B4-BA53-FD0F52826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EA6"/>
          </a:solidFill>
          <a:ln xmlns:a="http://schemas.openxmlformats.org/drawingml/2006/main" w="0">
            <a:solidFill>
              <a:srgbClr val="3F7E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0994EA-136C-4818-9BF5-BB3ABB3CD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381125"/>
            <a:ext cx="8572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2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工程意义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2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降低过充、过放与过温风险，延长电池组使用寿命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6493CE-F87F-45CE-BEC8-1E121578B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619375"/>
            <a:ext cx="7810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2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学习意义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2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覆盖嵌入式软硬件、通信、RTOS与电池保护策略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9AF60F-6FF7-4B15-ABE7-07BD3BF86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857625"/>
            <a:ext cx="7048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2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应用参考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2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为同类多串锂电池管理系统提供可复用设计思路</a:t>
            </a:r>
          </a:p>
        </p:txBody>
      </p:sp>
      <p:cxnSp>
        <p:nvCxnSpPr>
          <p:cNvPr id="16" name=""/>
          <p:cNvCxnSpPr>
            <a:stCxn xmlns:a="http://schemas.openxmlformats.org/drawingml/2006/main" id="3" idx="2"/>
            <a:endCxn xmlns:a="http://schemas.openxmlformats.org/drawingml/2006/main" id="4" idx="0"/>
          </p:cNvCxnSpPr>
          <p:nvPr/>
        </p:nvCxnSpPr>
        <p:spPr>
          <a:xfrm xmlns:a="http://schemas.openxmlformats.org/drawingml/2006/main">
            <a:off x="5715000" y="2333625"/>
            <a:ext cx="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F7EA6"/>
            </a:solidFill>
            <a:prstDash val="solid"/>
            <a:headEnd type="triangle" w="med" len="med"/>
          </a:ln>
        </p:spPr>
      </p:cxnSp>
      <p:cxnSp>
        <p:nvCxnSpPr>
          <p:cNvPr id="17" name=""/>
          <p:cNvCxnSpPr>
            <a:stCxn xmlns:a="http://schemas.openxmlformats.org/drawingml/2006/main" id="4" idx="2"/>
            <a:endCxn xmlns:a="http://schemas.openxmlformats.org/drawingml/2006/main" id="5" idx="0"/>
          </p:cNvCxnSpPr>
          <p:nvPr/>
        </p:nvCxnSpPr>
        <p:spPr>
          <a:xfrm xmlns:a="http://schemas.openxmlformats.org/drawingml/2006/main">
            <a:off x="5715000" y="3571875"/>
            <a:ext cx="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F7EA6"/>
            </a:solidFill>
            <a:prstDash val="solid"/>
            <a:headEnd type="triangle" w="med" len="me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90DB4C-25B0-4C2C-B93D-D197B63F2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191125"/>
            <a:ext cx="762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70000"/>
              </a:lnSpc>
              <a:buNone/>
              <a:defRPr sz="135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本课题的价值不在于追求复杂算法，而在于形成结构清晰、可验证、可复用的电池管理实现路径。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561259-C308-43FB-80C0-16B6B3605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238875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04 / 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F1152D-C3A1-4A28-A40F-784655890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3887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资料来源：开题报告研究意义</a:t>
            </a:r>
          </a:p>
        </p:txBody>
      </p:sp>
    </p:spTree>
    <p:extLst>
      <p:ext uri="{BB962C8B-B14F-4D97-AF65-F5344CB8AC3E}">
        <p14:creationId xmlns:p14="http://schemas.microsoft.com/office/powerpoint/2010/main" val="148034281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EB9806-A8B6-444B-A30A-B2BC40304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76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225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国内外研究现状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AAA357-FCC2-44B6-9DEC-EA0D3AC2C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EA6"/>
          </a:solidFill>
          <a:ln xmlns:a="http://schemas.openxmlformats.org/drawingml/2006/main" w="0">
            <a:solidFill>
              <a:srgbClr val="3F7EA6"/>
            </a:solidFill>
            <a:prstDash val="solid"/>
          </a:ln>
        </p:spPr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381125"/>
          <a:ext xmlns:a="http://schemas.openxmlformats.org/drawingml/2006/main" cx="10287000" cy="3238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429000"/>
                <a:gridCol w="3429000"/>
                <a:gridCol w="3429000"/>
              </a:tblGrid>
              <a:tr h="4953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研究方向</a:t>
                      </a:r>
                    </a:p>
                  </a:txBody>
                  <a:tcPr marL="91440" marR="91440" marT="45720" marB="45720" anchor="ctr">
                    <a:solidFill>
                      <a:srgbClr val="174A7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国内研究进展</a:t>
                      </a:r>
                    </a:p>
                  </a:txBody>
                  <a:tcPr marL="91440" marR="91440" marT="45720" marB="45720" anchor="ctr">
                    <a:solidFill>
                      <a:srgbClr val="174A7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国外研究进展</a:t>
                      </a:r>
                    </a:p>
                  </a:txBody>
                  <a:tcPr marL="91440" marR="91440" marT="45720" marB="45720" anchor="ctr">
                    <a:solidFill>
                      <a:srgbClr val="174A7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125" b="0">
                          <a:solidFill>
                            <a:srgbClr val="2230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安全保护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sz="1125" b="0">
                          <a:solidFill>
                            <a:srgbClr val="2230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面向具体应用场景完善温度、过流与充放电保护策略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sz="1125" b="0">
                          <a:solidFill>
                            <a:srgbClr val="2230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保护策略与系统架构、通信集成结合更紧密</a:t>
                      </a:r>
                    </a:p>
                  </a:txBody>
                  <a:tcPr marL="91440" marR="91440" marT="45720" marB="45720" anchor="ctr"/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125" b="0">
                          <a:solidFill>
                            <a:srgbClr val="2230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SOC估算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sz="1125" b="0">
                          <a:solidFill>
                            <a:srgbClr val="2230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安时积分、开路电压与滤波算法逐步融合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sz="1125" b="0">
                          <a:solidFill>
                            <a:srgbClr val="2230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滤波方法与数据驱动模型融合成为重点</a:t>
                      </a:r>
                    </a:p>
                  </a:txBody>
                  <a:tcPr marL="91440" marR="91440" marT="45720" marB="45720" anchor="ctr"/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125" b="0">
                          <a:solidFill>
                            <a:srgbClr val="2230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均衡控制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sz="1125" b="0">
                          <a:solidFill>
                            <a:srgbClr val="2230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被动均衡与主动均衡方案均有应用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sz="1125" b="0">
                          <a:solidFill>
                            <a:srgbClr val="2230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主动均衡拓扑与控制策略优化持续发展</a:t>
                      </a:r>
                    </a:p>
                  </a:txBody>
                  <a:tcPr marL="91440" marR="91440" marT="45720" marB="45720" anchor="ctr"/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125" b="0">
                          <a:solidFill>
                            <a:srgbClr val="2230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系统集成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sz="1125" b="0">
                          <a:solidFill>
                            <a:srgbClr val="2230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多面向设备级监控与上位机调试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sz="1125" b="0">
                          <a:solidFill>
                            <a:srgbClr val="2230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物联网集成与嵌入式平台实现较为活跃</a:t>
                      </a:r>
                    </a:p>
                  </a:txBody>
                  <a:tcPr marL="91440" marR="91440" marT="45720" marB="45720" anchor="ctr"/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032C63-C5A8-4861-A232-4664D5C5E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70000"/>
              </a:lnSpc>
              <a:buNone/>
              <a:defRPr sz="12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已有研究为本课题提供方案与算法参考，面向STM32平台时仍需处理采样时序、共享资源调度与保护响应的工程约束。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B99966-2FBB-46F3-BCE1-AB1867EF2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238875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05 /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B10795-2CD5-4CBF-97CC-A29A0D7C9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3887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资料来源：开题报告国内外研究现状</a:t>
            </a:r>
          </a:p>
        </p:txBody>
      </p:sp>
    </p:spTree>
    <p:extLst>
      <p:ext uri="{BB962C8B-B14F-4D97-AF65-F5344CB8AC3E}">
        <p14:creationId xmlns:p14="http://schemas.microsoft.com/office/powerpoint/2010/main" val="136006410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A1A6D4-CCBF-4EF1-8281-1CB909B48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76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225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系统总体方案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5F28D2-CC7F-4839-A327-A5B9E775C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EA6"/>
          </a:solidFill>
          <a:ln xmlns:a="http://schemas.openxmlformats.org/drawingml/2006/main" w="0">
            <a:solidFill>
              <a:srgbClr val="3F7E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AC0FEF-47A9-474E-A2F7-33D315ED6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619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9串18650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锂电池组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1F0B75-B880-4A82-9CE2-E3A6070D9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381125"/>
            <a:ext cx="1905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BQ76940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12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采集与硬件告警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B5D9F9-D127-4A4A-B820-F3B9E4F8B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381125"/>
            <a:ext cx="2095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STM32F103C8T6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数据处理与策略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661E5D-59BB-4265-976A-2F3CA5C23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381125"/>
            <a:ext cx="1714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命令与状态交互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001F85-DBC5-4A4D-86B3-B1BADABFB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381125"/>
            <a:ext cx="1809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Python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tkinter上位机</a:t>
            </a:r>
          </a:p>
        </p:txBody>
      </p:sp>
      <p:cxnSp>
        <p:nvCxnSpPr>
          <p:cNvPr id="27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228850" y="185737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F7EA6"/>
            </a:solidFill>
            <a:prstDash val="solid"/>
            <a:headEnd type="triangle" w="med" len="med"/>
          </a:ln>
        </p:spPr>
      </p:cxnSp>
      <p:cxnSp>
        <p:nvCxnSpPr>
          <p:cNvPr id="28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4476750" y="1857375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F7EA6"/>
            </a:solidFill>
            <a:prstDash val="solid"/>
            <a:headEnd type="triangle" w="med" len="med"/>
          </a:ln>
        </p:spPr>
      </p:cxnSp>
      <p:cxnSp>
        <p:nvCxnSpPr>
          <p:cNvPr id="29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6905625" y="1857375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F7EA6"/>
            </a:solidFill>
            <a:prstDash val="solid"/>
            <a:headEnd type="triangle" w="med" len="med"/>
          </a:ln>
        </p:spPr>
      </p:cxnSp>
      <p:cxnSp>
        <p:nvCxnSpPr>
          <p:cNvPr id="3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953500" y="1857375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F7EA6"/>
            </a:solidFill>
            <a:prstDash val="solid"/>
            <a:headEnd type="triangle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6F405F-C416-4CC0-BE4C-67D378058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143250"/>
            <a:ext cx="4000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200" b="1">
                <a:solidFill>
                  <a:srgbClr val="B94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94B4B"/>
                </a:solidFill>
                <a:latin typeface="Microsoft YaHei"/>
                <a:ea typeface="Microsoft YaHei"/>
                <a:cs typeface="Microsoft YaHei"/>
              </a:rPr>
              <a:t>安全控制链路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200" b="1">
                <a:solidFill>
                  <a:srgbClr val="B94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94B4B"/>
                </a:solidFill>
                <a:latin typeface="Microsoft YaHei"/>
                <a:ea typeface="Microsoft YaHei"/>
                <a:cs typeface="Microsoft YaHei"/>
              </a:rPr>
              <a:t>软件阈值与硬件告警共同判断</a:t>
            </a:r>
          </a:p>
        </p:txBody>
      </p:sp>
      <p:cxnSp>
        <p:nvCxnSpPr>
          <p:cNvPr id="32" name=""/>
          <p:cNvCxnSpPr>
            <a:stCxn xmlns:a="http://schemas.openxmlformats.org/drawingml/2006/main" id="4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3524250" y="2333625"/>
            <a:ext cx="2095500" cy="809625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F7EA6"/>
            </a:solidFill>
            <a:prstDash val="solid"/>
            <a:headEnd type="triangle" w="med" len="med"/>
          </a:ln>
        </p:spPr>
      </p:cxnSp>
      <p:cxnSp>
        <p:nvCxnSpPr>
          <p:cNvPr id="33" name=""/>
          <p:cNvCxnSpPr>
            <a:stCxn xmlns:a="http://schemas.openxmlformats.org/drawingml/2006/main" id="5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 flipH="1">
            <a:off x="5619750" y="2333625"/>
            <a:ext cx="238125" cy="809625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F7EA6"/>
            </a:solidFill>
            <a:prstDash val="solid"/>
            <a:headEnd type="triangle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6C42AA-849E-4709-BD92-9BC97935D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43250"/>
            <a:ext cx="2095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200" b="1">
                <a:solidFill>
                  <a:srgbClr val="2F7D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7D5B"/>
                </a:solidFill>
                <a:latin typeface="Microsoft YaHei"/>
                <a:ea typeface="Microsoft YaHei"/>
                <a:cs typeface="Microsoft YaHei"/>
              </a:rPr>
              <a:t>充放电MOS控制</a:t>
            </a:r>
          </a:p>
        </p:txBody>
      </p:sp>
      <p:cxnSp>
        <p:nvCxnSpPr>
          <p:cNvPr id="35" name="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7620000" y="361950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F7EA6"/>
            </a:solidFill>
            <a:prstDash val="solid"/>
            <a:headEnd type="triangle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512432-2EE1-41DF-8B93-F08B7646E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70000"/>
              </a:lnSpc>
              <a:buNone/>
              <a:defRPr sz="12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数据流从电池组经BQ76940、STM32到达上位机，控制流由告警与阈值判断驱动MOS动作。CAN、蓝牙与串口屏仅作为扩展预留。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70815D-281C-4B63-BE2B-844AF50F6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238875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06 / 10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B2F975-1974-433E-8F0F-D38C5F9C1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3887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资料来源：开题报告系统总体设计</a:t>
            </a:r>
          </a:p>
        </p:txBody>
      </p:sp>
    </p:spTree>
    <p:extLst>
      <p:ext uri="{BB962C8B-B14F-4D97-AF65-F5344CB8AC3E}">
        <p14:creationId xmlns:p14="http://schemas.microsoft.com/office/powerpoint/2010/main" val="157011293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CBD63E-4B47-4F84-AB47-FC802C8A8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76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225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硬件选型与模块设计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9E7B3A-0C0B-4918-9130-32BBF4875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EA6"/>
          </a:solidFill>
          <a:ln xmlns:a="http://schemas.openxmlformats.org/drawingml/2006/main" w="0">
            <a:solidFill>
              <a:srgbClr val="3F7E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EDFA69-EE11-49AB-9376-EE0198227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47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主控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368F3A-93BB-4C3A-8E8A-F4A341B48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333500"/>
            <a:ext cx="2000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20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STM32F103C8T6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8AC0AE-7A17-437E-9631-84A17D7C3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409700"/>
            <a:ext cx="457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外设资源、实时性、资料成熟度与成本均衡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FF1665-AF91-4471-B600-B2FA3D372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1047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模拟前端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FC377E-4492-4B27-A18A-BD56FF545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190750"/>
            <a:ext cx="2000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20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BQ76940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C5C8C0-FDC0-491B-A354-272E65B04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266950"/>
            <a:ext cx="457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支持多串采集、硬件告警、MOS控制与被动均衡资源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95E99C-54C9-4149-896D-45E0C499D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47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均衡方式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6065B3-5B20-4F88-AC26-91D99C6EF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048000"/>
            <a:ext cx="2000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20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被动均衡接口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71D7A5-C7FA-498E-B327-DA666E9F5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124200"/>
            <a:ext cx="457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结构简单、成本可控，主动均衡效率高但复杂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562440-5FC5-4089-95DA-8B5D8C0B6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1047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通信方式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F8CD14-28AC-4247-89C0-B41B4C9F1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905250"/>
            <a:ext cx="2000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20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445BC4-C15A-4E12-866D-F54A4D099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981450"/>
            <a:ext cx="457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当前连接Python上位机，CAN等作为扩展方向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5aa82c56e644b2"/>
          <a:stretch xmlns:a="http://schemas.openxmlformats.org/drawingml/2006/main"/>
        </p:blipFill>
        <p:spPr>
          <a:xfrm xmlns:a="http://schemas.openxmlformats.org/drawingml/2006/main">
            <a:off x="8977700" y="1285875"/>
            <a:ext cx="2332850" cy="352425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640830-579D-45C9-9D73-ECFCCB965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857750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BQ769X0外围连接参考图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来源：BQ769X0参考设计资料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5DCB65-FE6C-4E27-9601-07C7D96A7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60000"/>
              </a:lnSpc>
              <a:buNone/>
              <a:defRPr sz="1125">
                <a:solidFill>
                  <a:srgbClr val="B94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B94B4B"/>
                </a:solidFill>
                <a:latin typeface="Microsoft YaHei"/>
                <a:ea typeface="Microsoft YaHei"/>
                <a:cs typeface="Microsoft YaHei"/>
              </a:rPr>
              <a:t>硬件仍处于联调阶段，软件I2C读取、上拉电阻、唤醒流程与寄存器读取需继续验证。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F31863-50A7-4416-A1E1-C3BD403F5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238875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07 / 10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0BA747-A016-483B-8B40-7F85FB20A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3887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资料来源：开题报告硬件选型与模块设计</a:t>
            </a:r>
          </a:p>
        </p:txBody>
      </p:sp>
    </p:spTree>
    <p:extLst>
      <p:ext uri="{BB962C8B-B14F-4D97-AF65-F5344CB8AC3E}">
        <p14:creationId xmlns:p14="http://schemas.microsoft.com/office/powerpoint/2010/main" val="6538576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2BEBA6-5C2F-4C85-BEDD-4C9F9E8D0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76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225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软件设计与任务流程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6F55E9-3853-4943-8DEC-F32BD9F31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EA6"/>
          </a:solidFill>
          <a:ln xmlns:a="http://schemas.openxmlformats.org/drawingml/2006/main" w="0">
            <a:solidFill>
              <a:srgbClr val="3F7E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BAF21E-46AA-4CE7-BE96-400A884A0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81125"/>
            <a:ext cx="2667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BMS_Task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高优先级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500ms周期，可由ALERT唤醒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2869E6-4B71-4633-A458-29F653C26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381125"/>
            <a:ext cx="2476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UART_Task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低优先级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50ms轮询串口命令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6AEBD7-FBA9-4A68-A58B-C5A6035A7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381125"/>
            <a:ext cx="1809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B94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B94B4B"/>
                </a:solidFill>
                <a:latin typeface="Microsoft YaHei"/>
                <a:ea typeface="Microsoft YaHei"/>
                <a:cs typeface="Microsoft YaHei"/>
              </a:rPr>
              <a:t>ALERT中断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B94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B94B4B"/>
                </a:solidFill>
                <a:latin typeface="Microsoft YaHei"/>
                <a:ea typeface="Microsoft YaHei"/>
                <a:cs typeface="Microsoft YaHei"/>
              </a:rPr>
              <a:t>只发送任务通知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A68F46-C7B4-4ADD-99D5-095EFD463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81125"/>
            <a:ext cx="1809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I2C互斥锁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保护BQ76940访问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ED1728-A35A-4418-984B-3ED743E40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1714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采样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电压、电流、温度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3F8CA9-1CF7-4A68-AA71-632D2C2B0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43250"/>
            <a:ext cx="1714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判断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阈值与告警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DF9966-2DC0-4B44-A74F-53663EF19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143250"/>
            <a:ext cx="2095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执行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SOC更新与MOS控制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DE9E48-20EE-4517-A5FF-251D196F0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43250"/>
            <a:ext cx="1714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上报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UART状态输出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5340AD-5000-432A-A457-AF1C05875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0"/>
            <a:ext cx="1714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显示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上位机刷新</a:t>
            </a:r>
          </a:p>
        </p:txBody>
      </p:sp>
      <p:cxnSp>
        <p:nvCxnSpPr>
          <p:cNvPr id="3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476500" y="35718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F7EA6"/>
            </a:solidFill>
            <a:prstDash val="solid"/>
            <a:headEnd type="triangle" w="med" len="med"/>
          </a:ln>
        </p:spPr>
      </p:cxnSp>
      <p:cxnSp>
        <p:nvCxnSpPr>
          <p:cNvPr id="32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572000" y="35718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F7EA6"/>
            </a:solidFill>
            <a:prstDash val="solid"/>
            <a:headEnd type="triangle" w="med" len="med"/>
          </a:ln>
        </p:spPr>
      </p:cxnSp>
      <p:cxnSp>
        <p:nvCxnSpPr>
          <p:cNvPr id="33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048500" y="35718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F7EA6"/>
            </a:solidFill>
            <a:prstDash val="solid"/>
            <a:headEnd type="triangle" w="med" len="med"/>
          </a:ln>
        </p:spPr>
      </p:cxnSp>
      <p:cxnSp>
        <p:nvCxnSpPr>
          <p:cNvPr id="34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9144000" y="35718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F7EA6"/>
            </a:solidFill>
            <a:prstDash val="solid"/>
            <a:headEnd type="triangle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DEF5B8-83E4-446F-B365-4022BD637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952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70000"/>
              </a:lnSpc>
              <a:buNone/>
              <a:defRPr sz="120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中断服务程序不执行I2C操作，寄存器读取、故障解析与状态更新在任务上下文完成。串口命令访问BQ76940时，同样由互斥锁保护。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96E068-BA1F-4EFF-B6EB-9B6C26258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70000"/>
              </a:lnSpc>
              <a:buNone/>
              <a:defRPr sz="120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SOC采用安时积分，静置约30s后结合开路电压校正，并以满电、空电边界校准。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767AF2-67D6-4993-B68F-1CBDC737F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238875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08 / 10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F7CFE2-BEBD-4B9A-A5BB-3803FE76B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3887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资料来源：开题报告软件设计与流程设计</a:t>
            </a:r>
          </a:p>
        </p:txBody>
      </p:sp>
    </p:spTree>
    <p:extLst>
      <p:ext uri="{BB962C8B-B14F-4D97-AF65-F5344CB8AC3E}">
        <p14:creationId xmlns:p14="http://schemas.microsoft.com/office/powerpoint/2010/main" val="147625301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930D4F-6A9A-4EF1-B8D3-EB55E0875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76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225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测试与验证方案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3990B0-A3EC-4463-876B-6D1B93B19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EA6"/>
          </a:solidFill>
          <a:ln xmlns:a="http://schemas.openxmlformats.org/drawingml/2006/main" w="0">
            <a:solidFill>
              <a:srgbClr val="3F7E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E2F227-9D11-4E2B-8BB7-859876091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21907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通信与采集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BQ76940初始化、寄存器读取与ALERT响应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A340E1-CC91-4E1E-A6C9-3F8D441A3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428750"/>
            <a:ext cx="21907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保护与执行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保护阈值触发与MOS动作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565DEC-FEF9-4FB4-9967-984094C07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428750"/>
            <a:ext cx="21907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SOC与校正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安时积分、OCV校正与边界校准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8DAD31-E467-4240-B13B-DAE84836A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428750"/>
            <a:ext cx="21907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交互与运行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串口命令、上位机显示与长时间运行</a:t>
            </a:r>
          </a:p>
        </p:txBody>
      </p:sp>
      <p:cxnSp>
        <p:nvCxnSpPr>
          <p:cNvPr id="22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857500" y="20478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F7EA6"/>
            </a:solidFill>
            <a:prstDash val="solid"/>
            <a:headEnd type="triangle" w="med" len="med"/>
          </a:ln>
        </p:spPr>
      </p:cxnSp>
      <p:cxnSp>
        <p:nvCxnSpPr>
          <p:cNvPr id="23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5524500" y="20478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F7EA6"/>
            </a:solidFill>
            <a:prstDash val="solid"/>
            <a:headEnd type="triangle" w="med" len="med"/>
          </a:ln>
        </p:spPr>
      </p:cxnSp>
      <p:cxnSp>
        <p:nvCxnSpPr>
          <p:cNvPr id="24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8191500" y="20478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F7EA6"/>
            </a:solidFill>
            <a:prstDash val="solid"/>
            <a:headEnd type="triangle" w="med" len="me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BBF78B-A62D-462D-8C15-E2149A8F8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429000"/>
            <a:ext cx="4953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20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问题反馈：修正驱动、参数与软件逻辑</a:t>
            </a:r>
          </a:p>
        </p:txBody>
      </p:sp>
      <p:cxnSp>
        <p:nvCxnSpPr>
          <p:cNvPr id="26" name=""/>
          <p:cNvCxnSpPr>
            <a:stCxn xmlns:a="http://schemas.openxmlformats.org/drawingml/2006/main" id="6" idx="2"/>
            <a:endCxn xmlns:a="http://schemas.openxmlformats.org/drawingml/2006/main" id="10" idx="3"/>
          </p:cNvCxnSpPr>
          <p:nvPr/>
        </p:nvCxnSpPr>
        <p:spPr>
          <a:xfrm xmlns:a="http://schemas.openxmlformats.org/drawingml/2006/main" flipH="1">
            <a:off x="8001000" y="2667000"/>
            <a:ext cx="1762125" cy="1190625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F7EA6"/>
            </a:solidFill>
            <a:prstDash val="solid"/>
            <a:headEnd type="triangle" w="med" len="med"/>
          </a:ln>
        </p:spPr>
      </p:cxnSp>
      <p:cxnSp>
        <p:nvCxnSpPr>
          <p:cNvPr id="27" name=""/>
          <p:cNvCxnSpPr>
            <a:stCxn xmlns:a="http://schemas.openxmlformats.org/drawingml/2006/main" id="10" idx="1"/>
            <a:endCxn xmlns:a="http://schemas.openxmlformats.org/drawingml/2006/main" id="3" idx="2"/>
          </p:cNvCxnSpPr>
          <p:nvPr/>
        </p:nvCxnSpPr>
        <p:spPr>
          <a:xfrm xmlns:a="http://schemas.openxmlformats.org/drawingml/2006/main" flipH="1" flipV="1">
            <a:off x="1762125" y="2667000"/>
            <a:ext cx="1285875" cy="1190625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F7EA6"/>
            </a:solidFill>
            <a:prstDash val="solid"/>
            <a:headEnd type="triangle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123FB7-6723-4AC9-9A20-7D962C1F5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70000"/>
              </a:lnSpc>
              <a:buNone/>
              <a:defRPr sz="12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测试表述以拟验证为主，未设定具体误差指标的项目不虚构数值。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DF0F62-F5B8-4B47-8BD3-70FAAF960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238875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09 / 10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6F8891-14D7-4BF1-A1E8-482B66CA3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3887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资料来源：开题报告测试与验证方案</a:t>
            </a:r>
          </a:p>
        </p:txBody>
      </p:sp>
    </p:spTree>
    <p:extLst>
      <p:ext uri="{BB962C8B-B14F-4D97-AF65-F5344CB8AC3E}">
        <p14:creationId xmlns:p14="http://schemas.microsoft.com/office/powerpoint/2010/main" val="120892683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28194F3-3405-4F33-8897-023E3DE06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76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225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研究方法与技术路线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7870F7-BD48-4738-8A31-7912F079E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EA6"/>
          </a:solidFill>
          <a:ln xmlns:a="http://schemas.openxmlformats.org/drawingml/2006/main" w="0">
            <a:solidFill>
              <a:srgbClr val="3F7E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4E39FE-99A1-4DDA-8038-E2B57678E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81125"/>
            <a:ext cx="2095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需求分析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功能范围与边界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7A32E7-A0AC-45A5-A62A-D46D57AE8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381125"/>
            <a:ext cx="2095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系统设计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硬件结构与任务划分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444F22-B40A-44D7-A694-CD825200F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381125"/>
            <a:ext cx="2095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功能实现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驱动、算法与通信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0401AF-3864-482B-A703-20EFC0B2B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381125"/>
            <a:ext cx="2095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联调测试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保护、SOC与上位机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1E9D78-4499-45F4-9BD1-7B3BB4E02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1381125"/>
            <a:ext cx="1428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总结完善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9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数据整理与论文撰写</a:t>
            </a:r>
          </a:p>
        </p:txBody>
      </p:sp>
      <p:cxnSp>
        <p:nvCxnSpPr>
          <p:cNvPr id="39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857500" y="18573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F7EA6"/>
            </a:solidFill>
            <a:prstDash val="solid"/>
            <a:headEnd type="triangle" w="med" len="med"/>
          </a:ln>
        </p:spPr>
      </p:cxnSp>
      <p:cxnSp>
        <p:nvCxnSpPr>
          <p:cNvPr id="40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5334000" y="18573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F7EA6"/>
            </a:solidFill>
            <a:prstDash val="solid"/>
            <a:headEnd type="triangle" w="med" len="med"/>
          </a:ln>
        </p:spPr>
      </p:cxnSp>
      <p:cxnSp>
        <p:nvCxnSpPr>
          <p:cNvPr id="41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810500" y="18573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F7EA6"/>
            </a:solidFill>
            <a:prstDash val="solid"/>
            <a:headEnd type="triangle" w="med" len="med"/>
          </a:ln>
        </p:spPr>
      </p:cxnSp>
      <p:cxnSp>
        <p:nvCxnSpPr>
          <p:cNvPr id="42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H="1">
            <a:off x="10239375" y="1857375"/>
            <a:ext cx="47625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F7EA6"/>
            </a:solidFill>
            <a:prstDash val="solid"/>
            <a:headEnd type="triangle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4E44F2-5A7E-4ADD-AA32-42556C137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1809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2026.6.25-9.22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475F30-0944-41DA-853A-395EAE2F2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19425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选题、任务书与开题报告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8829B9-67A0-4086-945C-0FDC9C402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43300"/>
            <a:ext cx="1809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2026.9.23-10.19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84D7BD-AE6A-42A0-800D-CFB942313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09975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开题答辩与系统设计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F30091-9415-466F-ADA8-CF0A36F57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33850"/>
            <a:ext cx="1809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2026.10.20-11.1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CA30EB-D015-4E6C-A7BB-0088F228B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00525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中期检查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B0B099-E59C-494B-B41E-830B4EC06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24400"/>
            <a:ext cx="1809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2026.11.2-12.22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721B58-6AC4-45CF-B60B-C501A949F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791075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论文撰写、评审与送审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F2D443-3133-473D-BD2C-78273F476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14950"/>
            <a:ext cx="1809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2026.12.23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31DB59-024B-4123-AB3E-4D87CA1AE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381625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毕业答辩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26AB0F-8826-490F-9F85-902A0DAE8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52750"/>
            <a:ext cx="12382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文献研究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AEB12A-C8D2-4FE7-A88A-DA7030269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1942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梳理BMS架构与算法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D0CC2F-24CE-471C-AD9D-710581C12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43300"/>
            <a:ext cx="12382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系统设计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8427B6-1E9A-44C4-B5F3-0C8F93679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0997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确定软硬件边界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2800E7-B08E-4211-B67B-843E6F824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33850"/>
            <a:ext cx="12382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实验调试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9F6ACC-69EC-41A5-8A46-4F9AEE16C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20052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验证通信与保护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69969C-1064-4DDE-B9AE-162B7FC18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24400"/>
            <a:ext cx="12382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对比验证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A51A3C-0582-4A0E-BB02-0CFBC3A13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79107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分析SOC与运行稳定性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897507A-B94C-41E1-B8FD-A2CFFA0E6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238875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10 / 10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08AF72E-CFF7-4802-B495-0065CC54E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3887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资料来源：开题报告研究方法、技术路线与进度安排</a:t>
            </a:r>
          </a:p>
        </p:txBody>
      </p:sp>
    </p:spTree>
    <p:extLst>
      <p:ext uri="{BB962C8B-B14F-4D97-AF65-F5344CB8AC3E}">
        <p14:creationId xmlns:p14="http://schemas.microsoft.com/office/powerpoint/2010/main" val="908251731"/>
      </p:ext>
    </p:extLst>
  </p:cSld>
</p:sld>
</file>

<file path=ppt/theme/theme1.xml><?xml version="1.0" encoding="utf-8"?>
<a:theme xmlns:a="http://schemas.openxmlformats.org/drawingml/2006/main" name="ChatGPT">
  <a:themeElements>
    <a:clrScheme name="Cool Blue Gray Research">
      <a:dk1>
        <a:srgbClr val="12212B"/>
      </a:dk1>
      <a:lt1>
        <a:srgbClr val="FFFFFF"/>
      </a:lt1>
      <a:dk2>
        <a:srgbClr val="1F3342"/>
      </a:dk2>
      <a:lt2>
        <a:srgbClr val="DCEAF3"/>
      </a:lt2>
      <a:accent1>
        <a:srgbClr val="174A7C"/>
      </a:accent1>
      <a:accent2>
        <a:srgbClr val="3F7EA6"/>
      </a:accent2>
      <a:accent3>
        <a:srgbClr val="D9A25F"/>
      </a:accent3>
      <a:accent4>
        <a:srgbClr val="B94B4B"/>
      </a:accent4>
      <a:accent5>
        <a:srgbClr val="2F7D5B"/>
      </a:accent5>
      <a:accent6>
        <a:srgbClr val="6A7F95"/>
      </a:accent6>
      <a:hlink>
        <a:srgbClr val="174A7C"/>
      </a:hlink>
      <a:folHlink>
        <a:srgbClr val="3F7EA6"/>
      </a:folHlink>
    </a:clrScheme>
    <a:fontScheme name="Microsoft YaHei">
      <a:majorFont>
        <a:latin typeface="Microsoft YaHei"/>
        <a:ea typeface="Microsoft YaHei"/>
        <a:cs typeface="Microsoft YaHei"/>
      </a:majorFont>
      <a:minorFont>
        <a:latin typeface="Microsoft YaHei"/>
        <a:ea typeface="Microsoft YaHei"/>
        <a:cs typeface="Microsoft YaHei"/>
      </a:minorFont>
    </a:fontScheme>
    <a:fmtScheme name="Cool Blue Gray Research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2026-09-20T07:25:55.1170000Z</dcterms:created>
  <dcterms:modified xsi:type="dcterms:W3CDTF">2026-09-20T07:25:55.1170000Z</dcterms:modified>
</coreProperties>
</file>