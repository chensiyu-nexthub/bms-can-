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1d5e11b77f40ba" /><Relationship Type="http://schemas.openxmlformats.org/officeDocument/2006/relationships/extended-properties" Target="/docProps/app.xml" Id="Rafdbff0d78b54cbe" /><Relationship Type="http://schemas.openxmlformats.org/officeDocument/2006/relationships/officeDocument" Target="/ppt/presentation.xml" Id="R4772f9d3bb0b49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c423eb03186439d"/>
  </p:sldMasterIdLst>
  <p:notesMasterIdLst>
    <p:notesMasterId xmlns:r="http://schemas.openxmlformats.org/officeDocument/2006/relationships" r:id="R2fe1a21d5e2d4860"/>
  </p:notesMasterIdLst>
  <p:sldIdLst>
    <p:sldId xmlns:r="http://schemas.openxmlformats.org/officeDocument/2006/relationships" id="256" r:id="R6f64bb1141df49f8"/>
    <p:sldId xmlns:r="http://schemas.openxmlformats.org/officeDocument/2006/relationships" id="257" r:id="Rdda356570da84ee0"/>
    <p:sldId xmlns:r="http://schemas.openxmlformats.org/officeDocument/2006/relationships" id="258" r:id="Rb50b7a13773d4dbb"/>
    <p:sldId xmlns:r="http://schemas.openxmlformats.org/officeDocument/2006/relationships" id="259" r:id="R1e531191d38b421d"/>
    <p:sldId xmlns:r="http://schemas.openxmlformats.org/officeDocument/2006/relationships" id="260" r:id="R706a2811bc634e1d"/>
    <p:sldId xmlns:r="http://schemas.openxmlformats.org/officeDocument/2006/relationships" id="261" r:id="R654f76c9b174497f"/>
    <p:sldId xmlns:r="http://schemas.openxmlformats.org/officeDocument/2006/relationships" id="262" r:id="R488cadb6fe544700"/>
    <p:sldId xmlns:r="http://schemas.openxmlformats.org/officeDocument/2006/relationships" id="263" r:id="Redf98caa8b3e4241"/>
    <p:sldId xmlns:r="http://schemas.openxmlformats.org/officeDocument/2006/relationships" id="264" r:id="R58830fe07b2c4e11"/>
    <p:sldId xmlns:r="http://schemas.openxmlformats.org/officeDocument/2006/relationships" id="265" r:id="Rc35b9990653547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96e24cda9484656" /><Relationship Type="http://schemas.openxmlformats.org/officeDocument/2006/relationships/slideMaster" Target="/ppt/slideMasters/slideMaster1.xml" Id="R2c423eb03186439d" /><Relationship Type="http://schemas.openxmlformats.org/officeDocument/2006/relationships/notesMaster" Target="/ppt/notesMasters/notesMaster1.xml" Id="R2fe1a21d5e2d4860" /><Relationship Type="http://schemas.openxmlformats.org/officeDocument/2006/relationships/presProps" Target="/ppt/presProps.xml" Id="Rc57bd07c0479442f" /><Relationship Type="http://schemas.openxmlformats.org/officeDocument/2006/relationships/tableStyles" Target="/ppt/tableStyles.xml" Id="R7aedf957c6984115" /><Relationship Type="http://schemas.openxmlformats.org/officeDocument/2006/relationships/slide" Target="/ppt/slides/slide1.xml" Id="R6f64bb1141df49f8" /><Relationship Type="http://schemas.openxmlformats.org/officeDocument/2006/relationships/slide" Target="/ppt/slides/slide2.xml" Id="Rdda356570da84ee0" /><Relationship Type="http://schemas.openxmlformats.org/officeDocument/2006/relationships/slide" Target="/ppt/slides/slide3.xml" Id="Rb50b7a13773d4dbb" /><Relationship Type="http://schemas.openxmlformats.org/officeDocument/2006/relationships/slide" Target="/ppt/slides/slide4.xml" Id="R1e531191d38b421d" /><Relationship Type="http://schemas.openxmlformats.org/officeDocument/2006/relationships/slide" Target="/ppt/slides/slide5.xml" Id="R706a2811bc634e1d" /><Relationship Type="http://schemas.openxmlformats.org/officeDocument/2006/relationships/slide" Target="/ppt/slides/slide6.xml" Id="R654f76c9b174497f" /><Relationship Type="http://schemas.openxmlformats.org/officeDocument/2006/relationships/slide" Target="/ppt/slides/slide7.xml" Id="R488cadb6fe544700" /><Relationship Type="http://schemas.openxmlformats.org/officeDocument/2006/relationships/slide" Target="/ppt/slides/slide8.xml" Id="Redf98caa8b3e4241" /><Relationship Type="http://schemas.openxmlformats.org/officeDocument/2006/relationships/slide" Target="/ppt/slides/slide9.xml" Id="R58830fe07b2c4e11" /><Relationship Type="http://schemas.openxmlformats.org/officeDocument/2006/relationships/slide" Target="/ppt/slides/slide10.xml" Id="Rc35b9990653547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140da0a8326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ool Blue Gray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1D4ED8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1D4ED8"/>
      </a:hlink>
      <a:folHlink>
        <a:srgbClr val="7C3AED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8577a8c17c48a2" /><Relationship Type="http://schemas.openxmlformats.org/officeDocument/2006/relationships/notesMaster" Target="/ppt/notesMasters/notesMaster1.xml" Id="R64195a21a12543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7815ed37a9473e" /><Relationship Type="http://schemas.openxmlformats.org/officeDocument/2006/relationships/notesMaster" Target="/ppt/notesMasters/notesMaster1.xml" Id="R4c713a4696104c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b8a8c735844a9d" /><Relationship Type="http://schemas.openxmlformats.org/officeDocument/2006/relationships/notesMaster" Target="/ppt/notesMasters/notesMaster1.xml" Id="R8a1dd6417e7049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55138b21cb4a77" /><Relationship Type="http://schemas.openxmlformats.org/officeDocument/2006/relationships/notesMaster" Target="/ppt/notesMasters/notesMaster1.xml" Id="Raaa3c870ef9843e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ad717f3c34a97" /><Relationship Type="http://schemas.openxmlformats.org/officeDocument/2006/relationships/notesMaster" Target="/ppt/notesMasters/notesMaster1.xml" Id="Rb6e96f1073cb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fb197b6f0c421b" /><Relationship Type="http://schemas.openxmlformats.org/officeDocument/2006/relationships/notesMaster" Target="/ppt/notesMasters/notesMaster1.xml" Id="Rf89222e0461746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57afcb139c45c9" /><Relationship Type="http://schemas.openxmlformats.org/officeDocument/2006/relationships/notesMaster" Target="/ppt/notesMasters/notesMaster1.xml" Id="R0c5d43be7bc241c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6a2da517cc4755" /><Relationship Type="http://schemas.openxmlformats.org/officeDocument/2006/relationships/notesMaster" Target="/ppt/notesMasters/notesMaster1.xml" Id="Rb726900af4ff47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0c8d96bb9f4971" /><Relationship Type="http://schemas.openxmlformats.org/officeDocument/2006/relationships/notesMaster" Target="/ppt/notesMasters/notesMaster1.xml" Id="R7f03c5fc671747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d509e2ea3c49b0" /><Relationship Type="http://schemas.openxmlformats.org/officeDocument/2006/relationships/notesMaster" Target="/ppt/notesMasters/notesMaster1.xml" Id="Rc979876636f44b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封面背景由本项目资料整理生成。答辩时先介绍课题名称、专业与指导教师。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背景页说明选题来自多串锂电池的实际安全需求，不强调产品化，而强调验证型BMS主线。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重点说明本课题目标是验证型系统主线，避免把CAN、蓝牙等扩展功能说成已实现。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讲意义时将安全价值、学习价值和工程参考价值分层说明，避免空泛表述。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现状页只概括趋势，具体文献结论已在开题报告中展开。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这页是全局主链路，重点区分数据流和安全控制链路。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选型页说明为什么合适，不写成所有硬件均已完整验证成功。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重点讲解任务优先级、共享资源保护和ALERT处理边界。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测试表述以拟验证为主，不宣称当前全部完成。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收束页强调方法与路线，并按学校进度安排展示后续计划。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8c1fd0a3646cc" /><Relationship Type="http://schemas.openxmlformats.org/officeDocument/2006/relationships/theme" Target="/ppt/theme/theme1.xml" Id="R39a040c078c341f3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58c1fd0a3646cc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af535ef19456f" /><Relationship Type="http://schemas.openxmlformats.org/officeDocument/2006/relationships/image" Target="/ppt/media/image.png" Id="R6ae29100362848cd" /><Relationship Type="http://schemas.openxmlformats.org/officeDocument/2006/relationships/notesSlide" Target="/ppt/notesSlides/notesSlide1.xml" Id="R7b9f7bbefbd84f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1ad1a04c94847" /><Relationship Type="http://schemas.openxmlformats.org/officeDocument/2006/relationships/notesSlide" Target="/ppt/notesSlides/notesSlide2.xml" Id="R90e32ded46174a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6fbbd4c7a4da9" /><Relationship Type="http://schemas.openxmlformats.org/officeDocument/2006/relationships/notesSlide" Target="/ppt/notesSlides/notesSlide3.xml" Id="R241266483bed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cd5e5e0d54fd2" /><Relationship Type="http://schemas.openxmlformats.org/officeDocument/2006/relationships/notesSlide" Target="/ppt/notesSlides/notesSlide4.xml" Id="Ra1d1242e3f564d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1ed093fd74c1b" /><Relationship Type="http://schemas.openxmlformats.org/officeDocument/2006/relationships/notesSlide" Target="/ppt/notesSlides/notesSlide5.xml" Id="Re9da0e6f9119417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abf2aec1e460e" /><Relationship Type="http://schemas.openxmlformats.org/officeDocument/2006/relationships/notesSlide" Target="/ppt/notesSlides/notesSlide6.xml" Id="R1ddb3bc9265f41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cd58d7a074627" /><Relationship Type="http://schemas.openxmlformats.org/officeDocument/2006/relationships/image" Target="/ppt/media/image2.png" Id="R3f2d94a96b0b4db3" /><Relationship Type="http://schemas.openxmlformats.org/officeDocument/2006/relationships/notesSlide" Target="/ppt/notesSlides/notesSlide7.xml" Id="Rf18a86deecaf44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c0105b309433c" /><Relationship Type="http://schemas.openxmlformats.org/officeDocument/2006/relationships/notesSlide" Target="/ppt/notesSlides/notesSlide8.xml" Id="R6740f08dbe084a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60c1bf89143ee" /><Relationship Type="http://schemas.openxmlformats.org/officeDocument/2006/relationships/notesSlide" Target="/ppt/notesSlides/notesSlide9.xml" Id="R8301c339708647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34cca0dab54d23" /><Relationship Type="http://schemas.openxmlformats.org/officeDocument/2006/relationships/notesSlide" Target="/ppt/notesSlides/notesSlide10.xml" Id="R1dbc04673ae641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29100362848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3D1B6-807A-49DA-AE40-6BCE8DA7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65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725FE7-B71C-4C36-83AA-667B7950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95750"/>
            <a:ext cx="121920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BD816-BC71-400A-AE6E-6FF2E0203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876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基于STM32的多串锂电池管理系统设计与实现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6EEB4F-73EB-48D5-8829-61D9FF17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>
                <a:solidFill>
                  <a:srgbClr val="DBEAF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DBEAFE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E154D-76C3-4D99-A0CC-D9918E62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杭州电子科技大学信息工程学院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A193E-4743-4905-95BF-9DEDD94E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姓名：＿＿＿＿＿＿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2215B-E072-4B14-8B85-2065ACE9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762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学号：＿＿＿＿＿＿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66360-2E8C-4DCD-9C3A-BB0EDEB0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专业：＿＿＿＿＿＿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06C85-AAB5-4710-BCCF-79C2C478C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162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指导教师：＿＿＿＿＿＿</a:t>
            </a:r>
          </a:p>
        </p:txBody>
      </p:sp>
    </p:spTree>
    <p:extLst>
      <p:ext uri="{BB962C8B-B14F-4D97-AF65-F5344CB8AC3E}">
        <p14:creationId xmlns:p14="http://schemas.microsoft.com/office/powerpoint/2010/main" val="18126361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44F4A9-9CA5-4403-86D9-DCBCD966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研究背景与选题依据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B5BF9-6339-4E0C-A69C-396546C4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CEE80-6A87-4772-9713-7A29610E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多串锂电池已广泛用于便携设备、储能装置和小型动力系统。电池组在充放电过程中会出现单体电压不一致、温度分布不均和过流风险，仅依靠人工检测难以满足实时管理要求。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955ED-0129-4EA8-AC79-65AED0DA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电池管理系统可持续采集电压、电流和温度，根据状态变化执行保护动作，并在异常发生前给出提示。围绕多串锂电池设计一套结构清晰、功能可验证的BMS，具有明确的应用需求和研究价值。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53444-5210-4FD9-B2B6-4ED6D0E0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应用需求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储能与小型动力系统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BCB86-C8FB-4A78-AF27-FC500B54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4287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安全风险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过充、过放、过流、过温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35944-9901-4340-AE23-7536175F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管理需求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实时采集与保护控制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4FC22-8644-4132-A909-8B481CEA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62250"/>
            <a:ext cx="2095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研究价值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嵌入式软硬件闭环验证</a:t>
            </a:r>
          </a:p>
        </p:txBody>
      </p: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763000" y="1857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76300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3" name=""/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287000" y="22860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E7444-E1E8-4763-8D7D-CCEEBC6A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</a:t>
            </a:r>
          </a:p>
        </p:txBody>
      </p:sp>
    </p:spTree>
    <p:extLst>
      <p:ext uri="{BB962C8B-B14F-4D97-AF65-F5344CB8AC3E}">
        <p14:creationId xmlns:p14="http://schemas.microsoft.com/office/powerpoint/2010/main" val="15843447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3A88A-AB6A-4EC3-9FAA-3C9CE059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研究目的与预期目标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62CCC-64E5-4A6A-B554-3E9C27BC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9DD89-7D6C-4AF2-827E-4A81B8EA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研究目的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2CF2DB-A7A7-42D2-9A30-2A9EC371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设计一套基于STM32F103C8T6与BQ76940的多串锂电池管理系统，完成状态采集、安全保护、SOC估算、基础均衡接口和上位机调试，形成可运行的嵌入式软硬件方案。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AC5C5-4F03-4CF3-B298-6BDB70BB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954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完成整体方案与软硬件功能划分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31947-300E-466C-B985-608456294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实现电压、电流、温度周期采集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10912-02E3-49D1-B0F7-66762050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建立软硬件结合的保护控制机制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05C50-EB8F-49D5-B070-D86BAD0F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3855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完成SOC估算与OCV校正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5B206-B404-474D-B72C-CEAC9FDA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实现UART命令与Python上位机调试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F4DB35-EA13-4747-BC3F-123BC619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</a:t>
            </a:r>
          </a:p>
        </p:txBody>
      </p:sp>
    </p:spTree>
    <p:extLst>
      <p:ext uri="{BB962C8B-B14F-4D97-AF65-F5344CB8AC3E}">
        <p14:creationId xmlns:p14="http://schemas.microsoft.com/office/powerpoint/2010/main" val="971781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D648C-7856-4F7C-BE56-0182BA0C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4BA10-081E-491F-9488-C485ACAA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D3B3E-41CF-4977-933C-465B714D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工程意义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减少过充、过放和过热风险，延长电池组使用寿命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98563-E352-4BE9-9E9D-CCA591B3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33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学习意义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覆盖嵌入式软硬件、通信、RTOS和电池保护策略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84622-A0C8-43EC-B8E4-A6250CF7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33500"/>
            <a:ext cx="342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应用参考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为同类多串锂电池管理系统设计提供可借鉴方案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2CBB7-C0CF-4E07-9770-727B032D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本课题采用STM32F103C8T6作为主控，配合BQ76940完成电池信息采集与保护控制。方案成本可控，开发流程完整，能够体现嵌入式实时系统在资源调度与共享资源保护中的应用。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6FC03-9987-4F62-8761-890B1ED6E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76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SOC估算结合安时积分与静置开路电压校正，用于降低长期计算的累积误差。相比单纯依赖芯片保护的传统方案，软件与硬件结合更利于分析电池运行规律，也为后续算法改进留下空间。</a:t>
            </a:r>
          </a:p>
        </p:txBody>
      </p:sp>
      <p:cxnSp>
        <p:nvCxnSpPr>
          <p:cNvPr id="18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38600" y="2047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1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715250" y="2047875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AC0E91-8F3A-4846-80CE-D7E72D88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</a:t>
            </a:r>
          </a:p>
        </p:txBody>
      </p:sp>
    </p:spTree>
    <p:extLst>
      <p:ext uri="{BB962C8B-B14F-4D97-AF65-F5344CB8AC3E}">
        <p14:creationId xmlns:p14="http://schemas.microsoft.com/office/powerpoint/2010/main" val="9687190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22118-AE76-4EBE-97B2-77AD519A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国内外研究现状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7809B8-C68A-43C6-AD5B-1A783704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54E102-0397-40A5-B2C3-731E3CB3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国内研究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面向安全保护、SOC估算、均衡控制与具体应用场景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63E7D7-19EB-48CE-B2A8-F194CD0B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333500"/>
            <a:ext cx="342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国外研究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硬件架构、状态估算、主动均衡拓扑与物联网集成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38F25-7A06-4726-97ED-47424A45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48000"/>
            <a:ext cx="3429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共同趋势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保护策略、估计算法与多任务系统设计不断融合</a:t>
            </a:r>
          </a:p>
        </p:txBody>
      </p:sp>
      <p:cxnSp>
        <p:nvCxnSpPr>
          <p:cNvPr id="16" name=""/>
          <p:cNvCxnSpPr>
            <a:stCxn xmlns:a="http://schemas.openxmlformats.org/drawingml/2006/main" id="3" idx="2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24100" y="2571750"/>
            <a:ext cx="19621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17" name=""/>
          <p:cNvCxnSpPr>
            <a:stCxn xmlns:a="http://schemas.openxmlformats.org/drawingml/2006/main" id="4" idx="2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715250" y="2571750"/>
            <a:ext cx="19621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FE2DC1-FE6C-46A3-97F4-BF21A293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国内文献关注具体应用中的温度保护、远程监控和SOC算法改进；国外文献在主动均衡拓扑、滤波与数据驱动融合、STM32与专用AFE集成方面有较多探索。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E1E7F8-BE69-48C4-8D6C-907D908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已有研究为系统架构和算法选择提供依据，但面向STM32平台的工程实现仍需处理采样时序、共享资源调度和保护响应等约束。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D77072-3445-445A-9185-2C06493F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资料来源：开题报告参考文献[1]至[12]</a:t>
            </a:r>
          </a:p>
        </p:txBody>
      </p:sp>
    </p:spTree>
    <p:extLst>
      <p:ext uri="{BB962C8B-B14F-4D97-AF65-F5344CB8AC3E}">
        <p14:creationId xmlns:p14="http://schemas.microsoft.com/office/powerpoint/2010/main" val="20832386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A175E-1E2B-4DF2-B63A-7FCF3B7D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系统总体方案与数据流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26712-0139-4513-A360-AFAE967CA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48A03-421A-413A-8C76-F2098241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9串18650锂电池组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DA74E-523D-43CD-B7A5-F5DB2591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24000"/>
            <a:ext cx="1714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采集与硬件告警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2B6EE-7FEB-4646-9F17-111CD285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240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数据处理与策略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93AEE-A584-44D2-B89B-D8D13BE5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52400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UART通信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01D31-03C1-4900-B800-6515CA8D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tkinter上位机</a:t>
            </a:r>
          </a:p>
        </p:txBody>
      </p:sp>
      <p:cxnSp>
        <p:nvCxnSpPr>
          <p:cNvPr id="25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24100" y="1905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6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476750" y="1905000"/>
            <a:ext cx="4381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24650" y="19050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8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96300" y="19050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31E46F-CE49-4350-B304-D34F9563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33750"/>
            <a:ext cx="3619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安全控制链路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保护优先于显示与命令交互</a:t>
            </a:r>
          </a:p>
        </p:txBody>
      </p:sp>
      <p:cxnSp>
        <p:nvCxnSpPr>
          <p:cNvPr id="30" name=""/>
          <p:cNvCxnSpPr>
            <a:stCxn xmlns:a="http://schemas.openxmlformats.org/drawingml/2006/main" id="5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819775" y="2286000"/>
            <a:ext cx="180975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1" name=""/>
          <p:cNvCxnSpPr>
            <a:stCxn xmlns:a="http://schemas.openxmlformats.org/drawingml/2006/main" id="12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3619500" y="2286000"/>
            <a:ext cx="23812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10F743-14CD-4D32-AF6C-4123E46B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数据流：电压、电流、温度由BQ76940采集，STM32通过软件I2C读取后完成阈值判断、SOC更新和状态整理，再经UART上传至上位机显示。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49657-4A13-4068-BD64-2D3C968B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514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控制流：BQ76940提供硬件告警，ALERT通知STM32，软件结合阈值判断风险等级，并通过充放电MOS执行保护。CAN、蓝牙、串口屏仅作为扩展预留。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D512D8-8703-4525-AFA4-3D486CF4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资料来源：项目开题报告研究方案与总体设计</a:t>
            </a:r>
          </a:p>
        </p:txBody>
      </p:sp>
    </p:spTree>
    <p:extLst>
      <p:ext uri="{BB962C8B-B14F-4D97-AF65-F5344CB8AC3E}">
        <p14:creationId xmlns:p14="http://schemas.microsoft.com/office/powerpoint/2010/main" val="20884580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09A0D-B1A5-45E8-BE40-F033515A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硬件选型与模块设计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95643-A93B-4C2B-940A-3C6A86188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DCA18-E5F5-4D83-A140-D03C2F19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主控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BCF3C-3EBE-4826-86C3-63775738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2858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STM32F103C8T6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D52F8A-5106-4BB7-A2EE-5F03B404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2858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外设资源、实时性、资料成熟度和成本均衡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15207-C3AD-4FB9-B0BD-010542CF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模拟前端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5232CB-DCF1-4B37-BE59-21FD09B3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145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BQ76940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6B81B4-499E-4A53-AF17-D913DA66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145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支持多串采集、硬件告警、MOS控制和被动均衡资源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D5438-32D9-4050-983F-84472675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均衡方式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AC3BAA-512F-4271-964F-FFB0EBC3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3432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被动均衡接口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B52E8-0793-4DD6-A806-E802C75A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432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结构简单、成本可控，主动均衡效率高但复杂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707D4-11C1-4974-B2E5-ECDD845D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71975"/>
            <a:ext cx="1047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通信方式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A57492-D88F-4FEA-9471-C609CF9C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719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UART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F6A7C-87DE-462F-900D-52A38574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7197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当前连接Python上位机，CAN等作为扩展方向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d94a96b0b4db3"/>
          <a:stretch xmlns:a="http://schemas.openxmlformats.org/drawingml/2006/main"/>
        </p:blipFill>
        <p:spPr>
          <a:xfrm xmlns:a="http://schemas.openxmlformats.org/drawingml/2006/main">
            <a:off x="8810625" y="2073767"/>
            <a:ext cx="2714625" cy="208181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4BC8A-7F74-481B-8450-A8AD4C2D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2920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7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图片来源：项目资料BQ769X0应用资料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6F80EB-7C88-40B8-8EED-6F5B3A869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硬件仍处于联调阶段，软件I2C读取BQ76940的稳定性、上拉电阻、唤醒流程和寄存器读取需要后续验证。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38A705-0E82-48E6-8776-CBBE64CA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资料来源：项目开题报告硬件选型与模块设计</a:t>
            </a:r>
          </a:p>
        </p:txBody>
      </p:sp>
    </p:spTree>
    <p:extLst>
      <p:ext uri="{BB962C8B-B14F-4D97-AF65-F5344CB8AC3E}">
        <p14:creationId xmlns:p14="http://schemas.microsoft.com/office/powerpoint/2010/main" val="1780663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9C5CC-2DB0-49AC-8BE8-9F80E6F9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软件设计与任务流程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4CC06-3BE5-4005-A527-4C8D28A2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395B0-8B11-4E74-994D-3E607045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3350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BMS_Task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高优先级，500ms周期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可由ALERT通知唤醒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555736-5BFB-43C2-8DB9-20B523F8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2571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UART_Task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低优先级，50ms轮询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解析串口命令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B467D-CE72-416C-9C42-1225647C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333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ALERT中断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只发送任务通知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20EF1E-B29B-46E2-A173-0EB0CF8D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33350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I2C互斥锁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保护共享BQ76940访问</a:t>
            </a:r>
          </a:p>
        </p:txBody>
      </p:sp>
      <p:cxnSp>
        <p:nvCxnSpPr>
          <p:cNvPr id="28" name=""/>
          <p:cNvCxnSpPr>
            <a:stCxn xmlns:a="http://schemas.openxmlformats.org/drawingml/2006/main" id="5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3619500" y="1857375"/>
            <a:ext cx="347662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29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667500" y="1857375"/>
            <a:ext cx="25717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3619500" y="1857375"/>
            <a:ext cx="6524625" cy="752475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5B224-0115-4AAE-8AFE-97620EEF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采样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电压、电流、温度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5A8DA-6F79-4788-A8B6-12197DD0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43250"/>
            <a:ext cx="180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软件阈值与硬件告警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45280B-0443-4AAC-8EF1-E080023E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4325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SOC更新与MOS控制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AD851-9CC2-4700-9B73-6A89DDC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619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上报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UART状态输出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F2D7A-53F2-4893-B970-63154967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428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显示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上位机刷新</a:t>
            </a:r>
          </a:p>
        </p:txBody>
      </p: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8125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7200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8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85800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9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858250" y="35242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873E53-4B37-458A-8EF8-1F30BD1D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中断服务程序不执行I2C操作，寄存器读取、故障解析和状态更新在任务上下文中完成。串口命令若访问BQ76940，也必须在互斥锁保护下进行。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D1521-EF5F-41E4-9599-6CBDE187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SOC采用安时积分，静置约30s后结合开路电压校正，并以满电、空电边界校准。基础被动均衡接口支持掩码与手动控制，不夸大为完整自主策略。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31843-48D1-4C74-9458-1FC4ECE4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资料来源：项目开题报告软件设计与流程设计</a:t>
            </a:r>
          </a:p>
        </p:txBody>
      </p:sp>
    </p:spTree>
    <p:extLst>
      <p:ext uri="{BB962C8B-B14F-4D97-AF65-F5344CB8AC3E}">
        <p14:creationId xmlns:p14="http://schemas.microsoft.com/office/powerpoint/2010/main" val="157792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1691E-B56A-4ED8-A7E1-0E167DDE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测试与验证方案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69FCEC-AC1E-4D52-9C31-7766B019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61BF73-42D3-4912-B63E-5414299C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通信与采集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验证BQ76940初始化、寄存器读取、ALERT响应和重初始化机制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E79827-5289-4334-BF31-6CBFFB5C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38112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保护与执行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拟验证过压、欠压、过流、过温、低温充电阈值与MOS动作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B4B8A-A6BD-49E1-A0AB-0512C5B2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38112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SOC与校正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观察安时积分、静置OCV校正和边界校准的误差变化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ACA30-2BA3-4C45-9935-4DF100DD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交互与调试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验证串口命令解析、上位机显示和调试控制功能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ACCB6-0BEC-4FEF-9368-76CAE62F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2952750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连续运行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拟进行长时间运行测试，观察通信异常、任务阻塞和数据保存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EAF97-74A9-468E-AF8B-18F3938A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验证顺序：通信稳定后开展采集精度检查，再验证保护动作，最后完成整机连续运行测试。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5D4C01-31E1-4496-8AAA-C37DA6EC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6250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rPr>
              <a:t>通信→采集→保护→SOC→上位机→连续运行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D73723-9E98-4C93-8789-CB672700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资料来源：项目开题报告测试与验证方案</a:t>
            </a:r>
          </a:p>
        </p:txBody>
      </p:sp>
    </p:spTree>
    <p:extLst>
      <p:ext uri="{BB962C8B-B14F-4D97-AF65-F5344CB8AC3E}">
        <p14:creationId xmlns:p14="http://schemas.microsoft.com/office/powerpoint/2010/main" val="1792577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64BED-AD55-4EF4-8750-4D2B90DA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研究方法与技术路线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24FDF3-12EF-4425-8FC4-7DE231E7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2644F-DA01-4DC0-81D4-422D81ED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2667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研究方法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文献研究、系统设计、实验调试、软件工程、对比验证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FFF89-D25E-4766-A9A2-C7C985BD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33500"/>
            <a:ext cx="190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确定功能范围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6BEEB-5D13-4A4D-B6DD-873FAB39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33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硬件连接与任务划分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B05F09-7FCE-4750-951E-FB958B3C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333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功能实现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驱动、算法与通信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905500" y="1762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286750" y="1762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3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3276600" y="1762125"/>
            <a:ext cx="72390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8A732-34AE-43F2-ADBC-1F6EB0B4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57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联调测试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通信、保护、SOC与上位机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DEFB0-B5CC-425C-9251-86AD7100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5750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总结完善</a:t>
            </a:r>
          </a:p>
          <a:p xmlns:a="http://schemas.openxmlformats.org/drawingml/2006/main">
            <a:pPr algn="ctr">
              <a:lnSpc>
                <a:spcPct val="150000"/>
              </a:lnSpc>
              <a:buNone/>
              <a:def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整理数据与论文材料</a:t>
            </a:r>
          </a:p>
        </p:txBody>
      </p: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286625" y="2190750"/>
            <a:ext cx="23812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286750" y="32861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4748B"/>
            </a:solidFill>
            <a:prstDash val="solid"/>
            <a:head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138CC-70CD-45DC-A85A-9188CE0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2026.6.25-9.22  选题、任务书、开题报告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3EF05-F94E-43D3-B011-96E6218F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2026.9.23-10.19  开题答辩与系统设计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28BAC6-8D50-4FB6-8303-F27A19ED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2026.10.20-11.1  中期检查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BEA64-AD64-4933-9632-19BD49F4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2026.11.2-12.22  论文撰写、评审与送审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0239C-FC62-4197-B4EA-1F7C78DE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953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 wrap="square" lIns="95250" tIns="76200" rIns="952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2026.12.23  毕业答辩</a:t>
            </a:r>
          </a:p>
        </p:txBody>
      </p:sp>
      <p:cxnSp>
        <p:nvCxnSpPr>
          <p:cNvPr id="43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3086100" y="32766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086100" y="37719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3086100" y="42672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086100" y="47625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4A3B8"/>
            </a:solidFill>
            <a:prstDash val="solid"/>
            <a:head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C9BDF-C287-444F-BE48-E86B36BF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86250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本课题按需求分析、系统设计、软件开发、功能验证和总结完善的顺序推进，测试结论用于调整阈值参数与软件逻辑。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0EE317-40ED-43CE-9CDD-F7E67F92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资料来源：项目开题报告研究方法与技术路线</a:t>
            </a:r>
          </a:p>
        </p:txBody>
      </p:sp>
    </p:spTree>
    <p:extLst>
      <p:ext uri="{BB962C8B-B14F-4D97-AF65-F5344CB8AC3E}">
        <p14:creationId xmlns:p14="http://schemas.microsoft.com/office/powerpoint/2010/main" val="64622528"/>
      </p:ext>
    </p:extLst>
  </p:cSld>
</p:sld>
</file>

<file path=ppt/theme/theme1.xml><?xml version="1.0" encoding="utf-8"?>
<a:theme xmlns:a="http://schemas.openxmlformats.org/drawingml/2006/main" name="ChatGPT">
  <a:themeElements>
    <a:clrScheme name="Cool Blue Gray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1D4ED8"/>
      </a:accent1>
      <a:accent2>
        <a:srgbClr val="0F766E"/>
      </a:accent2>
      <a:accent3>
        <a:srgbClr val="F59E0B"/>
      </a:accent3>
      <a:accent4>
        <a:srgbClr val="DC2626"/>
      </a:accent4>
      <a:accent5>
        <a:srgbClr val="7C3AED"/>
      </a:accent5>
      <a:accent6>
        <a:srgbClr val="16A34A"/>
      </a:accent6>
      <a:hlink>
        <a:srgbClr val="1D4ED8"/>
      </a:hlink>
      <a:folHlink>
        <a:srgbClr val="7C3AED"/>
      </a:folHlink>
    </a:clrScheme>
    <a:fontScheme name="Microsoft 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Cool Blue Gra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2026-09-20T02:34:46.1490000Z</dcterms:created>
  <dcterms:modified xsi:type="dcterms:W3CDTF">2026-09-20T02:34:46.1500000Z</dcterms:modified>
</coreProperties>
</file>