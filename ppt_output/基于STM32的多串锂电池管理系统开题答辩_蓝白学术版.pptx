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5cb1f3a35b406b" /><Relationship Type="http://schemas.openxmlformats.org/officeDocument/2006/relationships/extended-properties" Target="/docProps/app.xml" Id="R24269e7bc4384113" /><Relationship Type="http://schemas.openxmlformats.org/officeDocument/2006/relationships/officeDocument" Target="/ppt/presentation.xml" Id="R4bccd030bdb7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82ebd1c8244be"/>
  </p:sldMasterIdLst>
  <p:notesMasterIdLst>
    <p:notesMasterId xmlns:r="http://schemas.openxmlformats.org/officeDocument/2006/relationships" r:id="Rbbabf58c128b4e53"/>
  </p:notesMasterIdLst>
  <p:sldIdLst>
    <p:sldId xmlns:r="http://schemas.openxmlformats.org/officeDocument/2006/relationships" id="256" r:id="R8df30ee296944e2f"/>
    <p:sldId xmlns:r="http://schemas.openxmlformats.org/officeDocument/2006/relationships" id="257" r:id="R39d036b112cf4150"/>
    <p:sldId xmlns:r="http://schemas.openxmlformats.org/officeDocument/2006/relationships" id="258" r:id="Rbf8a1f7414434dc6"/>
    <p:sldId xmlns:r="http://schemas.openxmlformats.org/officeDocument/2006/relationships" id="259" r:id="R998518f033ae42ce"/>
    <p:sldId xmlns:r="http://schemas.openxmlformats.org/officeDocument/2006/relationships" id="260" r:id="Rc69259b2eac64f4e"/>
    <p:sldId xmlns:r="http://schemas.openxmlformats.org/officeDocument/2006/relationships" id="261" r:id="Rbb06a50b1c38487b"/>
    <p:sldId xmlns:r="http://schemas.openxmlformats.org/officeDocument/2006/relationships" id="262" r:id="Re76db68338e24dcf"/>
    <p:sldId xmlns:r="http://schemas.openxmlformats.org/officeDocument/2006/relationships" id="263" r:id="Rb667f4e4128340e9"/>
    <p:sldId xmlns:r="http://schemas.openxmlformats.org/officeDocument/2006/relationships" id="264" r:id="R9b52135ceb70474e"/>
    <p:sldId xmlns:r="http://schemas.openxmlformats.org/officeDocument/2006/relationships" id="265" r:id="Rc4f61d0d318a46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6674a4d9046a2" /><Relationship Type="http://schemas.openxmlformats.org/officeDocument/2006/relationships/slideMaster" Target="/ppt/slideMasters/slideMaster1.xml" Id="R9e582ebd1c8244be" /><Relationship Type="http://schemas.openxmlformats.org/officeDocument/2006/relationships/notesMaster" Target="/ppt/notesMasters/notesMaster1.xml" Id="Rbbabf58c128b4e53" /><Relationship Type="http://schemas.openxmlformats.org/officeDocument/2006/relationships/presProps" Target="/ppt/presProps.xml" Id="R5a212cb67cfe4e85" /><Relationship Type="http://schemas.openxmlformats.org/officeDocument/2006/relationships/tableStyles" Target="/ppt/tableStyles.xml" Id="Re486c6cfddfd4723" /><Relationship Type="http://schemas.openxmlformats.org/officeDocument/2006/relationships/slide" Target="/ppt/slides/slide1.xml" Id="R8df30ee296944e2f" /><Relationship Type="http://schemas.openxmlformats.org/officeDocument/2006/relationships/slide" Target="/ppt/slides/slide2.xml" Id="R39d036b112cf4150" /><Relationship Type="http://schemas.openxmlformats.org/officeDocument/2006/relationships/slide" Target="/ppt/slides/slide3.xml" Id="Rbf8a1f7414434dc6" /><Relationship Type="http://schemas.openxmlformats.org/officeDocument/2006/relationships/slide" Target="/ppt/slides/slide4.xml" Id="R998518f033ae42ce" /><Relationship Type="http://schemas.openxmlformats.org/officeDocument/2006/relationships/slide" Target="/ppt/slides/slide5.xml" Id="Rc69259b2eac64f4e" /><Relationship Type="http://schemas.openxmlformats.org/officeDocument/2006/relationships/slide" Target="/ppt/slides/slide6.xml" Id="Rbb06a50b1c38487b" /><Relationship Type="http://schemas.openxmlformats.org/officeDocument/2006/relationships/slide" Target="/ppt/slides/slide7.xml" Id="Re76db68338e24dcf" /><Relationship Type="http://schemas.openxmlformats.org/officeDocument/2006/relationships/slide" Target="/ppt/slides/slide8.xml" Id="Rb667f4e4128340e9" /><Relationship Type="http://schemas.openxmlformats.org/officeDocument/2006/relationships/slide" Target="/ppt/slides/slide9.xml" Id="R9b52135ceb70474e" /><Relationship Type="http://schemas.openxmlformats.org/officeDocument/2006/relationships/slide" Target="/ppt/slides/slide10.xml" Id="Rc4f61d0d318a46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60e7297cfd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b93add4d84719" /><Relationship Type="http://schemas.openxmlformats.org/officeDocument/2006/relationships/notesMaster" Target="/ppt/notesMasters/notesMaster1.xml" Id="R7d1c14b21dc843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67eb7face47f8" /><Relationship Type="http://schemas.openxmlformats.org/officeDocument/2006/relationships/notesMaster" Target="/ppt/notesMasters/notesMaster1.xml" Id="Re925c4158996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d634ba398946f4" /><Relationship Type="http://schemas.openxmlformats.org/officeDocument/2006/relationships/notesMaster" Target="/ppt/notesMasters/notesMaster1.xml" Id="R5aa607fc0c3340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a0990b2fee43a8" /><Relationship Type="http://schemas.openxmlformats.org/officeDocument/2006/relationships/notesMaster" Target="/ppt/notesMasters/notesMaster1.xml" Id="R13a67776bb0e47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157166ab96471e" /><Relationship Type="http://schemas.openxmlformats.org/officeDocument/2006/relationships/notesMaster" Target="/ppt/notesMasters/notesMaster1.xml" Id="Ra9ad20ec18a74e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fcc10b23464790" /><Relationship Type="http://schemas.openxmlformats.org/officeDocument/2006/relationships/notesMaster" Target="/ppt/notesMasters/notesMaster1.xml" Id="Ra1ed1b21ca0d40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f3b086bd6d4be7" /><Relationship Type="http://schemas.openxmlformats.org/officeDocument/2006/relationships/notesMaster" Target="/ppt/notesMasters/notesMaster1.xml" Id="R0cc3f03699ce4c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9d5ca6a33146ed" /><Relationship Type="http://schemas.openxmlformats.org/officeDocument/2006/relationships/notesMaster" Target="/ppt/notesMasters/notesMaster1.xml" Id="Rf576ce2732aa42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569f00030a4e92" /><Relationship Type="http://schemas.openxmlformats.org/officeDocument/2006/relationships/notesMaster" Target="/ppt/notesMasters/notesMaster1.xml" Id="R692db8f0615443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da768a990146bf" /><Relationship Type="http://schemas.openxmlformats.org/officeDocument/2006/relationships/notesMaster" Target="/ppt/notesMasters/notesMaster1.xml" Id="R94047fbb757b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各位老师好。我汇报的题目是基于STM32的多串锂电池管理系统设计与实现。课题围绕9串18650锂电池组，完成状态采集、安全保护、SOC估算和上位机交互的完整设计。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背景部分说明为什么需要BMS。多串成组后单体差异会放大风险，本课题用实时采集、阈值判断和MOS控制把这些风险纳入可控范围。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目的部分分四项说明。意义部分强调工程价值、学习价值和应用价值，同时明确CAN、蓝牙和串口屏只是扩展方向，避免夸大当前实现范围。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文献综述不逐篇读，按三个方向归纳。国内研究强调工程实现，国外研究在估算算法和均衡拓扑上更活跃，本课题关注嵌入式实现的落点。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研究内容按三个方向展开，关键问题集中在通信稳定性、任务协调、SOC误差、保护策略和联调验证。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总体方案按数据流说明。BQ76940是采集和硬件告警的前端，STM32是读取、判断和交互的控制核心。CAN、蓝牙和串口屏不写成当前功能。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软件部分说明任务结构和执行流程。高优先级BMS_Task保证采样和保护，低优先级UART_Task处理命令。互斥锁和中断边界是稳定性的关键。图3来自开题报告。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方法和技术路线合并说明。重点不是流程名词，而是每一阶段留下可检查的输出，包括接口定义、驱动代码、测试数据和论文材料。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测试方案强调可检查性。对没有明确数值指标的项，不编具体误差要求，只说明验证对象和验证方法。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感谢老师聆听，请老师对方案和验证安排提出指导意见。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e7b7fcff741aa" /><Relationship Type="http://schemas.openxmlformats.org/officeDocument/2006/relationships/theme" Target="/ppt/theme/theme1.xml" Id="Rf15b903496e8496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e7b7fcff741aa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7e538eddb43f0" /><Relationship Type="http://schemas.openxmlformats.org/officeDocument/2006/relationships/image" Target="/ppt/media/image.png" Id="Rffdc556b678a4dcd" /><Relationship Type="http://schemas.openxmlformats.org/officeDocument/2006/relationships/notesSlide" Target="/ppt/notesSlides/notesSlide1.xml" Id="Rfb7a38062d20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74629fb2c46dc" /><Relationship Type="http://schemas.openxmlformats.org/officeDocument/2006/relationships/notesSlide" Target="/ppt/notesSlides/notesSlide2.xml" Id="R9fa409492a4141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02c87d49a43d3" /><Relationship Type="http://schemas.openxmlformats.org/officeDocument/2006/relationships/notesSlide" Target="/ppt/notesSlides/notesSlide3.xml" Id="R909430f4a6a146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3c3a9dac4d4f" /><Relationship Type="http://schemas.openxmlformats.org/officeDocument/2006/relationships/notesSlide" Target="/ppt/notesSlides/notesSlide4.xml" Id="R3e34199e0fce44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28d48eebf48de" /><Relationship Type="http://schemas.openxmlformats.org/officeDocument/2006/relationships/notesSlide" Target="/ppt/notesSlides/notesSlide5.xml" Id="R6ded2834791442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54596bb7b4969" /><Relationship Type="http://schemas.openxmlformats.org/officeDocument/2006/relationships/image" Target="/ppt/media/image2.png" Id="Re2ce2e35bf90481c" /><Relationship Type="http://schemas.openxmlformats.org/officeDocument/2006/relationships/notesSlide" Target="/ppt/notesSlides/notesSlide6.xml" Id="R380d4299b49b43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f1ae1c8964758" /><Relationship Type="http://schemas.openxmlformats.org/officeDocument/2006/relationships/image" Target="/ppt/media/image.jpeg" Id="Rf7b2276425574ac7" /><Relationship Type="http://schemas.openxmlformats.org/officeDocument/2006/relationships/notesSlide" Target="/ppt/notesSlides/notesSlide7.xml" Id="R6de529c0a24e48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5c700c7a74693" /><Relationship Type="http://schemas.openxmlformats.org/officeDocument/2006/relationships/notesSlide" Target="/ppt/notesSlides/notesSlide8.xml" Id="Rdd69e4c1ec614f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9dca8c31f44c9" /><Relationship Type="http://schemas.openxmlformats.org/officeDocument/2006/relationships/notesSlide" Target="/ppt/notesSlides/notesSlide9.xml" Id="R4c2e09ba2e914b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90022d420464d" /><Relationship Type="http://schemas.openxmlformats.org/officeDocument/2006/relationships/notesSlide" Target="/ppt/notesSlides/notesSlide10.xml" Id="R6071771670fd45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556b678a4dcd"/>
          <a:srcRect xmlns:a="http://schemas.openxmlformats.org/drawingml/2006/main" l="0" t="11702" r="0" b="11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85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662A6-7FB8-4BBA-BE63-F44B6568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FE542-9E60-4E8E-825A-BA3830AD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8255B-46DC-476B-A0C9-DA6E142A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E8381-0DD3-4C7D-91C6-1C34F6F0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陈思宇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7EE05-98C5-4F1D-86DA-0EE6855E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B8470-41A3-4298-9FAA-8E12364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239200506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51EA4-FE27-42A5-8E5A-827E561D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E7B7F-D87E-4631-9A03-F0D21A7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电子信息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E0E12-B0C5-4BDA-B673-D817E40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53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D6F70-8CB0-42A9-9025-2EFD0913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38750"/>
            <a:ext cx="214312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秦宏帅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7B1E6-7AFC-496B-A256-5B73BCB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背景图：Image2生成，仅用于答辩视觉背景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1632291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A83C4-483B-42F7-B86F-29AE9B44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0DDB8-E206-4328-AF39-7DE29372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3CAE2-9A01-4FB3-BA7C-C231A8D1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从多串电池组的运行风险到实时管理的必要性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3E0D3-B0AC-4406-BD21-4C33A034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235B5-19D1-4BB7-8948-24C595EA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EF69D-E4DD-4340-9A92-6FF4B47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ED1AA-5705-422A-9981-65A56BEB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多串锂电池组存在单体差异，若缺少实时监测和保护，容易出现过充、过放、过流、过温等问题，影响使用寿命与使用安全。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22F24-EA72-46E9-B6FF-8EE0DEC7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97A40-99E2-4D09-A3D3-3D8809ED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高倍率放电会显著增加温升，徐伟巍等[1]强调温度保护与过流保护必须综合考虑。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7AEFB-AD77-4B26-AA26-1EC95B2B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状态可见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D012B-F1D7-4090-8BD2-DA6265CA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黄新星[2]提出远程监测可弥补本地计算和存储能力不足，说明数据交互是BMS的重要方向。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BCB74-359E-49FC-982E-E2929DC7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143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工程基础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D4029-B5F8-4BAD-922F-099D198F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4667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黄青青等[3]以STM32F103为核心实现大功率电池组管理，验证了本类方案的工程可行性。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7A796-8D71-42EB-9FD1-7FA4CD9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多串成组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2308F-2F07-47E5-834A-7604CA1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3DCEC-4C63-4958-A069-3A5D3164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E0A1D-3BFC-4B16-B056-8E7180E1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实时管理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D009B-F512-4946-9AD2-D9EF6199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161925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课题实现</a:t>
            </a:r>
          </a:p>
        </p:txBody>
      </p: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3431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910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3885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86700" y="56388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BFCCA-D88E-4A9A-8187-BBE1BB0A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DDB2C-308A-4527-A846-82CD9FEE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385673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F1075-E67A-44A1-A7F0-BF7928E8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A41B0-DA25-4841-837A-A5D337F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研究目的与研究意义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08881-19E1-4A0B-8A9A-8BC4F593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以安全控制和工程验证为中心，不做功能堆叠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38EAC-FFA1-4C25-8EA5-36755B90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6394C-FAB3-4C82-B3EC-AAF322F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11DC0-78CC-4C8C-BE69-09290274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19E17-FB78-4929-AF6D-1335DE06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11F88-38C1-436F-A89A-C93F5563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12105-9E5E-4C52-A515-37B045A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采集单体电压、电流和温度，形成可用的运行数据基础。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595F0-B591-46B3-B58C-C8A36722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EA877-78F1-4220-9319-C6561E48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813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结合BQ76940硬件告警与STM32软件阈值，控制充放电MOS。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6E8FA-0D43-4D90-8A83-A3C6D3F9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943A5-1285-418B-A076-A2795987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采用安时积分并配合静置OCV校正，提高SOC可用性。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D4559-A23A-4B65-84B4-01270A8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238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A8295-E755-4E08-ADCD-AE7075D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4191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通过UART连接Python上位机，支持状态显示和命令调试。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330CE-2CB5-4AE6-92B5-6A65F771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1619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85D5B-E12B-4021-B581-538CA02A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DD225-E1B8-4A97-B40A-724D680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降低过充、过放、过流、过温风险，延长电池组寿命。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7B425E-4036-42AA-AA43-816F19F7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学习价值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32974-2C57-4933-AE90-0A5A374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覆盖嵌入式软硬件、I2C通信、FreeRTOS调度与保护策略。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5FD08-0569-4586-98E6-9A1F41E5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2382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E89FA-5805-4E95-938F-ADFD33B0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333375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为同类小规模多串锂电池管理系统提供可复用设计。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04DD3-E8E5-48CB-B27B-D5B3C233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733425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边界说明：CAN、蓝牙、串口屏只作为扩展预留，不计入当前已实现功能范围。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B37CF-4241-41B7-9AB2-19886413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276600" cy="45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目标概括：形成结构清晰、安全边界明确、可在实验平台验证的完整系统。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61C23-6914-4A15-A508-B8172605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E5288-8F25-4DCF-9D68-B70916C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78688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2C677-176D-4EED-A271-635E1521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85EB-5360-478F-89AC-F4C790D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国内外研究现状综述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68823-A8D2-46A8-93C3-36621E76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从系统实现、状态估算、均衡保护三个方向归纳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E90F3-08E0-457F-9643-59B88A88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2B08D-63E1-4666-8882-F6C6A63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38F1B-6310-4CF2-A58C-46F25528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6477000" cy="312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59000"/>
                <a:gridCol w="2159000"/>
                <a:gridCol w="2159000"/>
              </a:tblGrid>
              <a:tr h="495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国内研究现状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国外研究现状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STM32与多串采集保护方案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STM32、LTC6804与物联网交互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安时积分结合OCV与滤波修正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EKF、LSTM与优化算法融合</a:t>
                      </a:r>
                    </a:p>
                  </a:txBody>
                  <a:tcPr marL="91440" marR="91440" marT="45720" marB="45720" anchor="ctr"/>
                </a:tc>
              </a:tr>
              <a:tr h="876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主动均衡、被动均衡与温度保护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拓扑优化与多级安全保护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67826-B80B-4E1C-8A76-1A493F0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AC86C-7C4D-4A9B-90BF-6DD2777D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525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主控、模拟前端、电池组、保护电路与上位机的连接关系。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BB65E-ED76-4F25-97B2-DCFD440C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采集与保护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B297D-49F9-4C3F-8F0A-7E92EFE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单体电压、电流、温度采集，硬件告警与软件阈值判断。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9CF54-0011-4EF5-B2C5-DAAFDFF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SOC估算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A576F-0218-4E14-9DAA-EBF47F5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安时积分、静置约30s后的OCV校正和边界校准。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EEB43-4D9E-4DC3-9EE4-78ED76D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161925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通信与交互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9AA6F-57C6-4571-B186-2643962E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95700"/>
            <a:ext cx="22860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UART命令解析、状态上报和Python上位机显示。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72ADE-4DF4-42EF-97E7-80530C78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研究切入点：在STM32F103C8T6的有限资源下，解决多串采集稳定性、保护响应速度和SOC可验证性之间的平衡问题。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D6E4A-482A-4F74-BAA5-363DD69E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EFF7F-F89F-453D-934B-8307A810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08555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FF875-D28C-4718-A645-C498D37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273DA-36E1-4ACA-B9DE-A22B16EA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研究内容与关键问题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B90AD-1E18-4309-A277-23E2996B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系统架构、安全保护、状态估算三个方向展开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F89D4-92A1-4D06-9875-FFD5671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10704-124E-4634-A9F9-1AEAAE04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8DB09-BD5D-4030-BA49-76EDD09A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F00DC-7DB5-4EA8-91F2-D70F7AB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41910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研究内容与关键问题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05075-74EB-408F-9202-A099BFC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857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系统架构与硬件选型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STM32F103C8T6与BQ76940分工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2B3D4-7E0E-4124-B6F3-1DF6164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2857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数据采集与安全保护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电压、电流、温度与MOS控制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D7BA9-F97A-45C4-9FD7-E03A1BFB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2857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状态估算与交互调试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SOC、SOH、UART与上位机</a:t>
            </a:r>
          </a:p>
        </p:txBody>
      </p: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571750" y="1905000"/>
            <a:ext cx="3524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5905500" y="1905000"/>
            <a:ext cx="1905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1905000"/>
            <a:ext cx="3143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BFEDA-11D3-49B2-ABCF-332619BB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主控与前端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4D444-D280-4381-8048-0AFAFAAB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STM32负责策略，BQ76940负责采集与告警。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6E0BC-7C84-4F41-B1A3-1A733848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E8CEA-7F4E-4944-B6C0-6B84F7E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ALERT通知，阈值判断，MOS执行。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5FE7F-D974-48E2-A5CB-036C4ECE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估算与交互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5E236-BAA6-4689-BD4F-C2311BC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333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安时积分，OCV校正，上位机联调。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BBFB0-B297-474E-88FB-ED6E391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多串采集稳定性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BA0A6-9859-4C1F-B3B3-6CA3B24B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任务调度与资源共享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A1AFB-EC95-4014-9EA2-1881192A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SOC误差累积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45B51-3402-4CD0-A3E3-E96B9B1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保护策略综合设计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FEF35-9AFE-4310-8A32-4B057398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19050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系统联调与验证</a:t>
            </a:r>
          </a:p>
        </p:txBody>
      </p: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575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0485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144000" y="46386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94A988-C1BA-45B6-A971-A63F5C68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关键问题说明：硬件通信、任务协调、算法误差、保护逻辑和联调验证共同决定系统可靠性。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F8ECD-6963-454A-AEDE-3B15DA6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19CC2-9501-4545-95C1-D014B25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590949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8D734-D1C6-461D-A078-C2DA58C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CA8F9-D914-430C-8152-8353698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系统总体方案与硬件选型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C5C48-CDB9-4506-8520-613DF3DA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前端采集、主控策略、执行保护与上位机交互的闭环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6B62D-C887-4884-8983-BB7A9B66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B50C-2A37-4B23-918A-17018923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1FBD7-2B3D-4C21-A77D-CAF89D5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0DA55-DBBD-40C3-AFAB-AC9B15AE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643DE-D12D-4093-AD2D-4967F1B4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525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9串18650锂电池组，提供被管理对象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D4AEC-231E-4FCE-8894-BD675B26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1EB86-20EC-40DD-9E65-65BA426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BQ76940采集电压、电流、温度并给出硬件告警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FA407-233C-438B-B825-1D1A2BB3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BE7BC-882B-4C15-BC2B-A751D2A2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STM32读取数据，完成阈值判断、SOC估算与命令交互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5ABEE-404A-49DE-A830-7AEFAECD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47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86BC3-ACCB-4361-8578-C51C73BA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81400"/>
            <a:ext cx="409575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UART连接Python上位机，完成状态显示与调试命令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3A5DF-5EA2-4263-8CFF-477C473E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AE044-7FAC-4148-B2CC-3868B493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25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E58B6-3B15-476D-A7AA-81EAB25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3525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外设资源较完整，实时性好，资料和成本适合课题验证。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73E12-A25C-4144-BAAA-AC22905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187D7-5683-4727-AB7E-68F82C6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6E6B4-504A-4ADF-9A57-E305B4F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面向多串电池，支持采集、硬件告警和MOS控制。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18C02-6CC0-4596-932F-489B88D9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D3770-B928-487E-8392-1D186753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726A0-3364-42F4-96C3-DB4B2EC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3845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结构简单、易于验证；主动均衡效率高但结构复杂。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3F8F1-881E-4D97-983D-C5D95D6D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9525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7E669-9F23-4BAE-8270-A3A99D92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1400"/>
            <a:ext cx="138112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29D33-0E4E-4DFA-B491-992C9D0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2505075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当前连接Python上位机；CAN等通信作为扩展方向。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e2e35bf90481c"/>
          <a:stretch xmlns:a="http://schemas.openxmlformats.org/drawingml/2006/main"/>
        </p:blipFill>
        <p:spPr>
          <a:xfrm xmlns:a="http://schemas.openxmlformats.org/drawingml/2006/main">
            <a:off x="8875241" y="4457700"/>
            <a:ext cx="1109019" cy="12573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837EC-8CC8-4E22-BFCF-D144F149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图1 系统框图　来源：开题报告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E8387-8CA0-4010-96FD-F9CB2C0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3340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安全控制链路：BQ76940采集与硬件告警，STM32完成数据读取和保护判断，充放电MOS执行动作。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2F33C-30B6-4985-8624-A7CED0A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F3E8D-435A-44F0-A3D5-339525E1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826745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3A3852-170C-4151-A038-1F8E538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E06F8-68F5-4EF7-86FC-E4D79E0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197D2-11DC-45D4-BB62-913F3F01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FreeRTOS任务调度、共享资源保护与数据闭环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3FED9-8013-49AB-8907-86840AA4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CAA20-D663-4774-8CBE-30702FC6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B491B-9A7E-4CAE-B84C-68660245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5294A-137E-4819-85B6-32923575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2381250" cy="7048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977D6-BC1D-47AC-8C33-F70F1E4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1905000" cy="7048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只发送任务通知，不执行I2C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AB1FD-1E8C-4D23-807C-86CA821E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52550"/>
            <a:ext cx="1905000" cy="7048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71E1F-1FBC-4071-8FAB-4511AF2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52550"/>
            <a:ext cx="1714500" cy="7048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45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105150" y="1704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62850" y="1704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61D53-D2A9-48F1-87E6-5107B1C3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571625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945FD-A4CE-4B61-B585-E5C3F73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81250"/>
            <a:ext cx="1571625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硬件告警与软件阈值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1CF2F-BB82-47E7-8082-1AD8D00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571625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81CD3-89EC-4A50-BA14-9B6F0650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1571625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7523E-95DB-47DB-B2E3-727AC8A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571625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295525" y="26765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33850" y="26765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72175" y="26765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10500" y="26765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B1E3F-B534-4B11-8473-3E09CA15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95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中断边界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072B4-176E-493B-B171-3A92BB8B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476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ALERT中断服务程序只发送任务通知，寄存器读取、故障解析和状态更新在任务上下文完成。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C7E9A6-F38E-4668-B2BB-D4C4D39A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95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资源保护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843F7-DA06-4028-BA37-0DBB8098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48075"/>
            <a:ext cx="476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采样流程与串口命令都可能访问BQ76940，通过I2C互斥锁避免并发冲突。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9C2FA-3E48-425F-AA10-11AF9249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95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D00A4-70FA-4D11-87E6-14B8CFEE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476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安时积分作为主方法，静置约30s后结合OCV校正，并用满电、空电边界校准。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C79FB-94CB-442A-8391-4191B067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95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F6757-9217-471F-BDE4-03CAF358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81525"/>
            <a:ext cx="4762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Python tkinter界面显示关键状态，接收命令后由STM32解析并执行。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2276425574ac7"/>
          <a:stretch xmlns:a="http://schemas.openxmlformats.org/drawingml/2006/main"/>
        </p:blipFill>
        <p:spPr>
          <a:xfrm xmlns:a="http://schemas.openxmlformats.org/drawingml/2006/main">
            <a:off x="6910021" y="3238500"/>
            <a:ext cx="4315558" cy="18097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8B260-3BFB-46BC-AFDF-6D35AEA2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图3 软件任务结构框图　来源：开题报告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3163E-0A59-402A-9094-CC0EB38E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5334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软件闭环：从采集判断到上位机反馈，任务之间通过通知、互斥锁和状态变量衔接。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257E4-7D38-4C86-AFD2-35E16398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003AAB-781D-4DCB-AC14-27CD1CE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436962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B25DBE-CF7D-45EB-A311-A99F7F0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AFA9F-6089-4564-B55C-671AB93D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85994-339A-46EC-989B-D643BDA9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从需求分析到联调验证，测试结果反哺参数修正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E1C00-8100-448C-B221-8EE5B6C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FE6AE-E1D6-42CE-A6F6-85AA3C7D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D406-B0A6-421F-B337-F2C280FC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59B16-C9C0-4505-8C6E-7E964723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确定9串电池组、保护阈值与交互范围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AA83C-3BFF-4780-A700-E9C6D0CF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完成总体架构、任务划分与硬件接口设计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55AD7-DD83-4245-A326-FE2E62AC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完成驱动、SOC估算、通信与上位机程序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CB2CF-CD1F-40D6-BF5C-CAAD3FA6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验证采集、保护、SOC与交互功能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04842-15B8-4050-AFC3-867F1F4A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52550"/>
            <a:ext cx="19526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整理测试数据并撰写毕业设计论文</a:t>
            </a:r>
          </a:p>
        </p:txBody>
      </p: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765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802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48775" y="17240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4870F-4032-4D60-B558-B847D19A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文献研究法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A3080-DDF0-4F43-BC90-7533098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查阅BMS、SOC估算、均衡策略与STM32实现文献，确定技术路线。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82C59-B702-4603-ACAE-F21A9D0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模块设计法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1C91F-5857-477B-9A23-B1C3FE8F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5755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按主控、模拟前端、保护电路、通信和上位机划分设计单元。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18089-0035-4846-95F2-3916081C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23825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实验验证法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BA378-A235-4DE6-A341-B61425D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4191000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从寄存器读取、告警响应到保护动作逐级验证，记录测试数据。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D018E-638A-4FBD-9B9D-FDD1EAA8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2026.06.25-07.02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61330-8AA5-4F2F-BCCC-4A69DA0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622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40F7E-20FE-4E44-B4DE-3DD1155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2026.07.03-07.16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34854-BCF7-4074-BE0D-38C50B26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860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任务书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B10F7-E03A-40AA-8926-6DC0ADE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2026.07.17-09.22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CF35F-E5B8-411D-BF24-B933376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099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D63FB-BC80-46F7-94F7-4001F834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40D05E-5267-4DE6-8203-0D4C069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337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7C2BD-D77B-4626-9E00-61510CCF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2026.09.24-10.19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73FFE7-9F94-4B9A-8DC0-9059F65E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576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8EE849-2385-4AD2-9E77-57077A39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2026.10.20-11.01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59E52-2679-4835-A6EE-F9A07B20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814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D1C1C8-8C1B-424A-9124-50CE388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2026.11.02-11.30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2BA53A-351C-496D-8D11-6AC9F98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053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撰写毕业论文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48B6F1-034F-4FCC-BE2E-C0D3D066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2026.12.01-12.04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5464D8-2C61-4A1C-8519-A75D77B9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291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校内评审及修改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D69C86-57EF-4059-8B4E-8EBE12D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2026.12.05-12.22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BFA594-357D-4C80-8BF6-B63DD98D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95300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论文送审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AB4119-17E0-4AD3-8C59-01200F8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76850"/>
            <a:ext cx="185737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2C2A00-38E4-4610-9925-5BDBA2D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276850"/>
            <a:ext cx="27146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1467B1-E4FD-4007-96DB-4DA86935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技术路线闭环：测试阶段发现的采样偏差、响应延迟或估算误差，会回溯到驱动、参数与软件逻辑进行修正。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1379C0-3E6C-4668-808C-EA907E9A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8E3225-962A-4C81-867D-33093C18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1944218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A6515-84D6-4229-8AD4-DE64136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1435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CA0B-2085-4960-943D-7C79F32F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1BD7-1CD8-4D47-BA99-B9B694A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4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以拟验证方式表述，不虚构未取得的误差数值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F45AC-5F79-4959-B706-F0CFBC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55245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88451-EA59-40E8-BCDA-DEEFBB4A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6B782-86BA-435D-9287-5F536F9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7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9D31B-5D88-47E7-9844-0DEB227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4DB8F-988D-43F2-9F0E-DF783B4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52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验证BQ76940初始化、寄存器读取、数据刷新与ALERT响应。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3F33B-61EE-4C7C-9355-CCAE3C5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2DD8A-FE3E-4901-B4F5-629E5C05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验证过充、过放、过流、过温阈值触发后充放电MOS的动作。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7031E-FB5A-4AFF-A99E-0B1F5056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48DDD-4208-46CF-A372-588E7C5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验证安时积分、静置OCV校正和满电、空电边界校准效果。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C469F-F514-4075-94B2-E159EE36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交互与显示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3D0B9-36E5-45E0-956E-75A570AE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验证UART命令解析、状态上报和Python上位机显示刷新。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2D293-3FA1-4320-82C3-B629DFDF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运行稳定性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3A9D-F695-4305-BE82-3A87A48C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476250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验证连续运行、异常恢复和均衡接口工作状态。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080C1-538A-48E2-BF45-0111F1AF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1428750" cy="571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1E658-ADB9-45B6-8646-38C6308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525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完成多串锂电池管理系统软硬件设计。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4C91D-48DF-485B-B8B1-07673678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实现状态采集、保护判断、SOC估算与上位机交互。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EDB12-1BF5-41B1-BE61-8FD14D7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4193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形成测试记录、测试数据和毕业设计论文。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5D3BF-2F62-49B2-A182-E135F87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40386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验证重点：采样稳定性、保护链路及时性、SOC校正可用性和上位机交互连续性。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5F3AA-30B8-4DDC-BBA5-18594F2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测试表述采用拟验证或计划验证，硬件仍处于联调阶段，不宣称全部功能已经完成验证。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CB563-6499-4B07-9C72-B7BD5A5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341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34FC8-8B7E-49C1-920B-31C6550D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资料来源：开题报告与项目资料</a:t>
            </a:r>
          </a:p>
        </p:txBody>
      </p:sp>
    </p:spTree>
    <p:extLst>
      <p:ext uri="{BB962C8B-B14F-4D97-AF65-F5344CB8AC3E}">
        <p14:creationId xmlns:p14="http://schemas.microsoft.com/office/powerpoint/2010/main" val="796796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7D030-5080-40B2-994C-94154E9B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609600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汇报结束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B115A-9519-440A-BED5-2BCBCB53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72390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CE8F0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EA8D6-557F-45A2-A4CD-A348DABB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4953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659001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2026-09-21T09:54:25.6740000Z</dcterms:created>
  <dcterms:modified xsi:type="dcterms:W3CDTF">2026-09-21T09:54:25.6740000Z</dcterms:modified>
</coreProperties>
</file>