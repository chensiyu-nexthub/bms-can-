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502bee818e4ea4" /><Relationship Type="http://schemas.openxmlformats.org/officeDocument/2006/relationships/extended-properties" Target="/docProps/app.xml" Id="Rb795f23d77f24d26" /><Relationship Type="http://schemas.openxmlformats.org/officeDocument/2006/relationships/officeDocument" Target="/ppt/presentation.xml" Id="Rf0f14b5d105d4e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1bb2b19b504d64"/>
  </p:sldMasterIdLst>
  <p:notesMasterIdLst>
    <p:notesMasterId xmlns:r="http://schemas.openxmlformats.org/officeDocument/2006/relationships" r:id="R02821b64a2264b6f"/>
  </p:notesMasterIdLst>
  <p:sldIdLst>
    <p:sldId xmlns:r="http://schemas.openxmlformats.org/officeDocument/2006/relationships" id="256" r:id="Rdbd6eb023c4c42c1"/>
    <p:sldId xmlns:r="http://schemas.openxmlformats.org/officeDocument/2006/relationships" id="257" r:id="Rcaa42b6d27934993"/>
    <p:sldId xmlns:r="http://schemas.openxmlformats.org/officeDocument/2006/relationships" id="258" r:id="Ra2c066012c05473a"/>
    <p:sldId xmlns:r="http://schemas.openxmlformats.org/officeDocument/2006/relationships" id="259" r:id="R793de3e4bdca4aa7"/>
    <p:sldId xmlns:r="http://schemas.openxmlformats.org/officeDocument/2006/relationships" id="260" r:id="Rebcaccae146c4c7b"/>
    <p:sldId xmlns:r="http://schemas.openxmlformats.org/officeDocument/2006/relationships" id="261" r:id="Rd8d99c1358ee4b48"/>
    <p:sldId xmlns:r="http://schemas.openxmlformats.org/officeDocument/2006/relationships" id="262" r:id="Ree4f085669384b0a"/>
    <p:sldId xmlns:r="http://schemas.openxmlformats.org/officeDocument/2006/relationships" id="263" r:id="R371e49a335a84243"/>
    <p:sldId xmlns:r="http://schemas.openxmlformats.org/officeDocument/2006/relationships" id="264" r:id="R16e10f29ad4f4948"/>
    <p:sldId xmlns:r="http://schemas.openxmlformats.org/officeDocument/2006/relationships" id="265" r:id="R869b939b3ced48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f08e6586524321" /><Relationship Type="http://schemas.openxmlformats.org/officeDocument/2006/relationships/slideMaster" Target="/ppt/slideMasters/slideMaster1.xml" Id="R5c1bb2b19b504d64" /><Relationship Type="http://schemas.openxmlformats.org/officeDocument/2006/relationships/notesMaster" Target="/ppt/notesMasters/notesMaster1.xml" Id="R02821b64a2264b6f" /><Relationship Type="http://schemas.openxmlformats.org/officeDocument/2006/relationships/presProps" Target="/ppt/presProps.xml" Id="R149d54a3c66c42be" /><Relationship Type="http://schemas.openxmlformats.org/officeDocument/2006/relationships/tableStyles" Target="/ppt/tableStyles.xml" Id="R105064bd146d45d4" /><Relationship Type="http://schemas.openxmlformats.org/officeDocument/2006/relationships/slide" Target="/ppt/slides/slide1.xml" Id="Rdbd6eb023c4c42c1" /><Relationship Type="http://schemas.openxmlformats.org/officeDocument/2006/relationships/slide" Target="/ppt/slides/slide2.xml" Id="Rcaa42b6d27934993" /><Relationship Type="http://schemas.openxmlformats.org/officeDocument/2006/relationships/slide" Target="/ppt/slides/slide3.xml" Id="Ra2c066012c05473a" /><Relationship Type="http://schemas.openxmlformats.org/officeDocument/2006/relationships/slide" Target="/ppt/slides/slide4.xml" Id="R793de3e4bdca4aa7" /><Relationship Type="http://schemas.openxmlformats.org/officeDocument/2006/relationships/slide" Target="/ppt/slides/slide5.xml" Id="Rebcaccae146c4c7b" /><Relationship Type="http://schemas.openxmlformats.org/officeDocument/2006/relationships/slide" Target="/ppt/slides/slide6.xml" Id="Rd8d99c1358ee4b48" /><Relationship Type="http://schemas.openxmlformats.org/officeDocument/2006/relationships/slide" Target="/ppt/slides/slide7.xml" Id="Ree4f085669384b0a" /><Relationship Type="http://schemas.openxmlformats.org/officeDocument/2006/relationships/slide" Target="/ppt/slides/slide8.xml" Id="R371e49a335a84243" /><Relationship Type="http://schemas.openxmlformats.org/officeDocument/2006/relationships/slide" Target="/ppt/slides/slide9.xml" Id="R16e10f29ad4f4948" /><Relationship Type="http://schemas.openxmlformats.org/officeDocument/2006/relationships/slide" Target="/ppt/slides/slide10.xml" Id="R869b939b3ced48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8327eb90fa048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ool Blue Gray">
      <a:dk1>
        <a:srgbClr val="000000"/>
      </a:dk1>
      <a:lt1>
        <a:srgbClr val="FFFFFF"/>
      </a:lt1>
      <a:dk2>
        <a:srgbClr val="1E293B"/>
      </a:dk2>
      <a:lt2>
        <a:srgbClr val="E2E8F0"/>
      </a:lt2>
      <a:accent1>
        <a:srgbClr val="1D4ED8"/>
      </a:accent1>
      <a:accent2>
        <a:srgbClr val="0F766E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1D4ED8"/>
      </a:hlink>
      <a:folHlink>
        <a:srgbClr val="7C3AED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ool Blue Gra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872f8e0c3f4bcb" /><Relationship Type="http://schemas.openxmlformats.org/officeDocument/2006/relationships/notesMaster" Target="/ppt/notesMasters/notesMaster1.xml" Id="R4f2ef181da0b44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8d80c26b7c4315" /><Relationship Type="http://schemas.openxmlformats.org/officeDocument/2006/relationships/notesMaster" Target="/ppt/notesMasters/notesMaster1.xml" Id="Reb5ae75c6c084a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3e224a064d4f37" /><Relationship Type="http://schemas.openxmlformats.org/officeDocument/2006/relationships/notesMaster" Target="/ppt/notesMasters/notesMaster1.xml" Id="R389a248326c245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8013630c794acf" /><Relationship Type="http://schemas.openxmlformats.org/officeDocument/2006/relationships/notesMaster" Target="/ppt/notesMasters/notesMaster1.xml" Id="R0d062aca9fc44a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d3f0a11f144348" /><Relationship Type="http://schemas.openxmlformats.org/officeDocument/2006/relationships/notesMaster" Target="/ppt/notesMasters/notesMaster1.xml" Id="R425b39351dd443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573ccca2fc41f3" /><Relationship Type="http://schemas.openxmlformats.org/officeDocument/2006/relationships/notesMaster" Target="/ppt/notesMasters/notesMaster1.xml" Id="Rfcce7f2f7fd345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b00ad0206049ed" /><Relationship Type="http://schemas.openxmlformats.org/officeDocument/2006/relationships/notesMaster" Target="/ppt/notesMasters/notesMaster1.xml" Id="R88f840343a7340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9d98c3e2c4475a" /><Relationship Type="http://schemas.openxmlformats.org/officeDocument/2006/relationships/notesMaster" Target="/ppt/notesMasters/notesMaster1.xml" Id="Re6f6fa63230d46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4c2434f387411a" /><Relationship Type="http://schemas.openxmlformats.org/officeDocument/2006/relationships/notesMaster" Target="/ppt/notesMasters/notesMaster1.xml" Id="Ra13a1706e59448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942be935c34dea" /><Relationship Type="http://schemas.openxmlformats.org/officeDocument/2006/relationships/notesMaster" Target="/ppt/notesMasters/notesMaster1.xml" Id="Ra67779af878b47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封面背景由本项目资料整理生成。答辩时先介绍课题名称、专业与指导教师。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背景页说明选题来自多串锂电池的实际安全需求，不强调产品化，而强调验证型BMS主线。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重点说明本课题目标是验证型系统主线，避免把CAN、蓝牙等扩展功能说成已实现。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讲意义时将安全价值、学习价值和工程参考价值分层说明，避免空泛表述。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现状页只概括趋势，具体文献结论已在开题报告中展开。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这页是全局主链路，重点区分数据流和安全控制链路。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选型页说明为什么合适，不写成所有硬件均已完整验证成功。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重点讲解任务优先级、共享资源保护和ALERT处理边界。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测试表述以拟验证为主，不宣称当前全部完成。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收束页强调方法与路线，并按学校进度安排展示后续计划。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88d7d5bcd4834" /><Relationship Type="http://schemas.openxmlformats.org/officeDocument/2006/relationships/theme" Target="/ppt/theme/theme1.xml" Id="Rd5a2480a95ee41f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988d7d5bcd483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c3883c07a45a8" /><Relationship Type="http://schemas.openxmlformats.org/officeDocument/2006/relationships/image" Target="/ppt/media/image.png" Id="R08d0aec86b664579" /><Relationship Type="http://schemas.openxmlformats.org/officeDocument/2006/relationships/notesSlide" Target="/ppt/notesSlides/notesSlide1.xml" Id="R546209b6cc2f49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f3bcad8b8486d" /><Relationship Type="http://schemas.openxmlformats.org/officeDocument/2006/relationships/notesSlide" Target="/ppt/notesSlides/notesSlide2.xml" Id="Ra86372d143c447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d1b96d44e4b2a" /><Relationship Type="http://schemas.openxmlformats.org/officeDocument/2006/relationships/notesSlide" Target="/ppt/notesSlides/notesSlide3.xml" Id="Rda0c2f6ac7734d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6708a81d44851" /><Relationship Type="http://schemas.openxmlformats.org/officeDocument/2006/relationships/notesSlide" Target="/ppt/notesSlides/notesSlide4.xml" Id="R0d95c8baf7d849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1e234fd2e49f5" /><Relationship Type="http://schemas.openxmlformats.org/officeDocument/2006/relationships/notesSlide" Target="/ppt/notesSlides/notesSlide5.xml" Id="R518a10f4f25a4b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c0f33b2734084" /><Relationship Type="http://schemas.openxmlformats.org/officeDocument/2006/relationships/notesSlide" Target="/ppt/notesSlides/notesSlide6.xml" Id="R2aa8490a536e42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5e374aafd4650" /><Relationship Type="http://schemas.openxmlformats.org/officeDocument/2006/relationships/image" Target="/ppt/media/image2.png" Id="Rc2095e2afc3c46fa" /><Relationship Type="http://schemas.openxmlformats.org/officeDocument/2006/relationships/notesSlide" Target="/ppt/notesSlides/notesSlide7.xml" Id="R0831ec4dc1004d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9b49ecafa490d" /><Relationship Type="http://schemas.openxmlformats.org/officeDocument/2006/relationships/notesSlide" Target="/ppt/notesSlides/notesSlide8.xml" Id="R79864cffc8484c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8096aed5c4fc2" /><Relationship Type="http://schemas.openxmlformats.org/officeDocument/2006/relationships/notesSlide" Target="/ppt/notesSlides/notesSlide9.xml" Id="R709b1ad7df9b48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76261dc6b4b48" /><Relationship Type="http://schemas.openxmlformats.org/officeDocument/2006/relationships/notesSlide" Target="/ppt/notesSlides/notesSlide10.xml" Id="R03a65d0cc4a845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d0aec86b66457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D82D2-766F-4A92-9A0C-7F24BA6B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2EBCF-5881-4B6E-976E-C7BA1C50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95C8E-3AE9-4323-972E-E4A5805A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F94A9-D172-44D9-96A9-B8BD445D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75">
                <a:solidFill>
                  <a:srgbClr val="DBE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DBEAFE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6116D-50AC-46C4-B618-D41DE5BD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杭州电子科技大学信息工程学院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1F07F-EBDF-45C8-BE64-A28F92CE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姓名：＿＿＿＿＿＿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7DC465-3762-41DF-B37B-DA4EAC71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67125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学号：＿＿＿＿＿＿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A60445-AD08-4CE0-B78D-F14E7086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专业：＿＿＿＿＿＿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FFA21-4CB7-478F-9590-492CFB48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24325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指导教师：＿＿＿＿＿＿</a:t>
            </a:r>
          </a:p>
        </p:txBody>
      </p:sp>
    </p:spTree>
    <p:extLst>
      <p:ext uri="{BB962C8B-B14F-4D97-AF65-F5344CB8AC3E}">
        <p14:creationId xmlns:p14="http://schemas.microsoft.com/office/powerpoint/2010/main" val="3017184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F68352-7D3A-42CF-BF00-BA9273F1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研究背景与选题依据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FD95B-E693-4409-B7FB-9D925DB7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A7219-74C2-4045-B821-9FAB85A6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533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多串锂电池已广泛用于便携设备、储能装置和小型动力系统。电池组在充放电过程中会出现单体电压不一致、温度分布不均和过流风险，仅依靠人工检测难以满足实时管理要求。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95BCD-7D73-46DA-A13F-4587AE35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533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电池管理系统可持续采集电压、电流和温度，根据状态变化执行保护动作，并在异常发生前给出提示。围绕多串锂电池设计一套结构清晰、功能可验证的BMS，具有明确的应用需求和研究价值。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C3AEE-0A7F-4C96-834D-EF254B00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应用需求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储能与小型动力系统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5703E-0C37-41E7-B5EC-B91D88EA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287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安全风险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过充、过放、过流、过温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17C16-CCEC-4800-8132-B89AFB59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管理需求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实时采集与保护控制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D02B7-4A92-4B0E-9BAF-BC715150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622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研究价值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嵌入式软硬件闭环验证</a:t>
            </a:r>
          </a:p>
        </p:txBody>
      </p: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763000" y="1857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2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763000" y="3190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23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287000" y="228600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8353C-087D-4C51-9B4B-87734ADF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资料来源：项目开题报告</a:t>
            </a:r>
          </a:p>
        </p:txBody>
      </p:sp>
    </p:spTree>
    <p:extLst>
      <p:ext uri="{BB962C8B-B14F-4D97-AF65-F5344CB8AC3E}">
        <p14:creationId xmlns:p14="http://schemas.microsoft.com/office/powerpoint/2010/main" val="9854566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07D04A-3F4F-4662-AE69-6AD31133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研究目的与预期目标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3A167-3CF8-4941-8C03-56C045BC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3A43B-8B52-447E-972D-A024321C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5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研究目的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0AF13-0E9C-4949-856E-CAAEDB4F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设计一套基于STM32F103C8T6与BQ76940的多串锂电池管理系统，完成状态采集、安全保护、SOC估算、基础均衡接口和上位机调试，形成可运行的嵌入式软硬件方案。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9FA97-3756-4746-A393-43DCACFE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95400"/>
            <a:ext cx="514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完成整体方案与软硬件功能划分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81DB5-F7A6-4468-9AFF-74C97B8E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514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实现电压、电流、温度周期采集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68ADE1-0848-4233-ACB9-437817ED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514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建立软硬件结合的保护控制机制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F21F5-50B9-41FA-BCF5-3988A033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514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完成SOC估算与OCV校正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D2868-6DD7-4B29-B665-CE510121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19600"/>
            <a:ext cx="514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实现UART命令与Python上位机调试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579D7D-B5FA-4E24-A33A-060B33D5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资料来源：项目开题报告</a:t>
            </a:r>
          </a:p>
        </p:txBody>
      </p:sp>
    </p:spTree>
    <p:extLst>
      <p:ext uri="{BB962C8B-B14F-4D97-AF65-F5344CB8AC3E}">
        <p14:creationId xmlns:p14="http://schemas.microsoft.com/office/powerpoint/2010/main" val="16599077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1F9F2-CB46-4426-95B6-5213C872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研究意义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B9CBC-2766-48B2-89C0-D0D74690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31FAC-9B6C-4A2C-B200-7DF5794E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工程意义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减少过充、过放和过热风险，延长电池组使用寿命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FBB24-D3A7-441A-88BC-93818B8C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3350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学习意义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覆盖嵌入式软硬件、通信、RTOS和电池保护策略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6B6A9F-F5CB-404F-8E62-F6EDDC90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33350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应用参考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为同类多串锂电池管理系统设计提供可借鉴方案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0AB21-D9D9-423B-9D45-28147B78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本课题采用STM32F103C8T6作为主控，配合BQ76940完成电池信息采集与保护控制。方案成本可控，开发流程完整，能够体现嵌入式实时系统在资源调度与共享资源保护中的应用。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1691D-40B3-475B-B24E-28872ED5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SOC估算结合安时积分与静置开路电压校正，用于降低长期计算的累积误差。相比单纯依赖芯片保护的传统方案，软件与硬件结合更利于分析电池运行规律，也为后续算法改进留下空间。</a:t>
            </a:r>
          </a:p>
        </p:txBody>
      </p:sp>
      <p:cxnSp>
        <p:nvCxnSpPr>
          <p:cNvPr id="18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038600" y="20478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715250" y="20478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E47B40-25EC-4AE5-B944-3F0CB8E4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资料来源：项目开题报告</a:t>
            </a:r>
          </a:p>
        </p:txBody>
      </p:sp>
    </p:spTree>
    <p:extLst>
      <p:ext uri="{BB962C8B-B14F-4D97-AF65-F5344CB8AC3E}">
        <p14:creationId xmlns:p14="http://schemas.microsoft.com/office/powerpoint/2010/main" val="16420998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3936CF-ED31-4F88-ADDC-94E9E54B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国内外研究现状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B48EE-48C9-4AA9-8E77-2D450AB7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7632B-525F-4DF3-8DA1-9C837CBE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3429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国内研究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面向安全保护、SOC估算、均衡控制与具体应用场景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73E1C-F1E7-4E18-A74F-A9402811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333500"/>
            <a:ext cx="3429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国外研究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硬件架构、状态估算、主动均衡拓扑与物联网集成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4FEEF-8E53-4690-90A7-0F386BD3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48000"/>
            <a:ext cx="342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共同趋势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保护策略、估计算法与多任务系统设计不断融合</a:t>
            </a:r>
          </a:p>
        </p:txBody>
      </p:sp>
      <p:cxnSp>
        <p:nvCxnSpPr>
          <p:cNvPr id="16" name=""/>
          <p:cNvCxnSpPr>
            <a:stCxn xmlns:a="http://schemas.openxmlformats.org/drawingml/2006/main" id="3" idx="2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324100" y="2571750"/>
            <a:ext cx="196215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17" name=""/>
          <p:cNvCxnSpPr>
            <a:stCxn xmlns:a="http://schemas.openxmlformats.org/drawingml/2006/main" id="4" idx="2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7715250" y="2571750"/>
            <a:ext cx="196215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436BA-1F25-4C74-912F-FB7B3330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国内文献关注具体应用中的温度保护、远程监控和SOC算法改进；国外文献在主动均衡拓扑、滤波与数据驱动融合、STM32与专用AFE集成方面有较多探索。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FBBF8B-E21D-4094-B85E-3FE642FC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已有研究为系统架构和算法选择提供依据，但面向STM32平台的工程实现仍需处理采样时序、共享资源调度和保护响应等约束。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01C46-4FC5-4741-A79C-44AC32D4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资料来源：开题报告参考文献[1]至[12]</a:t>
            </a:r>
          </a:p>
        </p:txBody>
      </p:sp>
    </p:spTree>
    <p:extLst>
      <p:ext uri="{BB962C8B-B14F-4D97-AF65-F5344CB8AC3E}">
        <p14:creationId xmlns:p14="http://schemas.microsoft.com/office/powerpoint/2010/main" val="11118918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4A880B-7212-425E-AE70-5633D233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系统总体方案与数据流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22505-15A0-4D27-BB30-D4A8ED26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CE8B0-0C18-410C-97F3-0BBADEE6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71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9串18650锂电池组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0AE35-C103-4FAD-8474-77D7FC88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24000"/>
            <a:ext cx="171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BQ76940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采集与硬件告警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1DF5D-DC1E-4E22-A21D-63B16378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524000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STM32F103C8T6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数据处理与策略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4463E-EA9C-40BE-B0DF-41B56860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24000"/>
            <a:ext cx="1428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UART通信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61AAD-3DDF-4474-BECC-E71CA680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Python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tkinter上位机</a:t>
            </a:r>
          </a:p>
        </p:txBody>
      </p:sp>
      <p:cxnSp>
        <p:nvCxnSpPr>
          <p:cNvPr id="25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324100" y="19050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2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476750" y="19050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2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724650" y="19050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2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496300" y="19050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1B0DED-3732-498F-8877-0CAB10F9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33750"/>
            <a:ext cx="3619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安全控制链路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保护优先于显示与命令交互</a:t>
            </a:r>
          </a:p>
        </p:txBody>
      </p:sp>
      <p:cxnSp>
        <p:nvCxnSpPr>
          <p:cNvPr id="30" name=""/>
          <p:cNvCxnSpPr>
            <a:stCxn xmlns:a="http://schemas.openxmlformats.org/drawingml/2006/main" id="5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5819775" y="2286000"/>
            <a:ext cx="180975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31" name=""/>
          <p:cNvCxnSpPr>
            <a:stCxn xmlns:a="http://schemas.openxmlformats.org/drawingml/2006/main" id="12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H="1" flipV="1">
            <a:off x="3619500" y="2286000"/>
            <a:ext cx="238125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0D803F-5CFE-4CA1-A80C-1D72EC01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数据流：电压、电流、温度由BQ76940采集，STM32通过软件I2C读取后完成阈值判断、SOC更新和状态整理，再经UART上传至上位机显示。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9154BB-F0C8-4144-933C-78B57DD8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62500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控制流：BQ76940提供硬件告警，ALERT通知STM32，软件结合阈值判断风险等级，并通过充放电MOS执行保护。CAN、蓝牙、串口屏仅作为扩展预留。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200148-9187-4A45-B55E-3D2FAB53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资料来源：项目开题报告研究方案与总体设计</a:t>
            </a:r>
          </a:p>
        </p:txBody>
      </p:sp>
    </p:spTree>
    <p:extLst>
      <p:ext uri="{BB962C8B-B14F-4D97-AF65-F5344CB8AC3E}">
        <p14:creationId xmlns:p14="http://schemas.microsoft.com/office/powerpoint/2010/main" val="17092998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45C234-08D2-49CB-8027-B68B0CF6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硬件选型与模块设计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EF670E-3C25-47E5-ABD5-BA657E0B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1C4AE-2179-428F-8AAC-8350532E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4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主控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B4AE6-97F7-4B3C-8C71-F5D1B378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285875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STM32F103C8T6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868B6-DE23-4AC3-8709-D93E4E83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285875"/>
            <a:ext cx="457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外设资源、实时性、资料成熟度和成本均衡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F00F0-6B0A-433A-9DDB-8097EB98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104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模拟前端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73B7B-FE2B-4D1D-90F1-33772923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14575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BQ76940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FEC43-CB42-4A9E-821E-E9B7B6D2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14575"/>
            <a:ext cx="457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支持多串采集、硬件告警、MOS控制和被动均衡资源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A16736-D9FC-4A6E-9855-5A7106A0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04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均衡方式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BCE751-8CDE-4E1E-AFBC-05C280F3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43275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被动均衡接口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94315-D7DD-4DB3-A066-79D40A11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43275"/>
            <a:ext cx="457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结构简单、成本可控，主动均衡效率高但复杂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F093F1-6D03-4A51-B264-91706B3F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104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通信方式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FDBC52-8A43-481E-BE66-D900854F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71975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7E1116-5393-4753-8978-05DC317F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71975"/>
            <a:ext cx="457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当前连接Python上位机，CAN等作为扩展方向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95e2afc3c46fa"/>
          <a:stretch xmlns:a="http://schemas.openxmlformats.org/drawingml/2006/main"/>
        </p:blipFill>
        <p:spPr>
          <a:xfrm xmlns:a="http://schemas.openxmlformats.org/drawingml/2006/main">
            <a:off x="8810625" y="2073767"/>
            <a:ext cx="2714625" cy="208181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B5182-0914-43F7-A08C-1AF7138C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02920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7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图片来源：项目资料BQ769X0应用资料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B561A9-47DB-4009-BD9A-15113703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硬件仍处于联调阶段，软件I2C读取BQ76940的稳定性、上拉电阻、唤醒流程和寄存器读取需要后续验证。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243E44-F6E5-4B69-9E60-4C8A63FD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资料来源：项目开题报告硬件选型与模块设计</a:t>
            </a:r>
          </a:p>
        </p:txBody>
      </p:sp>
    </p:spTree>
    <p:extLst>
      <p:ext uri="{BB962C8B-B14F-4D97-AF65-F5344CB8AC3E}">
        <p14:creationId xmlns:p14="http://schemas.microsoft.com/office/powerpoint/2010/main" val="20972074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43F6AB-412E-4C7E-81DC-FED9D605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软件设计与任务流程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93119-4B70-4A98-A068-695D5974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C7CBEE-0B64-499D-8E7C-01BD32D6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33500"/>
            <a:ext cx="2762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BMS_Task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高优先级，500ms周期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可由ALERT通知唤醒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19A8D-3692-407F-A1A3-B06DAF5C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33500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UART_Task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低优先级，50ms轮询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解析串口命令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BC5F4-1E7E-4CAA-BB17-9B640608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3335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ALERT中断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只发送任务通知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49ED3-482C-4A41-95BA-181C7BCB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335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I2C互斥锁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保护共享BQ76940访问</a:t>
            </a:r>
          </a:p>
        </p:txBody>
      </p:sp>
      <p:cxnSp>
        <p:nvCxnSpPr>
          <p:cNvPr id="28" name=""/>
          <p:cNvCxnSpPr>
            <a:stCxn xmlns:a="http://schemas.openxmlformats.org/drawingml/2006/main" id="5" idx="2"/>
            <a:endCxn xmlns:a="http://schemas.openxmlformats.org/drawingml/2006/main" id="3" idx="0"/>
          </p:cNvCxnSpPr>
          <p:nvPr/>
        </p:nvCxnSpPr>
        <p:spPr>
          <a:xfrm xmlns:a="http://schemas.openxmlformats.org/drawingml/2006/main" flipH="1" flipV="1">
            <a:off x="2238375" y="1333500"/>
            <a:ext cx="5762625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29" name=""/>
          <p:cNvCxnSpPr>
            <a:stCxn xmlns:a="http://schemas.openxmlformats.org/drawingml/2006/main" id="4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5381625" y="1333500"/>
            <a:ext cx="476250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30" name=""/>
          <p:cNvCxnSpPr>
            <a:stCxn xmlns:a="http://schemas.openxmlformats.org/drawingml/2006/main" id="3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2238375" y="1333500"/>
            <a:ext cx="790575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54EF33-E144-4D5B-A8A6-61DF5725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采样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电压、电流、温度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746F6-90FF-43BC-8943-30016641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43250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软件阈值与硬件告警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819770-3A47-491C-A17D-5878A1B6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1905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SOC更新与MOS控制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59C1D0-1FAA-4551-BAD3-9EC620B8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上报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UART状态输出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40AA23-FC6A-42DA-A344-31BD0E89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43250"/>
            <a:ext cx="1428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显示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上位机刷新</a:t>
            </a:r>
          </a:p>
        </p:txBody>
      </p:sp>
      <p:cxnSp>
        <p:nvCxnSpPr>
          <p:cNvPr id="36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381250" y="35242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37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572000" y="35242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38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858000" y="35242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39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858250" y="35242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69C989-5B5F-4599-9A25-77BB8028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中断服务程序不执行I2C操作，寄存器读取、故障解析和状态更新在任务上下文中完成。串口命令若访问BQ76940，也必须在互斥锁保护下进行。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536F93-9254-49C9-8F9F-13E5E768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SOC采用安时积分，静置约30s后结合开路电压校正，并以满电、空电边界校准。基础被动均衡接口支持掩码与手动控制，不夸大为完整自主策略。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8A77C1-8B46-47B3-BA0C-7C4CFA4B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资料来源：项目开题报告软件设计与流程设计</a:t>
            </a:r>
          </a:p>
        </p:txBody>
      </p:sp>
    </p:spTree>
    <p:extLst>
      <p:ext uri="{BB962C8B-B14F-4D97-AF65-F5344CB8AC3E}">
        <p14:creationId xmlns:p14="http://schemas.microsoft.com/office/powerpoint/2010/main" val="5333760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743ABB-808C-4061-BDB0-D670EB81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测试与验证方案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92D541-156D-4D6F-B819-41AA3625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D70DA-505C-498F-AF67-65E52BF5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3333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通信与采集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验证BQ76940初始化、寄存器读取、ALERT响应和重初始化机制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08E59-2447-4321-A3DC-B84175D8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381125"/>
            <a:ext cx="3333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保护与执行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拟验证过压、欠压、过流、过温、低温充电阈值与MOS动作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DCD58-0F00-4826-B1CD-5D789EA0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381125"/>
            <a:ext cx="3333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SOC与校正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观察安时积分、静置OCV校正和边界校准的误差变化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809E1-1A93-40E5-90F9-BC1DFFDC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333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交互与调试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验证串口命令解析、上位机显示和调试控制功能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C3204-BC90-49B9-9C98-253A27AE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52750"/>
            <a:ext cx="3333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连续运行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拟进行长时间运行测试，观察通信异常、任务阻塞和数据保存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71CA1-62D3-401A-B0C0-448D73C3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验证顺序：通信稳定后开展采集精度检查，再验证保护动作，最后完成整机连续运行测试。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59C284-0FD3-4544-ACEE-5B4153CF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6250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通信→采集→保护→SOC→上位机→连续运行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26EBCD-1D34-4A0D-BEF4-CAC1D678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资料来源：项目开题报告测试与验证方案</a:t>
            </a:r>
          </a:p>
        </p:txBody>
      </p:sp>
    </p:spTree>
    <p:extLst>
      <p:ext uri="{BB962C8B-B14F-4D97-AF65-F5344CB8AC3E}">
        <p14:creationId xmlns:p14="http://schemas.microsoft.com/office/powerpoint/2010/main" val="16651166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461501-07C1-42B0-8593-E3A203A1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研究方法与技术路线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8CFBAD-0ECA-43BA-91F6-394E76EA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AB042-7EDD-4087-9722-5064A26D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2667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研究方法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文献研究、系统设计、实验调试、软件工程、对比验证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5C1D8-9AED-4FE6-A339-772BA72B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33500"/>
            <a:ext cx="190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需求分析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确定功能范围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AAC606-4291-444B-B227-6FAA8F0A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3350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硬件连接与任务划分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BB5A4C-262C-418E-8F2C-CAA297C0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3350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功能实现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驱动、算法与通信</a:t>
            </a:r>
          </a:p>
        </p:txBody>
      </p: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905500" y="17621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286750" y="17621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33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3276600" y="1762125"/>
            <a:ext cx="72390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E2B92-D6E7-4AE1-98C6-7432CF45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联调测试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通信、保护、SOC与上位机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85B5D-64D2-4F82-A1AC-3892D1F7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总结完善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整理数据与论文材料</a:t>
            </a:r>
          </a:p>
        </p:txBody>
      </p:sp>
      <p:cxnSp>
        <p:nvCxnSpPr>
          <p:cNvPr id="36" name=""/>
          <p:cNvCxnSpPr>
            <a:stCxn xmlns:a="http://schemas.openxmlformats.org/drawingml/2006/main" id="6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7286625" y="2190750"/>
            <a:ext cx="238125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37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286750" y="32861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DAC937-435B-4D23-861D-AE67AA04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2026.6.25-9.22  选题、任务书、开题报告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1F8625-971A-4198-9C53-7A13FBB5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2026.9.23-10.19  开题答辩与系统设计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E51D7A-3207-4A29-BF1A-5D54DA42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2026.10.20-11.1  中期检查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FEAFEB-D6C7-4672-8778-715C5E06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2026.11.2-12.22  论文撰写、评审与送审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440D86-6E2B-470D-BC61-204810B4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2026.12.23  毕业答辩</a:t>
            </a:r>
          </a:p>
        </p:txBody>
      </p:sp>
      <p:cxnSp>
        <p:nvCxnSpPr>
          <p:cNvPr id="43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3086100" y="32766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4A3B8"/>
            </a:solidFill>
            <a:prstDash val="solid"/>
            <a:headEnd type="arrow" w="med" len="med"/>
          </a:ln>
        </p:spPr>
      </p:cxnSp>
      <p:cxnSp>
        <p:nvCxnSpPr>
          <p:cNvPr id="44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3086100" y="37719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4A3B8"/>
            </a:solidFill>
            <a:prstDash val="solid"/>
            <a:headEnd type="arrow" w="med" len="med"/>
          </a:ln>
        </p:spPr>
      </p:cxnSp>
      <p:cxnSp>
        <p:nvCxnSpPr>
          <p:cNvPr id="45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3086100" y="42672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4A3B8"/>
            </a:solidFill>
            <a:prstDash val="solid"/>
            <a:headEnd type="arrow" w="med" len="med"/>
          </a:ln>
        </p:spPr>
      </p:cxnSp>
      <p:cxnSp>
        <p:nvCxnSpPr>
          <p:cNvPr id="46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3086100" y="47625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4A3B8"/>
            </a:solidFill>
            <a:prstDash val="solid"/>
            <a:head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FC6F49-999B-4258-9519-D2F1A6FD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86250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本课题按需求分析、系统设计、软件开发、功能验证和总结完善的顺序推进，测试结论用于调整阈值参数与软件逻辑。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4F5AF1-B92A-4FB9-945F-5745D8C3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资料来源：项目开题报告研究方法与技术路线</a:t>
            </a:r>
          </a:p>
        </p:txBody>
      </p:sp>
    </p:spTree>
    <p:extLst>
      <p:ext uri="{BB962C8B-B14F-4D97-AF65-F5344CB8AC3E}">
        <p14:creationId xmlns:p14="http://schemas.microsoft.com/office/powerpoint/2010/main" val="1475156309"/>
      </p:ext>
    </p:extLst>
  </p:cSld>
</p:sld>
</file>

<file path=ppt/theme/theme1.xml><?xml version="1.0" encoding="utf-8"?>
<a:theme xmlns:a="http://schemas.openxmlformats.org/drawingml/2006/main" name="ChatGPT">
  <a:themeElements>
    <a:clrScheme name="Cool Blue Gray">
      <a:dk1>
        <a:srgbClr val="000000"/>
      </a:dk1>
      <a:lt1>
        <a:srgbClr val="FFFFFF"/>
      </a:lt1>
      <a:dk2>
        <a:srgbClr val="1E293B"/>
      </a:dk2>
      <a:lt2>
        <a:srgbClr val="E2E8F0"/>
      </a:lt2>
      <a:accent1>
        <a:srgbClr val="1D4ED8"/>
      </a:accent1>
      <a:accent2>
        <a:srgbClr val="0F766E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1D4ED8"/>
      </a:hlink>
      <a:folHlink>
        <a:srgbClr val="7C3AED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ool Blue Gra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2026-09-20T05:06:01.5610000Z</dcterms:created>
  <dcterms:modified xsi:type="dcterms:W3CDTF">2026-09-20T05:06:01.5610000Z</dcterms:modified>
</coreProperties>
</file>