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2bbc67a7ac54170" /><Relationship Type="http://schemas.openxmlformats.org/officeDocument/2006/relationships/extended-properties" Target="/docProps/app.xml" Id="Rfcff7dafae524ad9" /><Relationship Type="http://schemas.openxmlformats.org/officeDocument/2006/relationships/officeDocument" Target="/ppt/presentation.xml" Id="R4def84713d2b4dc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2ce16671c5b462a"/>
  </p:sldMasterIdLst>
  <p:notesMasterIdLst>
    <p:notesMasterId xmlns:r="http://schemas.openxmlformats.org/officeDocument/2006/relationships" r:id="R1e8ef96c66ad4617"/>
  </p:notesMasterIdLst>
  <p:sldIdLst>
    <p:sldId xmlns:r="http://schemas.openxmlformats.org/officeDocument/2006/relationships" id="256" r:id="Rc50817e6fcd84aee"/>
    <p:sldId xmlns:r="http://schemas.openxmlformats.org/officeDocument/2006/relationships" id="257" r:id="R2013e3e4c443413d"/>
    <p:sldId xmlns:r="http://schemas.openxmlformats.org/officeDocument/2006/relationships" id="258" r:id="Rb9d20bef8ee248d1"/>
    <p:sldId xmlns:r="http://schemas.openxmlformats.org/officeDocument/2006/relationships" id="259" r:id="Rbb21ec858f644ced"/>
    <p:sldId xmlns:r="http://schemas.openxmlformats.org/officeDocument/2006/relationships" id="260" r:id="Rb8c9b31462504e4d"/>
    <p:sldId xmlns:r="http://schemas.openxmlformats.org/officeDocument/2006/relationships" id="261" r:id="R318cdae1105a49bb"/>
    <p:sldId xmlns:r="http://schemas.openxmlformats.org/officeDocument/2006/relationships" id="262" r:id="R26d2f6f14075400e"/>
    <p:sldId xmlns:r="http://schemas.openxmlformats.org/officeDocument/2006/relationships" id="263" r:id="R3a283287ca93482e"/>
    <p:sldId xmlns:r="http://schemas.openxmlformats.org/officeDocument/2006/relationships" id="264" r:id="Rfbf3282d29aa49b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16a83355be8402d" /><Relationship Type="http://schemas.openxmlformats.org/officeDocument/2006/relationships/slideMaster" Target="/ppt/slideMasters/slideMaster1.xml" Id="R52ce16671c5b462a" /><Relationship Type="http://schemas.openxmlformats.org/officeDocument/2006/relationships/notesMaster" Target="/ppt/notesMasters/notesMaster1.xml" Id="R1e8ef96c66ad4617" /><Relationship Type="http://schemas.openxmlformats.org/officeDocument/2006/relationships/presProps" Target="/ppt/presProps.xml" Id="Ra3eb7a9acc5a422d" /><Relationship Type="http://schemas.openxmlformats.org/officeDocument/2006/relationships/tableStyles" Target="/ppt/tableStyles.xml" Id="R4c41617d52dd4f6f" /><Relationship Type="http://schemas.openxmlformats.org/officeDocument/2006/relationships/slide" Target="/ppt/slides/slide1.xml" Id="Rc50817e6fcd84aee" /><Relationship Type="http://schemas.openxmlformats.org/officeDocument/2006/relationships/slide" Target="/ppt/slides/slide2.xml" Id="R2013e3e4c443413d" /><Relationship Type="http://schemas.openxmlformats.org/officeDocument/2006/relationships/slide" Target="/ppt/slides/slide3.xml" Id="Rb9d20bef8ee248d1" /><Relationship Type="http://schemas.openxmlformats.org/officeDocument/2006/relationships/slide" Target="/ppt/slides/slide4.xml" Id="Rbb21ec858f644ced" /><Relationship Type="http://schemas.openxmlformats.org/officeDocument/2006/relationships/slide" Target="/ppt/slides/slide5.xml" Id="Rb8c9b31462504e4d" /><Relationship Type="http://schemas.openxmlformats.org/officeDocument/2006/relationships/slide" Target="/ppt/slides/slide6.xml" Id="R318cdae1105a49bb" /><Relationship Type="http://schemas.openxmlformats.org/officeDocument/2006/relationships/slide" Target="/ppt/slides/slide7.xml" Id="R26d2f6f14075400e" /><Relationship Type="http://schemas.openxmlformats.org/officeDocument/2006/relationships/slide" Target="/ppt/slides/slide8.xml" Id="R3a283287ca93482e" /><Relationship Type="http://schemas.openxmlformats.org/officeDocument/2006/relationships/slide" Target="/ppt/slides/slide9.xml" Id="Rfbf3282d29aa49b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551b95175b0e453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ool Blue Gray Academic">
      <a:dk1>
        <a:srgbClr val="121C27"/>
      </a:dk1>
      <a:lt1>
        <a:srgbClr val="FFFFFF"/>
      </a:lt1>
      <a:dk2>
        <a:srgbClr val="1B2B3A"/>
      </a:dk2>
      <a:lt2>
        <a:srgbClr val="DCE8F0"/>
      </a:lt2>
      <a:accent1>
        <a:srgbClr val="17395C"/>
      </a:accent1>
      <a:accent2>
        <a:srgbClr val="2C6B96"/>
      </a:accent2>
      <a:accent3>
        <a:srgbClr val="C4A55D"/>
      </a:accent3>
      <a:accent4>
        <a:srgbClr val="8F4242"/>
      </a:accent4>
      <a:accent5>
        <a:srgbClr val="2F6E52"/>
      </a:accent5>
      <a:accent6>
        <a:srgbClr val="70849A"/>
      </a:accent6>
      <a:hlink>
        <a:srgbClr val="17395C"/>
      </a:hlink>
      <a:folHlink>
        <a:srgbClr val="2C6B96"/>
      </a:folHlink>
    </a:clrScheme>
    <a:fontScheme name="Microsoft YaHei">
      <a:majorFont>
        <a:latin typeface="Microsoft YaHei"/>
        <a:ea typeface="Microsoft YaHei"/>
        <a:cs typeface="Microsoft YaHei"/>
      </a:majorFont>
      <a:minorFont>
        <a:latin typeface="Microsoft YaHei"/>
        <a:ea typeface="Microsoft YaHei"/>
        <a:cs typeface="Microsoft YaHei"/>
      </a:minorFont>
    </a:fontScheme>
    <a:fmtScheme name="Cool Blue Gray Academic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cf50094f0414c37" /><Relationship Type="http://schemas.openxmlformats.org/officeDocument/2006/relationships/notesMaster" Target="/ppt/notesMasters/notesMaster1.xml" Id="R30e15be0b2bb4e5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88e105b0ec74d27" /><Relationship Type="http://schemas.openxmlformats.org/officeDocument/2006/relationships/notesMaster" Target="/ppt/notesMasters/notesMaster1.xml" Id="Rd0cf974a0aba4a2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527322768b1442a" /><Relationship Type="http://schemas.openxmlformats.org/officeDocument/2006/relationships/notesMaster" Target="/ppt/notesMasters/notesMaster1.xml" Id="R9b6f92818920427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c434cea20644c11" /><Relationship Type="http://schemas.openxmlformats.org/officeDocument/2006/relationships/notesMaster" Target="/ppt/notesMasters/notesMaster1.xml" Id="Re4cfd830e95141f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1489d384ae94ac7" /><Relationship Type="http://schemas.openxmlformats.org/officeDocument/2006/relationships/notesMaster" Target="/ppt/notesMasters/notesMaster1.xml" Id="R2444426d5f4941d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1c7b7d8cac64e5c" /><Relationship Type="http://schemas.openxmlformats.org/officeDocument/2006/relationships/notesMaster" Target="/ppt/notesMasters/notesMaster1.xml" Id="R0e08029df0f6438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bff56677c40454d" /><Relationship Type="http://schemas.openxmlformats.org/officeDocument/2006/relationships/notesMaster" Target="/ppt/notesMasters/notesMaster1.xml" Id="R886b98a4e93c49e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f59da8e2a5d4c98" /><Relationship Type="http://schemas.openxmlformats.org/officeDocument/2006/relationships/notesMaster" Target="/ppt/notesMasters/notesMaster1.xml" Id="R3546de41bc3249d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adf9f60ac4a417d" /><Relationship Type="http://schemas.openxmlformats.org/officeDocument/2006/relationships/notesMaster" Target="/ppt/notesMasters/notesMaster1.xml" Id="R39107dcef07b404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各位老师好。我汇报的题目是基于STM32的多串锂电池管理系统设计与实现。课题围绕9串18650锂电池组，完成状态采集、安全保护、SOC估算和上位机交互的完整设计。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背景部分说明为什么需要BMS。多串成组后单体差异会放大风险，本课题用实时采集、阈值判断和MOS控制把这些风险纳入可控范围。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目的部分分四项说明。意义部分强调工程价值、学习价值和应用价值，同时明确CAN、蓝牙和串口屏只是扩展方向，避免夸大当前实现范围。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文献综述不逐篇读，按三个方向归纳。国内研究强调工程实现，国外研究在估算算法和均衡拓扑上更活跃，本课题关注嵌入式实现的落点。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总体方案按数据流说明。BQ76940是采集和硬件告警的前端，STM32是读取、判断和交互的控制核心。CAN、蓝牙和串口屏不写成当前功能。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软件部分说明任务结构和执行流程。高优先级BMS_Task保证采样和保护，低优先级UART_Task处理命令。互斥锁和中断边界是稳定性的关键。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方法和技术路线合并说明。重点不是流程名词，而是每一阶段留下可检查的输出，包括接口定义、驱动代码、测试数据和论文材料。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测试方案强调可检查性。对没有明确数值指标的项，不编具体误差要求，只说明验证对象和验证方法。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感谢老师聆听，请老师对方案和验证安排提出指导意见。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slideLayout1.xml><?xml version="1.0" encoding="utf-8"?>
<p:sldLayout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2c287a6647437e" /><Relationship Type="http://schemas.openxmlformats.org/officeDocument/2006/relationships/theme" Target="/ppt/theme/theme1.xml" Id="Ref8176490d23414b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82c287a6647437e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5956b37cb64584" /><Relationship Type="http://schemas.openxmlformats.org/officeDocument/2006/relationships/image" Target="/ppt/media/image.png" Id="R8f82dc27e2ab4ffc" /><Relationship Type="http://schemas.openxmlformats.org/officeDocument/2006/relationships/notesSlide" Target="/ppt/notesSlides/notesSlide1.xml" Id="R917a23037f6c4c3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eae4cd2a9e47b5" /><Relationship Type="http://schemas.openxmlformats.org/officeDocument/2006/relationships/image" Target="/ppt/media/image2.png" Id="Rdbe0cc1661bf4acf" /><Relationship Type="http://schemas.openxmlformats.org/officeDocument/2006/relationships/notesSlide" Target="/ppt/notesSlides/notesSlide2.xml" Id="R18ba236b416848b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2e4ec60b75495e" /><Relationship Type="http://schemas.openxmlformats.org/officeDocument/2006/relationships/notesSlide" Target="/ppt/notesSlides/notesSlide3.xml" Id="Rd26142391d8c432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8188c4ef484ab5" /><Relationship Type="http://schemas.openxmlformats.org/officeDocument/2006/relationships/notesSlide" Target="/ppt/notesSlides/notesSlide4.xml" Id="R915be693ac3644e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d717f167b345f3" /><Relationship Type="http://schemas.openxmlformats.org/officeDocument/2006/relationships/image" Target="/ppt/media/image3.png" Id="Rd7cafa44453b45cf" /><Relationship Type="http://schemas.openxmlformats.org/officeDocument/2006/relationships/notesSlide" Target="/ppt/notesSlides/notesSlide5.xml" Id="Rda4c1adb36434e4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8adb0eab4c4c4a" /><Relationship Type="http://schemas.openxmlformats.org/officeDocument/2006/relationships/notesSlide" Target="/ppt/notesSlides/notesSlide6.xml" Id="Rd0733d9707924cc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f5e41da11741c9" /><Relationship Type="http://schemas.openxmlformats.org/officeDocument/2006/relationships/notesSlide" Target="/ppt/notesSlides/notesSlide7.xml" Id="Rd03a11a5ae0e4f4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ac5a643d004527" /><Relationship Type="http://schemas.openxmlformats.org/officeDocument/2006/relationships/notesSlide" Target="/ppt/notesSlides/notesSlide8.xml" Id="R3ecaedb77381404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1b65e508ff4c7c" /><Relationship Type="http://schemas.openxmlformats.org/officeDocument/2006/relationships/notesSlide" Target="/ppt/notesSlides/notesSlide9.xml" Id="Rf4dfe8d9d9d9446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82dc27e2ab4ffc"/>
          <a:srcRect xmlns:a="http://schemas.openxmlformats.org/drawingml/2006/main" l="0" t="29167" r="0" b="291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28575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853545-A775-4C2C-B580-F5E247D20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9525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25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基于STM32的多串锂电池管理系统设计与实现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281198-FDFD-4F32-AB19-C064BC86E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350" b="1">
                <a:solidFill>
                  <a:srgbClr val="2C6B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C6B96"/>
                </a:solidFill>
                <a:latin typeface="Microsoft YaHei"/>
                <a:ea typeface="Microsoft YaHei"/>
                <a:cs typeface="Microsoft YaHei"/>
              </a:rPr>
              <a:t>本科毕业设计（论文）开题答辩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C55B48-6B17-4238-90EA-E29BA7BA4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75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汇报人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DFE66F-4EE2-4DD1-ACA2-E4AE466D3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2143125" cy="2857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C753CD-C589-4B36-8724-D1A25CD0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9530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75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学号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494284-AA28-49D7-9044-FA02FD922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5238750"/>
            <a:ext cx="2143125" cy="2857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BFC257-E574-4147-B143-A778D27B1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9530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75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专业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6C3EBC-D6DC-46D0-8DD1-2CDE0CAE6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5238750"/>
            <a:ext cx="2143125" cy="2857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D65695-4DC1-4985-B97C-8DA85D41B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49530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75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指导教师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4BA21D-DC4C-4546-A7D4-506A9865B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5238750"/>
            <a:ext cx="2143125" cy="2857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8F5876-3441-49F0-8DB4-4CB9D18DE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背景图：Image2生成，仅用于答辩视觉背景</a:t>
            </a:r>
          </a:p>
        </p:txBody>
      </p:sp>
    </p:spTree>
    <p:extLst>
      <p:ext uri="{BB962C8B-B14F-4D97-AF65-F5344CB8AC3E}">
        <p14:creationId xmlns:p14="http://schemas.microsoft.com/office/powerpoint/2010/main" val="14171983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DCAEDB-AB34-47E2-9C22-F5338321B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514350" cy="51435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103487-6652-4A3F-8AC7-5E92F86F4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1950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202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研究背景与选题依据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3D6B37-14C0-4FE0-8E9A-2A80782CA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7048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75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从多串电池组的运行风险到实时管理的必要性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F45D16-7790-46FC-B09E-CC17A7D88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11125200" cy="55245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39B43A-EBBE-4D83-ACBE-932D7553D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763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20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基于STM32的多串锂电池管理系统设计与实现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E871E6-F06E-4A00-A375-B95433E7E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763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50000"/>
              </a:lnSpc>
              <a:buNone/>
              <a:defRPr sz="1050" b="1">
                <a:solidFill>
                  <a:srgbClr val="2C6B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C6B96"/>
                </a:solidFill>
                <a:latin typeface="Microsoft YaHei"/>
                <a:ea typeface="Microsoft YaHei"/>
                <a:cs typeface="Microsoft YaHei"/>
              </a:rPr>
              <a:t>开题答辩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9EDBCA-E73F-4366-A8C5-FD76BC955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288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05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多串锂电池组存在单体差异，若缺少实时监测和保护，容易出现过充、过放、过流、过温等问题，影响使用寿命与使用安全。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EBFBF6-381A-4FDA-8BB2-6781139CE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1143000" cy="781050"/>
          </a:xfrm>
          <a:prstGeom xmlns:a="http://schemas.openxmlformats.org/drawingml/2006/main" prst="roundRect">
            <a:avLst>
              <a:gd name="adj" fmla="val 36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电池安全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E61880-6CAC-4FE9-9232-E2F902FC3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381250"/>
            <a:ext cx="4667250" cy="781050"/>
          </a:xfrm>
          <a:prstGeom xmlns:a="http://schemas.openxmlformats.org/drawingml/2006/main" prst="roundRect">
            <a:avLst>
              <a:gd name="adj" fmla="val 36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高倍率放电会显著增加温升，徐伟巍等[1]强调温度保护与过流保护必须综合考虑。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F0EB4E-704D-4E1D-ADAB-D7A8F39D8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1143000" cy="781050"/>
          </a:xfrm>
          <a:prstGeom xmlns:a="http://schemas.openxmlformats.org/drawingml/2006/main" prst="roundRect">
            <a:avLst>
              <a:gd name="adj" fmla="val 36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状态可见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4BF871-E2C5-4259-9098-A4BB1C1E7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333750"/>
            <a:ext cx="4667250" cy="781050"/>
          </a:xfrm>
          <a:prstGeom xmlns:a="http://schemas.openxmlformats.org/drawingml/2006/main" prst="roundRect">
            <a:avLst>
              <a:gd name="adj" fmla="val 36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黄新星[2]提出远程监测可弥补本地计算和存储能力不足，说明数据交互是BMS的重要方向。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8601D7-A3F5-4B8A-BEFD-0DD4D826B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86250"/>
            <a:ext cx="1143000" cy="781050"/>
          </a:xfrm>
          <a:prstGeom xmlns:a="http://schemas.openxmlformats.org/drawingml/2006/main" prst="roundRect">
            <a:avLst>
              <a:gd name="adj" fmla="val 36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工程基础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D3A678-8EAB-4211-925E-71C58A644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286250"/>
            <a:ext cx="4667250" cy="781050"/>
          </a:xfrm>
          <a:prstGeom xmlns:a="http://schemas.openxmlformats.org/drawingml/2006/main" prst="roundRect">
            <a:avLst>
              <a:gd name="adj" fmla="val 36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黄青青等[3]以STM32F103为核心实现大功率电池组管理，验证了本类方案的工程可行性。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e0cc1661bf4acf"/>
          <a:stretch xmlns:a="http://schemas.openxmlformats.org/drawingml/2006/main"/>
        </p:blipFill>
        <p:spPr>
          <a:xfrm xmlns:a="http://schemas.openxmlformats.org/drawingml/2006/main">
            <a:off x="8294250" y="1905000"/>
            <a:ext cx="1890000" cy="285750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B344DA-B4F5-4C28-BC0B-C5B3B3533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819650"/>
            <a:ext cx="4572000" cy="4191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被动均衡驱动参考电路图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来源：项目参考资料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AF0D18-B556-4DCB-83AA-B23441074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29250"/>
            <a:ext cx="1619250" cy="4191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75" b="1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多串成组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27363C-E044-4FF2-876D-5AA31D491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429250"/>
            <a:ext cx="1619250" cy="4191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单体差异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EC3617-52C5-47C0-BD9D-1500872A0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429250"/>
            <a:ext cx="1619250" cy="4191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安全风险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83AB5C-EE66-459D-AC54-95994910F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429250"/>
            <a:ext cx="1619250" cy="4191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7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实时管理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06165F-8088-4D99-9775-BB4FA9E4F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429250"/>
            <a:ext cx="1619250" cy="4191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课题实现</a:t>
            </a:r>
          </a:p>
        </p:txBody>
      </p:sp>
      <p:cxnSp>
        <p:nvCxnSpPr>
          <p:cNvPr id="47" name=""/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2343150" y="563880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C6B96"/>
            </a:solidFill>
            <a:prstDash val="solid"/>
            <a:headEnd type="triangle" w="med" len="med"/>
          </a:ln>
        </p:spPr>
      </p:cxnSp>
      <p:cxnSp>
        <p:nvCxnSpPr>
          <p:cNvPr id="48" name=""/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4191000" y="563880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C6B96"/>
            </a:solidFill>
            <a:prstDash val="solid"/>
            <a:headEnd type="triangle" w="med" len="med"/>
          </a:ln>
        </p:spPr>
      </p:cxnSp>
      <p:cxnSp>
        <p:nvCxnSpPr>
          <p:cNvPr id="49" name=""/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6038850" y="563880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C6B96"/>
            </a:solidFill>
            <a:prstDash val="solid"/>
            <a:headEnd type="triangle" w="med" len="med"/>
          </a:ln>
        </p:spPr>
      </p:cxnSp>
      <p:cxnSp>
        <p:nvCxnSpPr>
          <p:cNvPr id="50" name=""/>
          <p:cNvCxnSpPr>
            <a:stCxn xmlns:a="http://schemas.openxmlformats.org/drawingml/2006/main" id="19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7886700" y="563880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C6B96"/>
            </a:solidFill>
            <a:prstDash val="solid"/>
            <a:headEnd type="triangle" w="med" len="me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FC0ED3-FBDF-4E0F-B0DA-110C5CC17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341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50000"/>
              </a:lnSpc>
              <a:buNone/>
              <a:def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02 / 09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C0EC67-C7F3-48D9-AEBD-57EECE5AD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资料来源：开题报告与项目资料</a:t>
            </a:r>
          </a:p>
        </p:txBody>
      </p:sp>
    </p:spTree>
    <p:extLst>
      <p:ext uri="{BB962C8B-B14F-4D97-AF65-F5344CB8AC3E}">
        <p14:creationId xmlns:p14="http://schemas.microsoft.com/office/powerpoint/2010/main" val="162532703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F350E2B-2E42-4038-ACCF-DFB94B0AB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514350" cy="51435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61E794-EE89-4657-88C2-204159DF3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1950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202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研究目的与研究意义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D6E6D1-AD71-47B5-8D8F-347A36443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7048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75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以安全控制和工程验证为中心，不做功能堆叠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B4E870-6B49-432E-B78D-916E271A0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11125200" cy="55245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058CBB-44AE-4C21-B803-F3EB849EF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763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20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基于STM32的多串锂电池管理系统设计与实现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C75BFC-18FF-4DF8-B90B-6706D8584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763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50000"/>
              </a:lnSpc>
              <a:buNone/>
              <a:defRPr sz="1050" b="1">
                <a:solidFill>
                  <a:srgbClr val="2C6B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C6B96"/>
                </a:solidFill>
                <a:latin typeface="Microsoft YaHei"/>
                <a:ea typeface="Microsoft YaHei"/>
                <a:cs typeface="Microsoft YaHei"/>
              </a:rPr>
              <a:t>开题答辩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3596F5-9757-473D-B470-E61DA9B93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1619250" cy="457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研究目的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C2CB48-05F1-4089-B789-0D39E70C3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1238250" cy="59055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状态感知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C22C0A-FC85-405A-A3A4-154304769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457450"/>
            <a:ext cx="4191000" cy="59055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采集单体电压、电流和温度，形成可用的运行数据基础。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857D4C-447F-4271-9510-ECEE6C861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81350"/>
            <a:ext cx="1238250" cy="59055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安全控制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084BA4-CE58-4A66-8EBD-C983D4857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181350"/>
            <a:ext cx="4191000" cy="59055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结合BQ76940硬件告警与STM32软件阈值，控制充放电MOS。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CBBF7D-BE8F-412B-83C7-2512D3E04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1238250" cy="59055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状态估算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3EB2D5-4C77-4DA0-A153-F4B37DA92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905250"/>
            <a:ext cx="4191000" cy="59055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采用安时积分并配合静置OCV校正，提高SOC可用性。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859003-DC37-4158-B4F1-693FE5F1E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29150"/>
            <a:ext cx="1238250" cy="59055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调试交互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C1C3EF-C546-4CA0-A6D5-B78E3712A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629150"/>
            <a:ext cx="4191000" cy="59055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通过UART连接Python上位机，支持状态显示和命令调试。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3935A8-36E7-4B97-99F0-5E8C7ADB4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09750"/>
            <a:ext cx="1619250" cy="457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研究意义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C87A04-766B-45AB-927E-2F29086F0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57450"/>
            <a:ext cx="1238250" cy="781050"/>
          </a:xfrm>
          <a:prstGeom xmlns:a="http://schemas.openxmlformats.org/drawingml/2006/main" prst="roundRect">
            <a:avLst>
              <a:gd name="adj" fmla="val 36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工程价值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1BAB66-1814-4BCE-A93C-6D2C1718E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457450"/>
            <a:ext cx="3333750" cy="781050"/>
          </a:xfrm>
          <a:prstGeom xmlns:a="http://schemas.openxmlformats.org/drawingml/2006/main" prst="roundRect">
            <a:avLst>
              <a:gd name="adj" fmla="val 36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降低过充、过放、过流、过温风险，延长电池组寿命。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46043B-569E-4181-B699-1E3D97D5F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71850"/>
            <a:ext cx="1238250" cy="781050"/>
          </a:xfrm>
          <a:prstGeom xmlns:a="http://schemas.openxmlformats.org/drawingml/2006/main" prst="roundRect">
            <a:avLst>
              <a:gd name="adj" fmla="val 36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学习价值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5858F2-F8B8-4922-82DE-28B34B630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371850"/>
            <a:ext cx="3333750" cy="781050"/>
          </a:xfrm>
          <a:prstGeom xmlns:a="http://schemas.openxmlformats.org/drawingml/2006/main" prst="roundRect">
            <a:avLst>
              <a:gd name="adj" fmla="val 36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覆盖嵌入式软硬件、I2C通信、FreeRTOS调度与保护策略。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C85BC5-A770-4B82-887F-9B5C3DC3D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286250"/>
            <a:ext cx="1238250" cy="781050"/>
          </a:xfrm>
          <a:prstGeom xmlns:a="http://schemas.openxmlformats.org/drawingml/2006/main" prst="roundRect">
            <a:avLst>
              <a:gd name="adj" fmla="val 36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应用价值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CCD98E-9787-4E63-ABC8-EBA4A39F3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86250"/>
            <a:ext cx="3333750" cy="781050"/>
          </a:xfrm>
          <a:prstGeom xmlns:a="http://schemas.openxmlformats.org/drawingml/2006/main" prst="roundRect">
            <a:avLst>
              <a:gd name="adj" fmla="val 36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为同类小规模多串锂电池管理系统提供可复用设计。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BF6B76-04D4-4E32-B15C-CEBDA42F5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0"/>
            <a:ext cx="7334250" cy="457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75">
                <a:solidFill>
                  <a:srgbClr val="8F42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8F4242"/>
                </a:solidFill>
                <a:latin typeface="Microsoft YaHei"/>
                <a:ea typeface="Microsoft YaHei"/>
                <a:cs typeface="Microsoft YaHei"/>
              </a:rPr>
              <a:t>边界说明：CAN、蓝牙、串口屏只作为扩展预留，不计入当前已实现功能范围。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AE4884-730E-48A0-9F3A-8911A2F79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238750"/>
            <a:ext cx="3276600" cy="457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7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目标概括：形成结构清晰、安全边界明确、可在实验平台验证的完整系统。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C8E49B-28D3-4768-A461-A0FE05FBD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341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50000"/>
              </a:lnSpc>
              <a:buNone/>
              <a:def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03 / 09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30A6CD-4BF7-4E66-9F27-F60303184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资料来源：开题报告与项目资料</a:t>
            </a:r>
          </a:p>
        </p:txBody>
      </p:sp>
    </p:spTree>
    <p:extLst>
      <p:ext uri="{BB962C8B-B14F-4D97-AF65-F5344CB8AC3E}">
        <p14:creationId xmlns:p14="http://schemas.microsoft.com/office/powerpoint/2010/main" val="24011890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A4499E-E844-444C-8F7E-13502D242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514350" cy="51435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EB3BBD-155A-4E33-B0CB-412538E36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1950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202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国内外研究现状与研究内容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2724BE-BC1C-4249-A55F-B36B21D3B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7048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75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从系统实现、状态估算、均衡保护三个方向归纳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F8F243-12D9-4C50-ABC9-692270654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11125200" cy="55245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7EEDF9-C2D5-41B8-AB90-7EF3559A7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763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20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基于STM32的多串锂电池管理系统设计与实现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BB5B00-CFE8-435D-A432-A347B032B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763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50000"/>
              </a:lnSpc>
              <a:buNone/>
              <a:defRPr sz="1050" b="1">
                <a:solidFill>
                  <a:srgbClr val="2C6B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C6B96"/>
                </a:solidFill>
                <a:latin typeface="Microsoft YaHei"/>
                <a:ea typeface="Microsoft YaHei"/>
                <a:cs typeface="Microsoft YaHei"/>
              </a:rPr>
              <a:t>开题答辩</a:t>
            </a:r>
          </a:p>
        </p:txBody>
      </p:sp>
      <p:graphicFrame>
        <p:nvGraphicFramePr>
          <p:cNvPr id="25" name=""/>
          <p:cNvGraphicFramePr/>
          <p:nvPr/>
        </p:nvGraphicFramePr>
        <p:xfrm>
          <a:off xmlns:a="http://schemas.openxmlformats.org/drawingml/2006/main" x="723900" y="1352550"/>
          <a:ext xmlns:a="http://schemas.openxmlformats.org/drawingml/2006/main" cx="6477000" cy="31242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159000"/>
                <a:gridCol w="2159000"/>
                <a:gridCol w="2159000"/>
              </a:tblGrid>
              <a:tr h="495300">
                <a:tc>
                  <a:txBody>
                    <a:bodyPr lIns="76200" tIns="57150" rIns="76200" bIns="57150"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研究方向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 lIns="76200" tIns="57150" rIns="76200" bIns="57150"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国内研究现状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 lIns="76200" tIns="57150" rIns="76200" bIns="57150"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国外研究现状</a:t>
                      </a:r>
                    </a:p>
                  </a:txBody>
                  <a:tcPr marL="91440" marR="91440" marT="45720" marB="45720" anchor="ctr"/>
                </a:tc>
              </a:tr>
              <a:tr h="876300">
                <a:tc>
                  <a:txBody>
                    <a:bodyPr lIns="76200" tIns="57150" rIns="76200" bIns="57150"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975" b="0">
                          <a:solidFill>
                            <a:srgbClr val="1F2A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系统实现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 lIns="76200" tIns="57150" rIns="76200" bIns="57150"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sz="975" b="0">
                          <a:solidFill>
                            <a:srgbClr val="1F2A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STM32与多串采集保护方案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 lIns="76200" tIns="57150" rIns="76200" bIns="57150"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sz="975" b="0">
                          <a:solidFill>
                            <a:srgbClr val="1F2A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STM32、LTC6804与物联网交互</a:t>
                      </a:r>
                    </a:p>
                  </a:txBody>
                  <a:tcPr marL="91440" marR="91440" marT="45720" marB="45720" anchor="ctr"/>
                </a:tc>
              </a:tr>
              <a:tr h="876300">
                <a:tc>
                  <a:txBody>
                    <a:bodyPr lIns="76200" tIns="57150" rIns="76200" bIns="57150"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975" b="0">
                          <a:solidFill>
                            <a:srgbClr val="1F2A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状态估算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 lIns="76200" tIns="57150" rIns="76200" bIns="57150"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sz="975" b="0">
                          <a:solidFill>
                            <a:srgbClr val="1F2A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安时积分结合OCV与滤波修正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 lIns="76200" tIns="57150" rIns="76200" bIns="57150"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sz="975" b="0">
                          <a:solidFill>
                            <a:srgbClr val="1F2A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EKF、LSTM与优化算法融合</a:t>
                      </a:r>
                    </a:p>
                  </a:txBody>
                  <a:tcPr marL="91440" marR="91440" marT="45720" marB="45720" anchor="ctr"/>
                </a:tc>
              </a:tr>
              <a:tr h="876300">
                <a:tc>
                  <a:txBody>
                    <a:bodyPr lIns="76200" tIns="57150" rIns="76200" bIns="57150"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975" b="0">
                          <a:solidFill>
                            <a:srgbClr val="1F2A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均衡保护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 lIns="76200" tIns="57150" rIns="76200" bIns="57150"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sz="975" b="0">
                          <a:solidFill>
                            <a:srgbClr val="1F2A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主动均衡、被动均衡与温度保护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 lIns="76200" tIns="57150" rIns="76200" bIns="57150"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sz="975" b="0">
                          <a:solidFill>
                            <a:srgbClr val="1F2A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拓扑优化与多级安全保护</a:t>
                      </a:r>
                    </a:p>
                  </a:txBody>
                  <a:tcPr marL="91440" marR="91440" marT="45720" marB="45720" anchor="ctr"/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543DA4-9160-4788-8818-A25E0C834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352550"/>
            <a:ext cx="1619250" cy="59055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系统总体架构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0257DC-21A0-4436-90FA-41F29A542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352550"/>
            <a:ext cx="2286000" cy="59055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主控、模拟前端、电池组、保护电路与上位机的连接关系。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93056A-22F1-4BFE-AA6A-86734FE82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33600"/>
            <a:ext cx="1619250" cy="59055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采集与保护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2A995E-FDE9-4951-A3F4-27CF5657B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133600"/>
            <a:ext cx="2286000" cy="59055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单体电压、电流、温度采集，硬件告警与软件阈值判断。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8C5930-14F5-434A-A63D-DCBBF0596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914650"/>
            <a:ext cx="1619250" cy="59055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SOC估算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B2F8CE-6EA5-4B5A-B849-D22E5CC0C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914650"/>
            <a:ext cx="2286000" cy="59055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安时积分、静置约30s后的OCV校正和边界校准。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ABD323-9E60-434D-8CDF-8098328D8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695700"/>
            <a:ext cx="1619250" cy="59055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通信与交互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6E086B-8FFE-4A76-B8FB-1A0D443AF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695700"/>
            <a:ext cx="2286000" cy="59055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UART命令解析、状态上报和Python上位机显示。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FE2F65-587E-4B7A-9ED1-1F0CAF522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10744200" cy="609600"/>
          </a:xfrm>
          <a:prstGeom xmlns:a="http://schemas.openxmlformats.org/drawingml/2006/main" prst="roundRect">
            <a:avLst>
              <a:gd name="adj" fmla="val 4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60000"/>
              </a:lnSpc>
              <a:buNone/>
              <a:defRPr sz="112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研究切入点：在STM32F103C8T6的有限资源下，解决多串采集稳定性、保护响应速度和SOC可验证性之间的平衡问题。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1D389C-680E-4148-A62D-7A100C750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341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50000"/>
              </a:lnSpc>
              <a:buNone/>
              <a:def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04 / 09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FA6E3C-6D14-4959-BDF2-309BEE87F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资料来源：开题报告与项目资料</a:t>
            </a:r>
          </a:p>
        </p:txBody>
      </p:sp>
    </p:spTree>
    <p:extLst>
      <p:ext uri="{BB962C8B-B14F-4D97-AF65-F5344CB8AC3E}">
        <p14:creationId xmlns:p14="http://schemas.microsoft.com/office/powerpoint/2010/main" val="167248975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3ADE23A-9A46-4240-9951-DE0BD617D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514350" cy="51435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50E7BF-BEC9-4B5A-8D2D-4CCF8E108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1950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202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系统总体方案与硬件选型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626C91-9A6F-4ECC-8814-6708AE0D0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7048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75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四层结构、四项选型，扩展能力与当前边界分开说明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A266A4-2B9C-4DEB-B1F7-951D33747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11125200" cy="55245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283233-B7FE-4918-9417-F15C952CC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763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20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基于STM32的多串锂电池管理系统设计与实现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733A7A-7775-4790-8191-FA2E8328D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763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50000"/>
              </a:lnSpc>
              <a:buNone/>
              <a:defRPr sz="1050" b="1">
                <a:solidFill>
                  <a:srgbClr val="2C6B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C6B96"/>
                </a:solidFill>
                <a:latin typeface="Microsoft YaHei"/>
                <a:ea typeface="Microsoft YaHei"/>
                <a:cs typeface="Microsoft YaHei"/>
              </a:rPr>
              <a:t>开题答辩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0318A8-4728-490D-8A99-7557A264C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47750" cy="55245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电池层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0DEDF9-5A63-4FF5-88AA-F5ABC9180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352550"/>
            <a:ext cx="4095750" cy="55245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9串18650锂电池组，提供被管理对象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DF1BF4-4C0F-46E0-B97D-E1634CED4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1047750" cy="55245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采集层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5427C8-8DE4-479E-86B1-3AEE892C7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095500"/>
            <a:ext cx="4095750" cy="55245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BQ76940采集电压、电流、温度并给出硬件告警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060193-3A99-4BB5-B44D-C255C2669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38450"/>
            <a:ext cx="1047750" cy="55245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控制层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078B03-C287-49E1-B430-99C12D97B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838450"/>
            <a:ext cx="4095750" cy="55245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STM32读取数据，完成阈值判断、SOC估算与命令交互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B38B2C-3DB9-4D5C-BAD7-84ED09BD5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81400"/>
            <a:ext cx="1047750" cy="55245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交互层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40A173-34B6-440A-A342-A2A5EF242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581400"/>
            <a:ext cx="4095750" cy="55245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UART连接Python上位机，完成状态显示与调试命令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50E746-B317-463A-99C4-5F3B9BCC5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352550"/>
            <a:ext cx="952500" cy="55245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7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主控方案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B0D353-916C-4F5F-8505-37E98E613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352550"/>
            <a:ext cx="1381125" cy="55245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0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STM32F103C8T6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B12A39-1C72-4716-8D3A-1B8ED1C9A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1352550"/>
            <a:ext cx="2505075" cy="55245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75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外设资源较完整，实时性好，资料和成本适合课题验证。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29D450-20C0-40CE-AC95-549794436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95500"/>
            <a:ext cx="952500" cy="55245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7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模拟前端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183BC0-5F6F-4611-B549-6DC5B4852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095500"/>
            <a:ext cx="1381125" cy="55245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0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BQ76940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BC9F2A-E11A-4518-9B04-5378C564D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095500"/>
            <a:ext cx="2505075" cy="55245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75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面向多串电池，支持采集、硬件告警和MOS控制。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6BCAD7-EE6A-489E-8199-FFCFFE54E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38450"/>
            <a:ext cx="952500" cy="55245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7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均衡方式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CB6ED7-A798-417E-ACBD-E84F35B24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838450"/>
            <a:ext cx="1381125" cy="55245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0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被动均衡接口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3D9843-E8A6-4E2F-8CD6-74743E731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838450"/>
            <a:ext cx="2505075" cy="55245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75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结构简单、易于验证；主动均衡效率高但结构复杂。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786913-BFB9-4429-9062-BAE7B3ACB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581400"/>
            <a:ext cx="952500" cy="55245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7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通信方式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92466C-AD0B-4CB2-8C02-242D382CD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581400"/>
            <a:ext cx="1381125" cy="55245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0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267B91-41D7-47F9-BB9A-E3AF3C53A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3581400"/>
            <a:ext cx="2505075" cy="55245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75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当前连接Python上位机；CAN等通信作为扩展方向。</a:t>
            </a:r>
          </a:p>
        </p:txBody>
      </p:sp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cafa44453b45cf"/>
          <a:stretch xmlns:a="http://schemas.openxmlformats.org/drawingml/2006/main"/>
        </p:blipFill>
        <p:spPr>
          <a:xfrm xmlns:a="http://schemas.openxmlformats.org/drawingml/2006/main">
            <a:off x="8452050" y="4476750"/>
            <a:ext cx="945750" cy="1428750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46434E1-D673-4E95-8579-E1F96E0E6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962650"/>
            <a:ext cx="5086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BQ769X0外围连接参考图 来源：BQ769X0参考设计资料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08B5370-1ECE-46F9-9EB5-9CCBAE036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0"/>
            <a:ext cx="5334000" cy="762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60000"/>
              </a:lnSpc>
              <a:buNone/>
              <a:def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安全控制链路：BQ76940采集与硬件告警，STM32完成数据读取和保护判断，充放电MOS执行动作。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3C9272E-66BE-4117-95F6-E08C37658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341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50000"/>
              </a:lnSpc>
              <a:buNone/>
              <a:def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05 / 09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284A633-B190-42EE-A908-04A101A6A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资料来源：开题报告与项目资料</a:t>
            </a:r>
          </a:p>
        </p:txBody>
      </p:sp>
    </p:spTree>
    <p:extLst>
      <p:ext uri="{BB962C8B-B14F-4D97-AF65-F5344CB8AC3E}">
        <p14:creationId xmlns:p14="http://schemas.microsoft.com/office/powerpoint/2010/main" val="31441203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2775F1B-EA94-4C44-9ADF-453BFD357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514350" cy="51435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35852B-FE9E-4530-A28C-AEEE6D757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1950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202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软件设计与任务流程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37AF85-FF5B-42EC-96AF-9070EEB17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7048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75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FreeRTOS任务调度、共享资源保护与数据闭环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708602-F1FA-489B-87E3-C61E35C93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11125200" cy="55245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129F04-EDA2-4951-A5E7-A83EF89FD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763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20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基于STM32的多串锂电池管理系统设计与实现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2B9052-CB99-4735-9C64-6331967E5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763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50000"/>
              </a:lnSpc>
              <a:buNone/>
              <a:defRPr sz="1050" b="1">
                <a:solidFill>
                  <a:srgbClr val="2C6B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C6B96"/>
                </a:solidFill>
                <a:latin typeface="Microsoft YaHei"/>
                <a:ea typeface="Microsoft YaHei"/>
                <a:cs typeface="Microsoft YaHei"/>
              </a:rPr>
              <a:t>开题答辩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9C6B2D-4711-41C3-8B37-1707C13A5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2952750" cy="781050"/>
          </a:xfrm>
          <a:prstGeom xmlns:a="http://schemas.openxmlformats.org/drawingml/2006/main" prst="roundRect">
            <a:avLst>
              <a:gd name="adj" fmla="val 36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BMS_Task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高优先级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500ms周期，可由ALERT唤醒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6BE118-0B8A-482C-A1CE-9641478D4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352550"/>
            <a:ext cx="2476500" cy="781050"/>
          </a:xfrm>
          <a:prstGeom xmlns:a="http://schemas.openxmlformats.org/drawingml/2006/main" prst="roundRect">
            <a:avLst>
              <a:gd name="adj" fmla="val 36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00">
                <a:solidFill>
                  <a:srgbClr val="8F42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8F4242"/>
                </a:solidFill>
                <a:latin typeface="Microsoft YaHei"/>
                <a:ea typeface="Microsoft YaHei"/>
                <a:cs typeface="Microsoft YaHei"/>
              </a:rPr>
              <a:t>ALERT中断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900">
                <a:solidFill>
                  <a:srgbClr val="8F42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8F4242"/>
                </a:solidFill>
                <a:latin typeface="Microsoft YaHei"/>
                <a:ea typeface="Microsoft YaHei"/>
                <a:cs typeface="Microsoft YaHei"/>
              </a:rPr>
              <a:t>只发送任务通知，不执行I2C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D8D58B-9AB1-439A-95AA-9A4891452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352550"/>
            <a:ext cx="2286000" cy="781050"/>
          </a:xfrm>
          <a:prstGeom xmlns:a="http://schemas.openxmlformats.org/drawingml/2006/main" prst="roundRect">
            <a:avLst>
              <a:gd name="adj" fmla="val 36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UART_Task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低优先级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50ms轮询串口命令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96ABAA-8633-4DA4-A810-3115021E4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352550"/>
            <a:ext cx="2095500" cy="781050"/>
          </a:xfrm>
          <a:prstGeom xmlns:a="http://schemas.openxmlformats.org/drawingml/2006/main" prst="roundRect">
            <a:avLst>
              <a:gd name="adj" fmla="val 36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00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I2C互斥锁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900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保护BQ76940访问</a:t>
            </a:r>
          </a:p>
        </p:txBody>
      </p:sp>
      <p:cxnSp>
        <p:nvCxnSpPr>
          <p:cNvPr id="42" name=""/>
          <p:cNvCxnSpPr>
            <a:stCxn xmlns:a="http://schemas.openxmlformats.org/drawingml/2006/main" id="8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>
            <a:off x="3676650" y="1743075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C6B96"/>
            </a:solidFill>
            <a:prstDash val="solid"/>
            <a:headEnd type="triangle" w="med" len="med"/>
          </a:ln>
        </p:spPr>
      </p:cxnSp>
      <p:cxnSp>
        <p:nvCxnSpPr>
          <p:cNvPr id="43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9086850" y="174307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C6B96"/>
            </a:solidFill>
            <a:prstDash val="solid"/>
            <a:headEnd type="triangle" w="med" len="me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86EFED-4B3A-48C2-ABEB-E9D6CF6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1952625" cy="685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采样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电压、电流、温度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55CB74-F9F9-44A6-809E-9AE2551DC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571750"/>
            <a:ext cx="1952625" cy="685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判断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硬件告警与软件阈值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5DC629-E943-4367-828B-4B74FBEEE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571750"/>
            <a:ext cx="1952625" cy="685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执行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SOC更新与MOS控制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F2FC63-798F-4810-B8EE-40910A8B7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571750"/>
            <a:ext cx="1952625" cy="685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上报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UART状态输出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76111D-AC5A-4A7D-9F40-481129EF0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571750"/>
            <a:ext cx="1952625" cy="685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显示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上位机刷新</a:t>
            </a:r>
          </a:p>
        </p:txBody>
      </p:sp>
      <p:cxnSp>
        <p:nvCxnSpPr>
          <p:cNvPr id="49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2676525" y="2914650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C6B96"/>
            </a:solidFill>
            <a:prstDash val="solid"/>
            <a:headEnd type="triangle" w="med" len="med"/>
          </a:ln>
        </p:spPr>
      </p:cxnSp>
      <p:cxnSp>
        <p:nvCxnSpPr>
          <p:cNvPr id="50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4867275" y="2914650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C6B96"/>
            </a:solidFill>
            <a:prstDash val="solid"/>
            <a:headEnd type="triangle" w="med" len="med"/>
          </a:ln>
        </p:spPr>
      </p:cxnSp>
      <p:cxnSp>
        <p:nvCxnSpPr>
          <p:cNvPr id="51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7058025" y="2914650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C6B96"/>
            </a:solidFill>
            <a:prstDash val="solid"/>
            <a:headEnd type="triangle" w="med" len="med"/>
          </a:ln>
        </p:spPr>
      </p:cxnSp>
      <p:cxnSp>
        <p:nvCxnSpPr>
          <p:cNvPr id="52" name=""/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9248775" y="2914650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C6B96"/>
            </a:solidFill>
            <a:prstDash val="solid"/>
            <a:headEnd type="triangle" w="med" len="me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9F91A2-75FE-4C39-BD21-3B2119404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62350"/>
            <a:ext cx="1143000" cy="51435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7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中断边界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77838F-F5FB-422C-ADF0-6A3E8521C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562350"/>
            <a:ext cx="9467850" cy="51435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ALERT中断服务程序只发送任务通知，寄存器读取、故障解析和状态更新在任务上下文完成。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FD375B-E920-4181-9F39-05A84DAB4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48150"/>
            <a:ext cx="1143000" cy="51435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7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资源保护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588366-6006-4D2C-B8EB-62DD59E0A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248150"/>
            <a:ext cx="9467850" cy="51435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采样流程与串口命令都可能访问BQ76940，通过I2C互斥锁避免并发冲突。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5C4E34-8D02-40B3-B7B5-5193738E0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33950"/>
            <a:ext cx="1143000" cy="51435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7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SOC策略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1639EF-0674-4D5F-9DDD-D1A17F8FE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933950"/>
            <a:ext cx="9467850" cy="51435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安时积分作为主方法，静置约30s后结合OCV校正，并用满电、空电边界校准。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6DDAB13-673E-4476-857D-B7D6734E1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0"/>
            <a:ext cx="1143000" cy="51435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7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上位机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01CE80B-EF57-4A91-A46E-1C27B5E8C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619750"/>
            <a:ext cx="9467850" cy="51435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Python tkinter界面显示关键状态，接收命令后由STM32解析并执行。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4859C6F-B3B4-4D6E-9028-1F6BE8566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341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50000"/>
              </a:lnSpc>
              <a:buNone/>
              <a:def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06 / 09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11C43B3-2B1A-40EA-BC13-3606A5D94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资料来源：开题报告与项目资料</a:t>
            </a:r>
          </a:p>
        </p:txBody>
      </p:sp>
    </p:spTree>
    <p:extLst>
      <p:ext uri="{BB962C8B-B14F-4D97-AF65-F5344CB8AC3E}">
        <p14:creationId xmlns:p14="http://schemas.microsoft.com/office/powerpoint/2010/main" val="160956399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929CE83-870C-477A-BAA3-FCC5DFEC7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514350" cy="51435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12F146-0015-4BEB-990E-16573602C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1950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202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研究方法与技术路线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F7F8BF-0DA7-4F5C-AE1C-65924734F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7048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75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从需求分析到联调验证，测试结果反哺参数修正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6430A3-2CE6-476F-A43B-61B219AED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11125200" cy="55245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91598A-40C3-4985-AAF4-51CF5CE50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763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20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基于STM32的多串锂电池管理系统设计与实现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65EF5C-41D9-4F40-80F6-1723C1E88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763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50000"/>
              </a:lnSpc>
              <a:buNone/>
              <a:defRPr sz="1050" b="1">
                <a:solidFill>
                  <a:srgbClr val="2C6B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C6B96"/>
                </a:solidFill>
                <a:latin typeface="Microsoft YaHei"/>
                <a:ea typeface="Microsoft YaHei"/>
                <a:cs typeface="Microsoft YaHei"/>
              </a:rPr>
              <a:t>开题答辩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B6B429-6776-4C3B-AC7E-BEDA2CEC3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952625" cy="74295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需求分析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确定9串电池组、保护阈值与交互范围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83A8EE-FF40-4732-AEEC-ED5C813D4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352550"/>
            <a:ext cx="1952625" cy="74295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系统设计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完成总体架构、任务划分与硬件接口设计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60A12A-BB20-49EF-BA3C-B153A0F43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352550"/>
            <a:ext cx="1952625" cy="74295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功能实现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完成驱动、SOC估算、通信与上位机程序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C56901-437B-4588-AF4B-2B8FBFC2C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352550"/>
            <a:ext cx="1952625" cy="74295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联调测试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验证采集、保护、SOC与交互功能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313581-B467-42BB-8598-A70062454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352550"/>
            <a:ext cx="1952625" cy="74295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总结完善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整理测试数据并撰写毕业设计论文</a:t>
            </a:r>
          </a:p>
        </p:txBody>
      </p:sp>
      <p:cxnSp>
        <p:nvCxnSpPr>
          <p:cNvPr id="48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676525" y="1724025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C6B96"/>
            </a:solidFill>
            <a:prstDash val="solid"/>
            <a:headEnd type="triangle" w="med" len="med"/>
          </a:ln>
        </p:spPr>
      </p:cxnSp>
      <p:cxnSp>
        <p:nvCxnSpPr>
          <p:cNvPr id="49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867275" y="1724025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C6B96"/>
            </a:solidFill>
            <a:prstDash val="solid"/>
            <a:headEnd type="triangle" w="med" len="med"/>
          </a:ln>
        </p:spPr>
      </p:cxnSp>
      <p:cxnSp>
        <p:nvCxnSpPr>
          <p:cNvPr id="50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058025" y="1724025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C6B96"/>
            </a:solidFill>
            <a:prstDash val="solid"/>
            <a:headEnd type="triangle" w="med" len="med"/>
          </a:ln>
        </p:spPr>
      </p:cxnSp>
      <p:cxnSp>
        <p:nvCxnSpPr>
          <p:cNvPr id="51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9248775" y="1724025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C6B96"/>
            </a:solidFill>
            <a:prstDash val="solid"/>
            <a:headEnd type="triangle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38F42C-F407-4BD6-A4A0-83AC4C5B4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00300"/>
            <a:ext cx="1238250" cy="62865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文献研究法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99EBCD-2ECD-44C6-9619-0DACB54BE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400300"/>
            <a:ext cx="4191000" cy="62865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查阅BMS、SOC估算、均衡策略与STM32实现文献，确定技术路线。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016317-F0B2-4D9E-8B7D-FEB0446E0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57550"/>
            <a:ext cx="1238250" cy="62865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模块设计法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75C7A6-E1C1-4A4D-B837-F5F0D6AA7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257550"/>
            <a:ext cx="4191000" cy="62865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按主控、模拟前端、保护电路、通信和上位机划分设计单元。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65881D-4160-4C48-BF84-4D008C2EE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14800"/>
            <a:ext cx="1238250" cy="62865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实验验证法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8065C3-8FE2-482F-9C8E-8F3CB3A04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114800"/>
            <a:ext cx="4191000" cy="62865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从寄存器读取、告警响应到保护动作逐级验证，记录测试数据。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D3DE80-FD20-46D6-AD6B-E46E003BF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81250"/>
            <a:ext cx="1857375" cy="381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825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2026.06.25-07.02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A6EA03-B67B-4073-809A-D3DCAEFFC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381250"/>
            <a:ext cx="2714625" cy="381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选题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8A9CDA-8316-4D70-A3A4-630C18574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33700"/>
            <a:ext cx="1857375" cy="381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825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2026.07.03-07.16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599C32-4468-4CB9-A717-9E1805EC8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933700"/>
            <a:ext cx="2714625" cy="381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文献调研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541C674-6A4F-4F04-8A28-6AE8BCE1B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486150"/>
            <a:ext cx="1857375" cy="381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825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2026.07.17-09.22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2667F62-3AAD-4031-953D-C634EB7FE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3486150"/>
            <a:ext cx="2714625" cy="381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开题报告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7AC10D-F70F-4307-AFB0-5F9E90371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038600"/>
            <a:ext cx="1857375" cy="381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825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2026.09.24-10.19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E314217-CB6F-4F2E-897C-6FA027533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4038600"/>
            <a:ext cx="2714625" cy="381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系统设计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D18D6AD-408E-4127-9DEA-7E51CEC04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91050"/>
            <a:ext cx="1857375" cy="381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825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2026.10.20-11.01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148EAED-C293-4583-8A6E-F94394DE8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4591050"/>
            <a:ext cx="2714625" cy="381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硬件加工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D6B8A61-4DA1-40E7-95B2-15112AF87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143500"/>
            <a:ext cx="1857375" cy="381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825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2026.11.02-11.30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146495B-5EE3-4D84-9FF1-0086A05A4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5143500"/>
            <a:ext cx="2714625" cy="381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论文撰写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E9B2780-6400-4DC4-980B-DC1F080F9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0"/>
            <a:ext cx="10744200" cy="609600"/>
          </a:xfrm>
          <a:prstGeom xmlns:a="http://schemas.openxmlformats.org/drawingml/2006/main" prst="roundRect">
            <a:avLst>
              <a:gd name="adj" fmla="val 4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60000"/>
              </a:lnSpc>
              <a:buNone/>
              <a:defRPr sz="112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技术路线闭环：测试阶段发现的采样偏差、响应延迟或估算误差，会回溯到驱动、参数与软件逻辑进行修正。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AC40587-48F6-4D74-ADD7-DF1A403CE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341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50000"/>
              </a:lnSpc>
              <a:buNone/>
              <a:def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07 / 09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10FCCCE-A21F-4311-8F41-428707FE2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资料来源：开题报告与项目资料</a:t>
            </a:r>
          </a:p>
        </p:txBody>
      </p:sp>
    </p:spTree>
    <p:extLst>
      <p:ext uri="{BB962C8B-B14F-4D97-AF65-F5344CB8AC3E}">
        <p14:creationId xmlns:p14="http://schemas.microsoft.com/office/powerpoint/2010/main" val="57989321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BEC543-72A8-4F2A-B687-D60A28AA0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514350" cy="51435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478DF2-7005-43FD-8FD0-584464482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1950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202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测试与验证方案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1E4FA3-1548-41E9-AA03-70CF4F069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7048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75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以拟验证方式表述，不虚构未取得的误差数值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01C7C0-F416-45E5-8123-57EF9E752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11125200" cy="55245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6E1908-A1D5-44D4-93B3-48EBEE606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763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20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基于STM32的多串锂电池管理系统设计与实现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0B6EB7-E1FA-4A06-BAD2-B8F783A37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763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50000"/>
              </a:lnSpc>
              <a:buNone/>
              <a:defRPr sz="1050" b="1">
                <a:solidFill>
                  <a:srgbClr val="2C6B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C6B96"/>
                </a:solidFill>
                <a:latin typeface="Microsoft YaHei"/>
                <a:ea typeface="Microsoft YaHei"/>
                <a:cs typeface="Microsoft YaHei"/>
              </a:rPr>
              <a:t>开题答辩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256FF8-4AFA-4E3F-A971-B14DC3E16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428750" cy="5715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通信与采集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35DFC7-66FD-445C-9F4D-564D3010D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352550"/>
            <a:ext cx="4762500" cy="5715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验证BQ76940初始化、寄存器读取、数据刷新与ALERT响应。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94FF3A-4FB6-4B06-AAD0-74C34B8D2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14550"/>
            <a:ext cx="1428750" cy="5715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保护与执行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BFE4B9-D53B-44D4-843C-57438ADD4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114550"/>
            <a:ext cx="4762500" cy="5715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验证过充、过放、过流、过温阈值触发后充放电MOS的动作。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E8EA1E-6540-4062-91CA-F13164620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76550"/>
            <a:ext cx="1428750" cy="5715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SOC与校正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1B4259-6378-4CFE-92BC-ABF6BCCB0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876550"/>
            <a:ext cx="4762500" cy="5715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验证安时积分、静置OCV校正和满电、空电边界校准效果。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E0183B-16B2-4FC4-8B6E-A53AA40E5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1428750" cy="5715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交互与显示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8C9AF0-693D-4857-9F66-B408585F0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638550"/>
            <a:ext cx="4762500" cy="5715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验证UART命令解析、状态上报和Python上位机显示刷新。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8F852F-3A53-41DD-AF6A-2AC9DAAFF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00550"/>
            <a:ext cx="1428750" cy="5715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运行稳定性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0ACA24-550A-4217-87D7-C7E684BD6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400550"/>
            <a:ext cx="4762500" cy="5715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验证连续运行、异常恢复和均衡接口工作状态。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E29923-8886-4C14-BCB1-A251999BF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352550"/>
            <a:ext cx="1428750" cy="5715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预期成果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EF8505-BCB1-491E-AD01-331800826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352550"/>
            <a:ext cx="2419350" cy="66675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完成多串锂电池管理系统软硬件设计。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33CB4E-34DD-4FD0-B1AE-59DB02E00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09800"/>
            <a:ext cx="2419350" cy="66675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实现状态采集、保护判断、SOC估算与上位机交互。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8E904E-3A83-460E-8D20-F0AD5473D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067050"/>
            <a:ext cx="2419350" cy="66675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形成测试记录、测试数据和毕业设计论文。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4CCE1C-9148-444E-9A17-4964E8BCD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905250"/>
            <a:ext cx="4038600" cy="59055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60000"/>
              </a:lnSpc>
              <a:buNone/>
              <a:defRPr sz="97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验证重点：采样稳定性、保护链路及时性、SOC校正可用性和上位机交互连续性。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9BFDA7-BF33-4547-991A-2605BD0D1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0"/>
            <a:ext cx="10744200" cy="51435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75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测试表述采用拟验证或计划验证，硬件仍处于联调阶段，不宣称全部功能已经完成验证。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E15EE8-988E-4D6E-AB63-1F4996457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341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50000"/>
              </a:lnSpc>
              <a:buNone/>
              <a:def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08 / 09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121457-5A3E-473B-896A-E6C3F2B73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资料来源：开题报告与项目资料</a:t>
            </a:r>
          </a:p>
        </p:txBody>
      </p:sp>
    </p:spTree>
    <p:extLst>
      <p:ext uri="{BB962C8B-B14F-4D97-AF65-F5344CB8AC3E}">
        <p14:creationId xmlns:p14="http://schemas.microsoft.com/office/powerpoint/2010/main" val="109772581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7395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0CE1C2-46F5-4282-893E-EBF411C15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190750"/>
            <a:ext cx="6096000" cy="838200"/>
          </a:xfrm>
          <a:prstGeom xmlns:a="http://schemas.openxmlformats.org/drawingml/2006/main" prst="roundRect">
            <a:avLst>
              <a:gd name="adj" fmla="val 34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汇报结束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CCD9A1-BCB2-43AA-B175-A75081077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333750"/>
            <a:ext cx="7239000" cy="43815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350">
                <a:solidFill>
                  <a:srgbClr val="DCE8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DCE8F0"/>
                </a:solidFill>
                <a:latin typeface="Microsoft YaHei"/>
                <a:ea typeface="Microsoft YaHei"/>
                <a:cs typeface="Microsoft YaHei"/>
              </a:rPr>
              <a:t>基于STM32的多串锂电池管理系统设计与实现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F7B4C2-683F-406A-84A3-F9A54AB98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095750"/>
            <a:ext cx="4953000" cy="40005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请各位老师批评指正</a:t>
            </a:r>
          </a:p>
        </p:txBody>
      </p:sp>
    </p:spTree>
    <p:extLst>
      <p:ext uri="{BB962C8B-B14F-4D97-AF65-F5344CB8AC3E}">
        <p14:creationId xmlns:p14="http://schemas.microsoft.com/office/powerpoint/2010/main" val="1393211745"/>
      </p:ext>
    </p:extLst>
  </p:cSld>
</p:sld>
</file>

<file path=ppt/theme/theme1.xml><?xml version="1.0" encoding="utf-8"?>
<a:theme xmlns:a="http://schemas.openxmlformats.org/drawingml/2006/main" name="ChatGPT">
  <a:themeElements>
    <a:clrScheme name="Cool Blue Gray Academic">
      <a:dk1>
        <a:srgbClr val="121C27"/>
      </a:dk1>
      <a:lt1>
        <a:srgbClr val="FFFFFF"/>
      </a:lt1>
      <a:dk2>
        <a:srgbClr val="1B2B3A"/>
      </a:dk2>
      <a:lt2>
        <a:srgbClr val="DCE8F0"/>
      </a:lt2>
      <a:accent1>
        <a:srgbClr val="17395C"/>
      </a:accent1>
      <a:accent2>
        <a:srgbClr val="2C6B96"/>
      </a:accent2>
      <a:accent3>
        <a:srgbClr val="C4A55D"/>
      </a:accent3>
      <a:accent4>
        <a:srgbClr val="8F4242"/>
      </a:accent4>
      <a:accent5>
        <a:srgbClr val="2F6E52"/>
      </a:accent5>
      <a:accent6>
        <a:srgbClr val="70849A"/>
      </a:accent6>
      <a:hlink>
        <a:srgbClr val="17395C"/>
      </a:hlink>
      <a:folHlink>
        <a:srgbClr val="2C6B96"/>
      </a:folHlink>
    </a:clrScheme>
    <a:fontScheme name="Microsoft YaHei">
      <a:majorFont>
        <a:latin typeface="Microsoft YaHei"/>
        <a:ea typeface="Microsoft YaHei"/>
        <a:cs typeface="Microsoft YaHei"/>
      </a:majorFont>
      <a:minorFont>
        <a:latin typeface="Microsoft YaHei"/>
        <a:ea typeface="Microsoft YaHei"/>
        <a:cs typeface="Microsoft YaHei"/>
      </a:minorFont>
    </a:fontScheme>
    <a:fmtScheme name="Cool Blue Gray Academic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2026-09-21T03:03:58.6450000Z</dcterms:created>
  <dcterms:modified xsi:type="dcterms:W3CDTF">2026-09-21T03:03:58.6450000Z</dcterms:modified>
</coreProperties>
</file>