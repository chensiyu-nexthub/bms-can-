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f9430ac4a422d" /><Relationship Type="http://schemas.openxmlformats.org/officeDocument/2006/relationships/extended-properties" Target="/docProps/app.xml" Id="Rc86041a28dda45c8" /><Relationship Type="http://schemas.openxmlformats.org/officeDocument/2006/relationships/officeDocument" Target="/ppt/presentation.xml" Id="R3da2d1937aa2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04f9d22d4645e7"/>
  </p:sldMasterIdLst>
  <p:notesMasterIdLst>
    <p:notesMasterId xmlns:r="http://schemas.openxmlformats.org/officeDocument/2006/relationships" r:id="R5a4e7f4d46e14ae3"/>
  </p:notesMasterIdLst>
  <p:sldIdLst>
    <p:sldId xmlns:r="http://schemas.openxmlformats.org/officeDocument/2006/relationships" id="256" r:id="R71852e05c6404807"/>
    <p:sldId xmlns:r="http://schemas.openxmlformats.org/officeDocument/2006/relationships" id="257" r:id="R531eba94048045b7"/>
    <p:sldId xmlns:r="http://schemas.openxmlformats.org/officeDocument/2006/relationships" id="258" r:id="R58578331de294756"/>
    <p:sldId xmlns:r="http://schemas.openxmlformats.org/officeDocument/2006/relationships" id="259" r:id="R0e210539a97d45bc"/>
    <p:sldId xmlns:r="http://schemas.openxmlformats.org/officeDocument/2006/relationships" id="260" r:id="R0f38da3eadb74102"/>
    <p:sldId xmlns:r="http://schemas.openxmlformats.org/officeDocument/2006/relationships" id="261" r:id="R9bbdd73920bc4def"/>
    <p:sldId xmlns:r="http://schemas.openxmlformats.org/officeDocument/2006/relationships" id="262" r:id="Red3e24f53b7f48d4"/>
    <p:sldId xmlns:r="http://schemas.openxmlformats.org/officeDocument/2006/relationships" id="263" r:id="Ra0faa64392ba48d9"/>
    <p:sldId xmlns:r="http://schemas.openxmlformats.org/officeDocument/2006/relationships" id="264" r:id="Rb6c05cad8fc54ce6"/>
    <p:sldId xmlns:r="http://schemas.openxmlformats.org/officeDocument/2006/relationships" id="265" r:id="Rfe246dd43cab46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161ffe40e402b" /><Relationship Type="http://schemas.openxmlformats.org/officeDocument/2006/relationships/slideMaster" Target="/ppt/slideMasters/slideMaster1.xml" Id="R7d04f9d22d4645e7" /><Relationship Type="http://schemas.openxmlformats.org/officeDocument/2006/relationships/notesMaster" Target="/ppt/notesMasters/notesMaster1.xml" Id="R5a4e7f4d46e14ae3" /><Relationship Type="http://schemas.openxmlformats.org/officeDocument/2006/relationships/presProps" Target="/ppt/presProps.xml" Id="R9f312e0780a54dba" /><Relationship Type="http://schemas.openxmlformats.org/officeDocument/2006/relationships/tableStyles" Target="/ppt/tableStyles.xml" Id="Rfcde70f9da134510" /><Relationship Type="http://schemas.openxmlformats.org/officeDocument/2006/relationships/slide" Target="/ppt/slides/slide1.xml" Id="R71852e05c6404807" /><Relationship Type="http://schemas.openxmlformats.org/officeDocument/2006/relationships/slide" Target="/ppt/slides/slide2.xml" Id="R531eba94048045b7" /><Relationship Type="http://schemas.openxmlformats.org/officeDocument/2006/relationships/slide" Target="/ppt/slides/slide3.xml" Id="R58578331de294756" /><Relationship Type="http://schemas.openxmlformats.org/officeDocument/2006/relationships/slide" Target="/ppt/slides/slide4.xml" Id="R0e210539a97d45bc" /><Relationship Type="http://schemas.openxmlformats.org/officeDocument/2006/relationships/slide" Target="/ppt/slides/slide5.xml" Id="R0f38da3eadb74102" /><Relationship Type="http://schemas.openxmlformats.org/officeDocument/2006/relationships/slide" Target="/ppt/slides/slide6.xml" Id="R9bbdd73920bc4def" /><Relationship Type="http://schemas.openxmlformats.org/officeDocument/2006/relationships/slide" Target="/ppt/slides/slide7.xml" Id="Red3e24f53b7f48d4" /><Relationship Type="http://schemas.openxmlformats.org/officeDocument/2006/relationships/slide" Target="/ppt/slides/slide8.xml" Id="Ra0faa64392ba48d9" /><Relationship Type="http://schemas.openxmlformats.org/officeDocument/2006/relationships/slide" Target="/ppt/slides/slide9.xml" Id="Rb6c05cad8fc54ce6" /><Relationship Type="http://schemas.openxmlformats.org/officeDocument/2006/relationships/slide" Target="/ppt/slides/slide10.xml" Id="Rfe246dd43cab46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379c399009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c8e65de704e1c" /><Relationship Type="http://schemas.openxmlformats.org/officeDocument/2006/relationships/notesMaster" Target="/ppt/notesMasters/notesMaster1.xml" Id="R8b3352299b31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b30bc6e4fe4a38" /><Relationship Type="http://schemas.openxmlformats.org/officeDocument/2006/relationships/notesMaster" Target="/ppt/notesMasters/notesMaster1.xml" Id="R2be72654bb9046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cb964864d42c7" /><Relationship Type="http://schemas.openxmlformats.org/officeDocument/2006/relationships/notesMaster" Target="/ppt/notesMasters/notesMaster1.xml" Id="R9dd10fedfe7f4c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64bd27c71b4f72" /><Relationship Type="http://schemas.openxmlformats.org/officeDocument/2006/relationships/notesMaster" Target="/ppt/notesMasters/notesMaster1.xml" Id="Rbb2cfdd165b94d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a61b37dcc14211" /><Relationship Type="http://schemas.openxmlformats.org/officeDocument/2006/relationships/notesMaster" Target="/ppt/notesMasters/notesMaster1.xml" Id="R1ca4ea1d7f56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8cd314ae514f05" /><Relationship Type="http://schemas.openxmlformats.org/officeDocument/2006/relationships/notesMaster" Target="/ppt/notesMasters/notesMaster1.xml" Id="Re80479e5f3d742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12ca941cae442c" /><Relationship Type="http://schemas.openxmlformats.org/officeDocument/2006/relationships/notesMaster" Target="/ppt/notesMasters/notesMaster1.xml" Id="R452272ddf11845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de288b9e444012" /><Relationship Type="http://schemas.openxmlformats.org/officeDocument/2006/relationships/notesMaster" Target="/ppt/notesMasters/notesMaster1.xml" Id="R42525e6e968c4e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ffafe522df4996" /><Relationship Type="http://schemas.openxmlformats.org/officeDocument/2006/relationships/notesMaster" Target="/ppt/notesMasters/notesMaster1.xml" Id="Rb5745398e18242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b839835504484c" /><Relationship Type="http://schemas.openxmlformats.org/officeDocument/2006/relationships/notesMaster" Target="/ppt/notesMasters/notesMaster1.xml" Id="R16af33df7213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封面背景由本项目资料整理生成。答辩时先介绍课题名称、专业与指导教师。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背景页说明选题来自多串锂电池的实际安全需求，不强调产品化，而强调验证型BMS主线。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重点说明本课题目标是验证型系统主线，避免把CAN、蓝牙等扩展功能说成已实现。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讲意义时将安全价值、学习价值和工程参考价值分层说明，避免空泛表述。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现状页只概括趋势，具体文献结论已在开题报告中展开。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这页是全局主链路，重点区分数据流和安全控制链路。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选型页说明为什么合适，不写成所有硬件均已完整验证成功。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测试表述以拟验证为主，不宣称当前全部完成。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收束页强调方法与路线，并按学校进度安排展示后续计划。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6c58b03b943f5" /><Relationship Type="http://schemas.openxmlformats.org/officeDocument/2006/relationships/theme" Target="/ppt/theme/theme1.xml" Id="R8fb485147bfe475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6c58b03b943f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2631eacae43ec" /><Relationship Type="http://schemas.openxmlformats.org/officeDocument/2006/relationships/image" Target="/ppt/media/image.png" Id="R5c8ed4e0b2d04d0f" /><Relationship Type="http://schemas.openxmlformats.org/officeDocument/2006/relationships/notesSlide" Target="/ppt/notesSlides/notesSlide1.xml" Id="Ra84e4b3197eb4d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667064fa24d95" /><Relationship Type="http://schemas.openxmlformats.org/officeDocument/2006/relationships/notesSlide" Target="/ppt/notesSlides/notesSlide2.xml" Id="Rf9f96d0ad04241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f2ecb7d1449f2" /><Relationship Type="http://schemas.openxmlformats.org/officeDocument/2006/relationships/notesSlide" Target="/ppt/notesSlides/notesSlide3.xml" Id="R2e26e2082e0446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c64ab594243a4" /><Relationship Type="http://schemas.openxmlformats.org/officeDocument/2006/relationships/notesSlide" Target="/ppt/notesSlides/notesSlide4.xml" Id="Rc8a2331eb9b643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ed30aaa334922" /><Relationship Type="http://schemas.openxmlformats.org/officeDocument/2006/relationships/notesSlide" Target="/ppt/notesSlides/notesSlide5.xml" Id="R4168b82e12fe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b45a704ef4b08" /><Relationship Type="http://schemas.openxmlformats.org/officeDocument/2006/relationships/notesSlide" Target="/ppt/notesSlides/notesSlide6.xml" Id="Re4240a3a18ac4e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212676f374d32" /><Relationship Type="http://schemas.openxmlformats.org/officeDocument/2006/relationships/image" Target="/ppt/media/image2.png" Id="Ra221bc8dce9c47dc" /><Relationship Type="http://schemas.openxmlformats.org/officeDocument/2006/relationships/notesSlide" Target="/ppt/notesSlides/notesSlide7.xml" Id="Rfd94a0790e734a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e315e23684d5c" /><Relationship Type="http://schemas.openxmlformats.org/officeDocument/2006/relationships/notesSlide" Target="/ppt/notesSlides/notesSlide8.xml" Id="Re93695729ddf47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8344ffa044fad" /><Relationship Type="http://schemas.openxmlformats.org/officeDocument/2006/relationships/notesSlide" Target="/ppt/notesSlides/notesSlide9.xml" Id="Rd0406449f4e846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9c53bde0f4245" /><Relationship Type="http://schemas.openxmlformats.org/officeDocument/2006/relationships/notesSlide" Target="/ppt/notesSlides/notesSlide10.xml" Id="R1073224018204b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ed4e0b2d04d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6D5DE-F31D-4505-AF33-55CBD93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8DE4E-5BDA-4316-9921-654E8CA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1219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A51A3-985F-42EC-8510-448F2324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E7769-3256-484D-9306-F630ECF6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>
                <a:solidFill>
                  <a:srgbClr val="DBE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DBEAFE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418BF-D2E5-4129-9705-2E19F8E1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杭州电子科技大学信息工程学院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DB109-BA51-4A6A-9772-20588D1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姓名：＿＿＿＿＿＿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39DC-B26A-423E-A32D-22466E66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学号：＿＿＿＿＿＿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E0B7C-3FC8-4BB5-9337-0BEDF05D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专业：＿＿＿＿＿＿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C1070-3296-4BC2-83ED-F3382E7D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62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指导教师：＿＿＿＿＿＿</a:t>
            </a:r>
          </a:p>
        </p:txBody>
      </p:sp>
    </p:spTree>
    <p:extLst>
      <p:ext uri="{BB962C8B-B14F-4D97-AF65-F5344CB8AC3E}">
        <p14:creationId xmlns:p14="http://schemas.microsoft.com/office/powerpoint/2010/main" val="1050604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4A74B-C28F-46D7-89EC-898F1DD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B991C-1355-4F4D-B0F1-3E5ED51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A215A-5E50-4F36-A68C-62F5917B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多串锂电池已广泛用于便携设备、储能装置和小型动力系统。电池组在充放电过程中会出现单体电压不一致、温度分布不均和过流风险，仅依靠人工检测难以满足实时管理要求。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1C4DA-9FF6-4986-B2B0-1F94F317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电池管理系统可持续采集电压、电流和温度，根据状态变化执行保护动作，并在异常发生前给出提示。围绕多串锂电池设计一套结构清晰、功能可验证的BMS，具有明确的应用需求和研究价值。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5D616-7C9F-4693-A707-660F7CC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应用需求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储能与小型动力系统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5FCC3-0E1F-4C79-9759-42D2098E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安全风险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3DA76-F420-4AAA-8056-9F465B21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管理需求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实时采集与保护控制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417B5-05FF-40DC-BE45-6CA0CC2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嵌入式软硬件闭环验证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57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287000" y="2286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52FBB-A6DD-4EA1-9F2A-6A2975CF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194201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8D678-1D01-4716-8425-D2507E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研究目的与预期目标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2C73E-8DC2-49DB-BAD3-370C09E9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06900-0AB3-4F8D-88EF-BD5CDF78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C1174-530B-4190-B7B2-6DD72014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设计一套基于STM32F103C8T6与BQ76940的多串锂电池管理系统，完成状态采集、安全保护、SOC估算、基础均衡接口和上位机调试，形成可运行的嵌入式软硬件方案。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B56FC-5B66-483F-9D65-500073D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954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完成整体方案与软硬件功能划分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1B93A-E9D4-4290-857F-D443CCC4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实现电压、电流、温度周期采集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B818A-1AF3-4551-896F-A45AFCD2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建立软硬件结合的保护控制机制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C5151-0580-4042-8490-E5FB3C05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完成SOC估算与OCV校正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F3806-58A3-4632-9B6C-855626CD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实现UART命令与Python上位机调试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28FF3-2109-4B8D-8BB9-126D7025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17383499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857E8-ECB1-4962-A820-5C099E6F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1AD30-DA4B-454A-82E9-F5307F1A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2F1ED-E123-4EA4-BCB9-2990B5A4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减少过充、过放和过热风险，延长电池组使用寿命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3CE92-1AAF-45BB-B285-B9E2285E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覆盖嵌入式软硬件、通信、RTOS和电池保护策略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1684D-8399-413C-8D7A-1B2BFF2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为同类多串锂电池管理系统设计提供可借鉴方案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EF61C-1CDD-44AB-B19C-197DD725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本课题采用STM32F103C8T6作为主控，配合BQ76940完成电池信息采集与保护控制。方案成本可控，开发流程完整，能够体现嵌入式实时系统在资源调度与共享资源保护中的应用。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534E4-CD6B-4B48-BBBC-803A7EC8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SOC估算结合安时积分与静置开路电压校正，用于降低长期计算的累积误差。相比单纯依赖芯片保护的传统方案，软件与硬件结合更利于分析电池运行规律，也为后续算法改进留下空间。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38600" y="2047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15250" y="2047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82F04-545E-4B6B-898A-82BC470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6102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74F8A-22FE-44C5-84FB-E2ECF983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CF559-CFC1-44A0-B82B-1DB82FA2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3F652-A940-492E-9D6F-2DD3553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国内研究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面向安全保护、SOC估算、均衡控制与具体应用场景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6BB14-0F83-4240-A747-7E4A70A9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335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国外研究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硬件架构、状态估算、主动均衡拓扑与物联网集成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6FEBF-9AC5-4943-9320-57DF7683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共同趋势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保护策略、估计算法与多任务系统设计不断融合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571750"/>
            <a:ext cx="19621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715250" y="2571750"/>
            <a:ext cx="19621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A9AA8-C531-442C-B170-EF3132A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国内文献关注具体应用中的温度保护、远程监控和SOC算法改进；国外文献在主动均衡拓扑、滤波与数据驱动融合、STM32与专用AFE集成方面有较多探索。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75398-B2C5-41ED-AD13-D4764F88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已有研究为系统架构和算法选择提供依据，但面向STM32平台的工程实现仍需处理采样时序、共享资源调度和保护响应等约束。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F6429-6E61-4AEE-AE0F-317139EA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资料来源：开题报告参考文献[1]至[12]</a:t>
            </a:r>
          </a:p>
        </p:txBody>
      </p:sp>
    </p:spTree>
    <p:extLst>
      <p:ext uri="{BB962C8B-B14F-4D97-AF65-F5344CB8AC3E}">
        <p14:creationId xmlns:p14="http://schemas.microsoft.com/office/powerpoint/2010/main" val="210982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5C23D-BF20-4C41-9925-F71C553E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系统总体方案与数据流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23342-F717-4F7D-A847-507081F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3DAA2-68BF-43DB-AA44-0519A63B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9串18650锂电池组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AB7C8-83F5-4A57-842C-3654F1A0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2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F2F04-EEB1-4B05-9E7C-EFE512A9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24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75C1D-8E52-46C4-B19A-2F08D3CF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UART通信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D59C3-9CE3-4522-934F-D7FB8F2F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24100" y="1905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905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24650" y="19050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96300" y="1905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0B4F9-0C01-42C5-88C2-A804574F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361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保护优先于显示与命令交互</a:t>
            </a:r>
          </a:p>
        </p:txBody>
      </p: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819775" y="2286000"/>
            <a:ext cx="1809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2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3619500" y="2286000"/>
            <a:ext cx="23812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D52AA-7E5B-4BA2-BD84-399AD58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数据流：电压、电流、温度由BQ76940采集，STM32通过软件I2C读取后完成阈值判断、SOC更新和状态整理，再经UART上传至上位机显示。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199D7-F2A4-4D0C-B644-823EF52E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控制流：BQ76940提供硬件告警，ALERT通知STM32，软件结合阈值判断风险等级，并通过充放电MOS执行保护。CAN、蓝牙、串口屏仅作为扩展预留。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C89BD-E868-4079-B044-A6301153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资料来源：项目开题报告研究方案与总体设计</a:t>
            </a:r>
          </a:p>
        </p:txBody>
      </p:sp>
    </p:spTree>
    <p:extLst>
      <p:ext uri="{BB962C8B-B14F-4D97-AF65-F5344CB8AC3E}">
        <p14:creationId xmlns:p14="http://schemas.microsoft.com/office/powerpoint/2010/main" val="1853041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BF31C-65E4-4258-9C7C-9A720E36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3A1D1-C6C7-4905-B592-4F1BFC8B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205C1-B34D-4952-B2A7-657920BB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C1016-3B79-45DF-A547-335CEB22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858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0EAA2-30EE-486F-977A-9D4F551D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858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外设资源、实时性、资料成熟度和成本均衡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FB30A-501A-4ECD-87E1-BF251E78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EAAD6-503A-4AFD-9549-1A625DDD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145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C47F0-323E-4AF1-A6E2-60836416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145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支持多串采集、硬件告警、MOS控制和被动均衡资源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D65C7-205D-44A3-BCBF-C488EE4C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A4136-BC98-4914-8957-5B1098D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432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46612-B746-4B4A-AF2E-8F0D2109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3B3F1-2ABF-4766-8E71-70CDA79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60F91-34A5-4C07-807A-3D5BE45D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ECCA6-2893-420E-A3B7-3FF54EB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719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1bc8dce9c47dc"/>
          <a:stretch xmlns:a="http://schemas.openxmlformats.org/drawingml/2006/main"/>
        </p:blipFill>
        <p:spPr>
          <a:xfrm xmlns:a="http://schemas.openxmlformats.org/drawingml/2006/main">
            <a:off x="8810625" y="2073767"/>
            <a:ext cx="2714625" cy="208181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C318E-F95D-4EEB-B857-87D0D26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29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图片来源：项目资料BQ769X0应用资料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1E8F8-6BB7-4697-BE87-12BCB6A7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硬件仍处于联调阶段，软件I2C读取BQ76940的稳定性、上拉电阻、唤醒流程和寄存器读取需要后续验证。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68B1E-029D-4A04-8A51-C36CA504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1014044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3493A-DDF9-450D-A9B8-1FC5A24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06106-C0B8-402F-A957-58CA8043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9DE8C-1D57-405E-9F43-4E4F2D0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高优先级，500ms周期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可由ALERT通知唤醒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DE651-D8D7-4451-86B4-EF7C804F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低优先级，50ms轮询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解析串口命令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944AE-3D2C-4EC2-BC71-A311CDE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33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A8E02-8A28-4445-9B06-006370DE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33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保护共享BQ76940访问</a:t>
            </a:r>
          </a:p>
        </p:txBody>
      </p:sp>
      <p:cxnSp>
        <p:nvCxnSpPr>
          <p:cNvPr id="28" name=""/>
          <p:cNvCxnSpPr>
            <a:stCxn xmlns:a="http://schemas.openxmlformats.org/drawingml/2006/main" id="5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2238375" y="1333500"/>
            <a:ext cx="57626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4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5381625" y="1333500"/>
            <a:ext cx="4762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3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238375" y="1333500"/>
            <a:ext cx="7905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1AA66-DED7-4D3B-BCA8-9F2E4FE5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E916F-9F1E-4A74-9AFC-4F37465E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软件阈值与硬件告警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9FD98-0C6F-42A2-B7C8-5F7659BE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B5859-CF32-4D96-897C-2B076FE5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C2D3E-363D-4B98-89E4-F8990745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8125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7200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85800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5825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2E922-E0DD-490D-BCB4-1D6FC325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中断服务程序不执行I2C操作，寄存器读取、故障解析和状态更新在任务上下文中完成。串口命令若访问BQ76940，也必须在互斥锁保护下进行。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60054-93A5-4DD8-AB17-6CA009A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SOC采用安时积分，静置约30s后结合开路电压校正，并以满电、空电边界校准。基础被动均衡接口支持掩码与手动控制，不夸大为完整自主策略。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90E9F-ED23-4342-9CE7-04FC6A1B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2114557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D9467-C461-45FE-A933-F3C8880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E688F-B44E-4751-9116-6EAEB90F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43FF8-7941-4570-A16A-3DEBB1C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验证BQ76940初始化、寄存器读取、ALERT响应和重初始化机制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6ED52-6D3E-442B-B5F9-E79E0DE0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拟验证过压、欠压、过流、过温、低温充电阈值与MOS动作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2E294-A2C2-47AC-9B7D-48D7F33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观察安时积分、静置OCV校正和边界校准的误差变化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19595-26DD-4A8D-8563-727A9CEC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交互与调试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验证串口命令解析、上位机显示和调试控制功能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0B01E-9B2C-49A6-B7DE-024AB44E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连续运行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拟进行长时间运行测试，观察通信异常、任务阻塞和数据保存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98D01-0A2C-4B42-A9B2-00D10E36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验证顺序：通信稳定后开展采集精度检查，再验证保护动作，最后完成整机连续运行测试。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B7FB8-B336-4285-B9A4-283783FC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通信→采集→保护→SOC→上位机→连续运行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7479C-0BFE-4CD8-BDC4-D961E3AB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304565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0254B-6639-44F6-BCC6-9088FAC7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81A25-6485-49FD-826C-2C3D13EB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126B1-A155-43D8-AB9C-E25BB49E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研究方法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文献研究、系统设计、实验调试、软件工程、对比验证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7AFDC-5CFA-4B7D-81B0-53183BB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335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确定功能范围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92C4D-E611-4F2C-9EE3-96EBA5A7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硬件连接与任务划分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19EF-4A0B-46BD-BA3B-283AC4A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762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286750" y="1762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276600" y="1762125"/>
            <a:ext cx="7239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65791-0CD0-46CE-B73D-5A2689FB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通信、保护、SOC与上位机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42FD6-DF7E-44A0-BD6B-A5BC1F60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整理数据与论文材料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286625" y="2190750"/>
            <a:ext cx="23812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3286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D1C35-06AE-4E82-98F4-EF7BF381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2026.6.25-9.22  选题、任务书、开题报告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26B5E-0168-4997-BF05-1CE64A8D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2026.9.23-10.19  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8251A-1145-42AB-9E04-5884CB99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2026.10.20-11.1  中期检查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5E99C-54E1-427B-9680-8D6C8244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2026.11.2-12.22  论文撰写、评审与送审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51924-5CFA-4F08-B2AE-0C18B3CC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2026.12.23  毕业答辩</a:t>
            </a:r>
          </a:p>
        </p:txBody>
      </p:sp>
      <p:cxnSp>
        <p:nvCxnSpPr>
          <p:cNvPr id="43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086100" y="32766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086100" y="3771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086100" y="42672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086100" y="47625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18635-FE78-4635-A3AF-2456FB6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本课题按需求分析、系统设计、软件开发、功能验证和总结完善的顺序推进，测试结论用于调整阈值参数与软件逻辑。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EDB5E-C8F0-4396-B4B6-002AB94F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资料来源：项目开题报告研究方法与技术路线</a:t>
            </a:r>
          </a:p>
        </p:txBody>
      </p:sp>
    </p:spTree>
    <p:extLst>
      <p:ext uri="{BB962C8B-B14F-4D97-AF65-F5344CB8AC3E}">
        <p14:creationId xmlns:p14="http://schemas.microsoft.com/office/powerpoint/2010/main" val="707838771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2026-09-20T02:38:42.6650000Z</dcterms:created>
  <dcterms:modified xsi:type="dcterms:W3CDTF">2026-09-20T02:38:42.6650000Z</dcterms:modified>
</coreProperties>
</file>