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50a4532544e65" /><Relationship Type="http://schemas.openxmlformats.org/officeDocument/2006/relationships/extended-properties" Target="/docProps/app.xml" Id="R69070df4bba742ff" /><Relationship Type="http://schemas.openxmlformats.org/officeDocument/2006/relationships/officeDocument" Target="/ppt/presentation.xml" Id="R3ae59d4924f9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7a1df6f6b8412b"/>
  </p:sldMasterIdLst>
  <p:notesMasterIdLst>
    <p:notesMasterId xmlns:r="http://schemas.openxmlformats.org/officeDocument/2006/relationships" r:id="Rda06b33e062842d8"/>
  </p:notesMasterIdLst>
  <p:sldIdLst>
    <p:sldId xmlns:r="http://schemas.openxmlformats.org/officeDocument/2006/relationships" id="256" r:id="R009fa08cc2fd4ae5"/>
    <p:sldId xmlns:r="http://schemas.openxmlformats.org/officeDocument/2006/relationships" id="257" r:id="R91988ada3b3c47ca"/>
    <p:sldId xmlns:r="http://schemas.openxmlformats.org/officeDocument/2006/relationships" id="258" r:id="R5f4a956fac234073"/>
    <p:sldId xmlns:r="http://schemas.openxmlformats.org/officeDocument/2006/relationships" id="259" r:id="Rb03d91fc658744cc"/>
    <p:sldId xmlns:r="http://schemas.openxmlformats.org/officeDocument/2006/relationships" id="260" r:id="R736740735d30435c"/>
    <p:sldId xmlns:r="http://schemas.openxmlformats.org/officeDocument/2006/relationships" id="261" r:id="R6089dc1145c54b07"/>
    <p:sldId xmlns:r="http://schemas.openxmlformats.org/officeDocument/2006/relationships" id="262" r:id="Rb83605c258c04e52"/>
    <p:sldId xmlns:r="http://schemas.openxmlformats.org/officeDocument/2006/relationships" id="263" r:id="R0da9ac33def741bb"/>
    <p:sldId xmlns:r="http://schemas.openxmlformats.org/officeDocument/2006/relationships" id="264" r:id="R5d5d403254314be6"/>
    <p:sldId xmlns:r="http://schemas.openxmlformats.org/officeDocument/2006/relationships" id="265" r:id="Rdc58e0ce796844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e1553e4f6a412d" /><Relationship Type="http://schemas.openxmlformats.org/officeDocument/2006/relationships/slideMaster" Target="/ppt/slideMasters/slideMaster1.xml" Id="R007a1df6f6b8412b" /><Relationship Type="http://schemas.openxmlformats.org/officeDocument/2006/relationships/notesMaster" Target="/ppt/notesMasters/notesMaster1.xml" Id="Rda06b33e062842d8" /><Relationship Type="http://schemas.openxmlformats.org/officeDocument/2006/relationships/presProps" Target="/ppt/presProps.xml" Id="Ref70d33c80624299" /><Relationship Type="http://schemas.openxmlformats.org/officeDocument/2006/relationships/tableStyles" Target="/ppt/tableStyles.xml" Id="Rf012b44814c14765" /><Relationship Type="http://schemas.openxmlformats.org/officeDocument/2006/relationships/slide" Target="/ppt/slides/slide1.xml" Id="R009fa08cc2fd4ae5" /><Relationship Type="http://schemas.openxmlformats.org/officeDocument/2006/relationships/slide" Target="/ppt/slides/slide2.xml" Id="R91988ada3b3c47ca" /><Relationship Type="http://schemas.openxmlformats.org/officeDocument/2006/relationships/slide" Target="/ppt/slides/slide3.xml" Id="R5f4a956fac234073" /><Relationship Type="http://schemas.openxmlformats.org/officeDocument/2006/relationships/slide" Target="/ppt/slides/slide4.xml" Id="Rb03d91fc658744cc" /><Relationship Type="http://schemas.openxmlformats.org/officeDocument/2006/relationships/slide" Target="/ppt/slides/slide5.xml" Id="R736740735d30435c" /><Relationship Type="http://schemas.openxmlformats.org/officeDocument/2006/relationships/slide" Target="/ppt/slides/slide6.xml" Id="R6089dc1145c54b07" /><Relationship Type="http://schemas.openxmlformats.org/officeDocument/2006/relationships/slide" Target="/ppt/slides/slide7.xml" Id="Rb83605c258c04e52" /><Relationship Type="http://schemas.openxmlformats.org/officeDocument/2006/relationships/slide" Target="/ppt/slides/slide8.xml" Id="R0da9ac33def741bb" /><Relationship Type="http://schemas.openxmlformats.org/officeDocument/2006/relationships/slide" Target="/ppt/slides/slide9.xml" Id="R5d5d403254314be6" /><Relationship Type="http://schemas.openxmlformats.org/officeDocument/2006/relationships/slide" Target="/ppt/slides/slide10.xml" Id="Rdc58e0ce7968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d5ffcdf8d8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e970ba1794298" /><Relationship Type="http://schemas.openxmlformats.org/officeDocument/2006/relationships/notesMaster" Target="/ppt/notesMasters/notesMaster1.xml" Id="R4ea3ba6815b8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2924d508d949b7" /><Relationship Type="http://schemas.openxmlformats.org/officeDocument/2006/relationships/notesMaster" Target="/ppt/notesMasters/notesMaster1.xml" Id="Rbe9e841aa945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55699caf72432e" /><Relationship Type="http://schemas.openxmlformats.org/officeDocument/2006/relationships/notesMaster" Target="/ppt/notesMasters/notesMaster1.xml" Id="Rb60c67ad4cf0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b70399d0eb4cc1" /><Relationship Type="http://schemas.openxmlformats.org/officeDocument/2006/relationships/notesMaster" Target="/ppt/notesMasters/notesMaster1.xml" Id="R6ab6e438a70a41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6813a604e4656" /><Relationship Type="http://schemas.openxmlformats.org/officeDocument/2006/relationships/notesMaster" Target="/ppt/notesMasters/notesMaster1.xml" Id="Rabb7df4219fd49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e947ccddec4480" /><Relationship Type="http://schemas.openxmlformats.org/officeDocument/2006/relationships/notesMaster" Target="/ppt/notesMasters/notesMaster1.xml" Id="R302390c35c8a45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1ab4f16ee4d52" /><Relationship Type="http://schemas.openxmlformats.org/officeDocument/2006/relationships/notesMaster" Target="/ppt/notesMasters/notesMaster1.xml" Id="R49947957155648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5c9ff47e344863" /><Relationship Type="http://schemas.openxmlformats.org/officeDocument/2006/relationships/notesMaster" Target="/ppt/notesMasters/notesMaster1.xml" Id="R186ae8e196a640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a0980b99e74b0b" /><Relationship Type="http://schemas.openxmlformats.org/officeDocument/2006/relationships/notesMaster" Target="/ppt/notesMasters/notesMaster1.xml" Id="Rf2317048d6af44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409a5fce504a90" /><Relationship Type="http://schemas.openxmlformats.org/officeDocument/2006/relationships/notesMaster" Target="/ppt/notesMasters/notesMaster1.xml" Id="R39b003ae606b40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开场介绍课题名称、答辩身份和指导教师，背景为生成图，不作为实验照片。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本页用因果链说明选题来源，不夸大应用规模，重点落在多串成组后的管理需求。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强调验证型目标，不把CAN、蓝牙、串口屏写成当前已实现功能。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把工程价值、学习价值和应用参考分层说明，避免笼统表述。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现状页用表格归纳，不逐篇展开文献，具体依据见开题报告参考文献。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重点区分数据流与安全控制链路，避免把扩展功能说成已实现。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选型说明合适性，不宣称所有硬件均已完整验证成功。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测试顺序从通信到整机，明确当前硬件仍在联调阶段。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收束页强调从需求到总结的闭环，并对应学校进度安排。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359a28f2545db" /><Relationship Type="http://schemas.openxmlformats.org/officeDocument/2006/relationships/theme" Target="/ppt/theme/theme1.xml" Id="Rcc1f787f9064477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359a28f2545db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e7229a0da432c" /><Relationship Type="http://schemas.openxmlformats.org/officeDocument/2006/relationships/image" Target="/ppt/media/image.png" Id="R79ae884edb974cfc" /><Relationship Type="http://schemas.openxmlformats.org/officeDocument/2006/relationships/notesSlide" Target="/ppt/notesSlides/notesSlide1.xml" Id="R14a249d8ff49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a597687544cc4" /><Relationship Type="http://schemas.openxmlformats.org/officeDocument/2006/relationships/notesSlide" Target="/ppt/notesSlides/notesSlide2.xml" Id="Rd5e9be94784849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e53453bcd4658" /><Relationship Type="http://schemas.openxmlformats.org/officeDocument/2006/relationships/notesSlide" Target="/ppt/notesSlides/notesSlide3.xml" Id="R98aebf55421e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c5d3df6584dfc" /><Relationship Type="http://schemas.openxmlformats.org/officeDocument/2006/relationships/notesSlide" Target="/ppt/notesSlides/notesSlide4.xml" Id="R231a32e2c87b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68a052890401a" /><Relationship Type="http://schemas.openxmlformats.org/officeDocument/2006/relationships/notesSlide" Target="/ppt/notesSlides/notesSlide5.xml" Id="Re291720d8641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337d77db4b06" /><Relationship Type="http://schemas.openxmlformats.org/officeDocument/2006/relationships/notesSlide" Target="/ppt/notesSlides/notesSlide6.xml" Id="R4dc7cb25b0cd46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26b5d48c14740" /><Relationship Type="http://schemas.openxmlformats.org/officeDocument/2006/relationships/image" Target="/ppt/media/image2.png" Id="R045e9f8286a44ce1" /><Relationship Type="http://schemas.openxmlformats.org/officeDocument/2006/relationships/notesSlide" Target="/ppt/notesSlides/notesSlide7.xml" Id="R0d35835e15c248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b578717454e95" /><Relationship Type="http://schemas.openxmlformats.org/officeDocument/2006/relationships/notesSlide" Target="/ppt/notesSlides/notesSlide8.xml" Id="Rf9f8dd03087947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15beaefe47ff" /><Relationship Type="http://schemas.openxmlformats.org/officeDocument/2006/relationships/notesSlide" Target="/ppt/notesSlides/notesSlide9.xml" Id="Rea1bd99d776e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58d20a2b484b" /><Relationship Type="http://schemas.openxmlformats.org/officeDocument/2006/relationships/notesSlide" Target="/ppt/notesSlides/notesSlide10.xml" Id="Rf0bf8144fa134a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e884edb974cfc"/>
          <a:srcRect xmlns:a="http://schemas.openxmlformats.org/drawingml/2006/main" l="0" t="33333" r="0" b="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F32E8-0435-4264-B036-E79A8BF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7C"/>
          </a:solidFill>
          <a:ln xmlns:a="http://schemas.openxmlformats.org/drawingml/2006/main" w="0">
            <a:solidFill>
              <a:srgbClr val="174A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28625-3E16-4B8F-89EE-CEE41CA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E6D1B-3389-4AAB-9EBE-FD983E7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3CA34-A357-492A-9749-4DB0D98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CA21-C720-43F5-BF96-E71F588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9CCB1-7671-464D-8A29-20E3980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F344D-A153-4E98-8FDD-B35F23AA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6D1F2-DF7A-4BB3-9C05-315A804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D60C5-BBA2-44D0-8022-D90CC01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54719-9722-43A9-8C7C-17B8E22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4B93B-FBEE-45BC-93CE-D7937546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25118-91E9-4EBD-9315-FC4E21C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背景图：Image2生成，仅作学术答辩视觉背景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646764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40130-9B3A-458F-A6AA-A907EF6E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C4411-803D-423F-A9BE-2101A3F0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D3D2A-D56C-4B52-8B57-329D5C7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锂电池应用持续扩大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储能与小型动力场景增多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2EA39-A183-4139-BEC1-B472EC6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多串成组带来单体差异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电压、容量与温度不一致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9E4CA-219C-444F-88D5-0941209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运行风险需要实时约束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920F6-EC8D-4E0C-B1AE-6804E6A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管理系统成为必要环节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采集、判断、保护与显示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439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691B5-EDC7-4E4F-B3A4-34CA99F6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多串锂电池组的安全边界与单体差异有关，电池管理系统需要在有限嵌入式资源内完成状态感知、风险判断和执行控制。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1A5CC-531F-4BED-ABFB-D2A89C6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课题面向这一需求，围绕多串电池组的安全运行与状态可观测性展开设计。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5BF6E-5A61-488E-B0E6-BB20373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E8017-693B-4EF1-9172-3FF14A7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资料来源：开题报告研究背景</a:t>
            </a:r>
          </a:p>
        </p:txBody>
      </p:sp>
    </p:spTree>
    <p:extLst>
      <p:ext uri="{BB962C8B-B14F-4D97-AF65-F5344CB8AC3E}">
        <p14:creationId xmlns:p14="http://schemas.microsoft.com/office/powerpoint/2010/main" val="651508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595E0-6CC4-47A8-B6A9-C90FB20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研究目的与预期成果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207B9-66B8-4BEE-A44C-E7955A71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E75F2-87E2-4BF6-B942-6958F82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设计一套可验证的多串锂电池管理系统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9A06F-4A0A-4E11-B9AE-DD72AD7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D308-D5AA-4CB0-9E60-A98CDDED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阈值判断与MOS动作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11AD2-90D9-48AE-8A4A-8137C92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SOC计算与校正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C8C8F-4D6E-4862-91AA-4687600A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UART命令与上位机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333625"/>
            <a:ext cx="39052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5334000" y="233362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477250" y="1857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1857375"/>
            <a:ext cx="2524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03D27-F81D-4994-9670-E1A4F14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预期形成一套以STM32F103C8T6与BQ76940为核心的软硬件方案，完成采样、保护、SOC估算和基础被动均衡接口，并通过上位机进行调试与验证。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70367-ED0A-464A-BCC9-B0057EE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21D49-7EBC-46C0-BDF0-1F962EE9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836106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B6709-7B36-44FD-A767-BA8C4CE5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55AD6-EA77-4DC7-A64A-DDDED30C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08143-9136-4708-BA4C-0C375C1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降低过充、过放与过温风险，延长电池组使用寿命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8B372-CC71-40C3-9842-06285DDE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781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覆盖嵌入式软硬件、通信、RTOS与电池保护策略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C785A-AEF3-4CCE-B275-133FA55C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704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为同类多串锂电池管理系统提供可复用设计思路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715000" y="2333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35718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91B8C-8335-4A7B-964A-7C6504E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本课题的价值不在于追求复杂算法，而在于形成结构清晰、可验证、可复用的电池管理实现路径。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D2A75-A471-400C-A1F5-7C0D147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404C6-91D5-4598-A25E-247319D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471538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CAFFD-21DB-431A-B548-720252B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C2879-E7BF-4639-9D38-C88E0AB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面向具体应用场景完善温度、过流与充放电保护策略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保护策略与系统架构、通信集成结合更紧密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安时积分、开路电压与滤波算法逐步融合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滤波方法与数据驱动模型融合成为重点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被动均衡与主动均衡方案均有应用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主动均衡拓扑与控制策略优化持续发展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多面向设备级监控与上位机调试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物联网集成与嵌入式平台实现较为活跃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0E6A2-45A3-4FBB-8ABF-11770CE6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已有研究为本课题提供方案与算法参考，面向STM32平台时仍需处理采样时序、共享资源调度与保护响应的工程约束。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DF2C6-89EF-44ED-AC99-9E04247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1D5BB-AA22-401B-8C3A-ED475EFC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53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2B22D-23EC-4C14-87C9-85CDDCB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6C145-63D6-4347-B43E-E0122E9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C5556-1BE0-4C1D-B6E9-AAAE7AB3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9串18650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8BBD-5BB4-4265-B466-DC4E1DF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5BB89-A2FF-4CEC-A0FF-DB8BA67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1A86-3A2D-4426-8E85-3C6EF400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命令与状态交互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025F3-5CA0-4314-9178-6C61069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3D7C0-972E-46D9-8EC1-43F398D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软件阈值与硬件告警共同判断</a:t>
            </a:r>
          </a:p>
        </p:txBody>
      </p: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2333625"/>
            <a:ext cx="2095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619750" y="2333625"/>
            <a:ext cx="238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57F16-FCBA-442A-9264-CF7DB2A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充放电MOS控制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88422-C886-469A-872E-6FE4D11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数据流从电池组经BQ76940、STM32到达上位机，控制流由告警与阈值判断驱动MOS动作。CAN、蓝牙与串口屏仅作为扩展预留。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60752-81F7-445E-9614-08EEB32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36AA7-A3BC-4F7D-B39B-B951A3D7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893259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A3BA3-133E-4F66-8715-65CB557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6CD2A-01D3-4D54-9F53-FCA0A7D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1AC3-2C5B-42E9-8895-E78A338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81715-BA98-4008-880B-6178F556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073D7-2DE4-4FD2-BD2C-3DD2795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C5FA7-1822-4FE7-B954-CFFCB1A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3D9E2-9384-4298-8D97-CFE7653F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CC3E3-9F83-4631-96B1-0044D8C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支持多串采集、硬件告警、MOS控制与被动均衡资源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18820-6766-4407-8E78-AEBAF4F2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1F1AD-6CA7-4F5D-8E87-779D2D90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AE691-BFCC-47A4-AAF6-76EA3DE0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2BE81-2F89-4E00-8160-C77FD821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F17A2-7820-4E60-9787-BE35268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7C735-B791-4542-8712-CF55E71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e9f8286a44ce1"/>
          <a:stretch xmlns:a="http://schemas.openxmlformats.org/drawingml/2006/main"/>
        </p:blipFill>
        <p:spPr>
          <a:xfrm xmlns:a="http://schemas.openxmlformats.org/drawingml/2006/main">
            <a:off x="8977700" y="1285875"/>
            <a:ext cx="2332850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FCBD0-6F1E-405C-A633-305E92A0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AD902-50F2-4888-9959-8638ED0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硬件仍处于联调阶段，软件I2C读取、上拉电阻、唤醒流程与寄存器读取需继续验证。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B3A57-2C15-4C14-A3EB-ADD8576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B458C-4886-4E83-8B64-79BBF971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203866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4D354-DE75-4F7D-AFFD-E125D11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FCF9D-4E75-419E-98FC-394793D7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679E1-2976-4158-B8F2-BB81FC26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08BB5-CFCC-49D0-A444-ADF6D1AE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B94FF-6185-4E31-8B5C-83F480C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DB50C-E848-4F64-BF21-AC528FE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9B1CB-3515-4326-949D-4706345C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C69A-71D2-4441-84AB-450ED25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阈值与告警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8B12B-E132-4D1A-A91A-4C10F496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CC027-C1E4-4D91-B67A-662B43E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9FF94-E703-43E4-8478-6E89752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72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48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44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3FF22-EE7F-460E-A1B9-C490184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AE9C0-BA32-41B9-A1A7-5FC9257E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261EA-A6EA-419F-BA0D-C0089F0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FD56A-2A7C-40CF-ADAA-45F9B2A4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873358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F4AC9-8B32-42DC-8005-6F3EAA0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EE68C-998B-44C3-9BCA-AA86EE1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BC4CB-72E2-46F5-BE02-77B2ECF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BQ76940初始化、寄存器读取与ALERT响应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2EB29-1A29-452A-B3F7-2F8E21DF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保护阈值触发与MOS动作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80FDF-5790-45B3-A600-3C04535C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安时积分、OCV校正与边界校准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124EF-D098-42EC-BEA7-1E69F92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交互与运行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串口命令、上位机显示与长时间运行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CF633-C69F-4557-9F79-F9EA42C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问题反馈：修正驱动、参数与软件逻辑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01000" y="2667000"/>
            <a:ext cx="1762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762125" y="2667000"/>
            <a:ext cx="1285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9FA7D-B9AA-456B-90C4-ECCDA89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B270-0039-4D47-B781-02754C11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E0BE2-2C8C-4040-9245-D1A6EAF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442456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5F73C3-CF00-4E03-AA25-AA553F9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3B2BD-A882-4C18-A018-D442A68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2FF18-B495-4DCA-BA46-8F58BF1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9CE9A-72A8-4ECE-B12A-1D0A6612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D3FC3-B185-4AE9-A507-E0189DA5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DC33E-D625-436B-B839-C45DD14B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473CC-0C89-4CB4-8FD8-BFFA598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3340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0239375" y="1857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E0C86-0768-4B3E-B93F-34CB2169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2026.6.25-9.22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73D4B-E29C-4DAD-BC26-8D535C2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选题、任务书与开题报告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32FB6-7554-4F04-BA83-29CE9F1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2026.9.23-10.19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CB7E4-9C71-411D-B26B-86E5C36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18DA2-9013-4222-A98E-B0F34A8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2026.10.20-11.1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497DF-9FA8-4715-ABCC-32B372D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77787-4172-4C42-B6E2-28A7EE5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2026.11.2-12.22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46CDB-F504-4D30-B3D9-215F2BA8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论文撰写、评审与送审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AE3C6-EA4C-4712-9197-E7E3E98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ADCD8-F9FE-4862-95EC-ADDE6FD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C3B1A-77A1-4DE0-88B2-0742748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C61B9-35A3-47C1-85B4-C4B74D3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梳理BMS架构与算法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D670B-AD3B-4C32-B455-9E43C4D8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8CD18-03D2-4E8D-9F51-02D3CE98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确定软硬件边界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935F9-9DC5-45A5-B6CB-04AEAF6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实验调试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ED65C-BDB1-47BD-B74B-28DD7A9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验证通信与保护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0CAC2-7748-461E-8874-BBE4CF9C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4254A-0401-40B9-98BB-6CAAB58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分析SOC与运行稳定性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2D70D-792B-43FE-9E98-E770B34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88B6D-5757-490C-9CE2-BB0A738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2064015233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2026-09-20T07:09:19.4510000Z</dcterms:created>
  <dcterms:modified xsi:type="dcterms:W3CDTF">2026-09-20T07:09:19.4510000Z</dcterms:modified>
</coreProperties>
</file>