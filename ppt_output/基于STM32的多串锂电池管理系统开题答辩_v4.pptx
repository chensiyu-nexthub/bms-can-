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8f1abecde49e3" /><Relationship Type="http://schemas.openxmlformats.org/officeDocument/2006/relationships/extended-properties" Target="/docProps/app.xml" Id="Rce0b73b4b531458a" /><Relationship Type="http://schemas.openxmlformats.org/officeDocument/2006/relationships/officeDocument" Target="/ppt/presentation.xml" Id="Rc2e2cf546a2b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28de1db50418b"/>
  </p:sldMasterIdLst>
  <p:notesMasterIdLst>
    <p:notesMasterId xmlns:r="http://schemas.openxmlformats.org/officeDocument/2006/relationships" r:id="Recf01236630f4b9f"/>
  </p:notesMasterIdLst>
  <p:sldIdLst>
    <p:sldId xmlns:r="http://schemas.openxmlformats.org/officeDocument/2006/relationships" id="256" r:id="Rc0e0ea8b52b24a87"/>
    <p:sldId xmlns:r="http://schemas.openxmlformats.org/officeDocument/2006/relationships" id="257" r:id="R4f1eea11b00c42a0"/>
    <p:sldId xmlns:r="http://schemas.openxmlformats.org/officeDocument/2006/relationships" id="258" r:id="R8c6ea43f7ece4fb4"/>
    <p:sldId xmlns:r="http://schemas.openxmlformats.org/officeDocument/2006/relationships" id="259" r:id="R8dbbf2572034415f"/>
    <p:sldId xmlns:r="http://schemas.openxmlformats.org/officeDocument/2006/relationships" id="260" r:id="R1c76bdb885294fa9"/>
    <p:sldId xmlns:r="http://schemas.openxmlformats.org/officeDocument/2006/relationships" id="261" r:id="Re1a8e8ae079e4c5e"/>
    <p:sldId xmlns:r="http://schemas.openxmlformats.org/officeDocument/2006/relationships" id="262" r:id="Rf1412c1f15ad4342"/>
    <p:sldId xmlns:r="http://schemas.openxmlformats.org/officeDocument/2006/relationships" id="263" r:id="R1c40d505712147dc"/>
    <p:sldId xmlns:r="http://schemas.openxmlformats.org/officeDocument/2006/relationships" id="264" r:id="R8452f64a9e4a4817"/>
    <p:sldId xmlns:r="http://schemas.openxmlformats.org/officeDocument/2006/relationships" id="265" r:id="R227b8fea9f20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67ea1952342bd" /><Relationship Type="http://schemas.openxmlformats.org/officeDocument/2006/relationships/slideMaster" Target="/ppt/slideMasters/slideMaster1.xml" Id="R59928de1db50418b" /><Relationship Type="http://schemas.openxmlformats.org/officeDocument/2006/relationships/notesMaster" Target="/ppt/notesMasters/notesMaster1.xml" Id="Recf01236630f4b9f" /><Relationship Type="http://schemas.openxmlformats.org/officeDocument/2006/relationships/presProps" Target="/ppt/presProps.xml" Id="Ra4e4796869f24a55" /><Relationship Type="http://schemas.openxmlformats.org/officeDocument/2006/relationships/tableStyles" Target="/ppt/tableStyles.xml" Id="Rbc3ae647d32b4f49" /><Relationship Type="http://schemas.openxmlformats.org/officeDocument/2006/relationships/slide" Target="/ppt/slides/slide1.xml" Id="Rc0e0ea8b52b24a87" /><Relationship Type="http://schemas.openxmlformats.org/officeDocument/2006/relationships/slide" Target="/ppt/slides/slide2.xml" Id="R4f1eea11b00c42a0" /><Relationship Type="http://schemas.openxmlformats.org/officeDocument/2006/relationships/slide" Target="/ppt/slides/slide3.xml" Id="R8c6ea43f7ece4fb4" /><Relationship Type="http://schemas.openxmlformats.org/officeDocument/2006/relationships/slide" Target="/ppt/slides/slide4.xml" Id="R8dbbf2572034415f" /><Relationship Type="http://schemas.openxmlformats.org/officeDocument/2006/relationships/slide" Target="/ppt/slides/slide5.xml" Id="R1c76bdb885294fa9" /><Relationship Type="http://schemas.openxmlformats.org/officeDocument/2006/relationships/slide" Target="/ppt/slides/slide6.xml" Id="Re1a8e8ae079e4c5e" /><Relationship Type="http://schemas.openxmlformats.org/officeDocument/2006/relationships/slide" Target="/ppt/slides/slide7.xml" Id="Rf1412c1f15ad4342" /><Relationship Type="http://schemas.openxmlformats.org/officeDocument/2006/relationships/slide" Target="/ppt/slides/slide8.xml" Id="R1c40d505712147dc" /><Relationship Type="http://schemas.openxmlformats.org/officeDocument/2006/relationships/slide" Target="/ppt/slides/slide9.xml" Id="R8452f64a9e4a4817" /><Relationship Type="http://schemas.openxmlformats.org/officeDocument/2006/relationships/slide" Target="/ppt/slides/slide10.xml" Id="R227b8fea9f20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b2ab595e5e44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4a3961a0b4983" /><Relationship Type="http://schemas.openxmlformats.org/officeDocument/2006/relationships/notesMaster" Target="/ppt/notesMasters/notesMaster1.xml" Id="R3d994b19395a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460edbc054632" /><Relationship Type="http://schemas.openxmlformats.org/officeDocument/2006/relationships/notesMaster" Target="/ppt/notesMasters/notesMaster1.xml" Id="R8a3e4e61d867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0606d8141a473b" /><Relationship Type="http://schemas.openxmlformats.org/officeDocument/2006/relationships/notesMaster" Target="/ppt/notesMasters/notesMaster1.xml" Id="R2afa88adc368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ff6a68b984ed5" /><Relationship Type="http://schemas.openxmlformats.org/officeDocument/2006/relationships/notesMaster" Target="/ppt/notesMasters/notesMaster1.xml" Id="R90bc79284d6a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6d9ab2055340c9" /><Relationship Type="http://schemas.openxmlformats.org/officeDocument/2006/relationships/notesMaster" Target="/ppt/notesMasters/notesMaster1.xml" Id="R1aca6c82098b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ed8c6f26a4f38" /><Relationship Type="http://schemas.openxmlformats.org/officeDocument/2006/relationships/notesMaster" Target="/ppt/notesMasters/notesMaster1.xml" Id="R387335f903cb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74e3f528b4e56" /><Relationship Type="http://schemas.openxmlformats.org/officeDocument/2006/relationships/notesMaster" Target="/ppt/notesMasters/notesMaster1.xml" Id="R9e226aa9013f49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4dff56f70a442e" /><Relationship Type="http://schemas.openxmlformats.org/officeDocument/2006/relationships/notesMaster" Target="/ppt/notesMasters/notesMaster1.xml" Id="Rff79f0dd4ffb44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05d0336a2c4e39" /><Relationship Type="http://schemas.openxmlformats.org/officeDocument/2006/relationships/notesMaster" Target="/ppt/notesMasters/notesMaster1.xml" Id="R92ab329843024c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056b961ee14c96" /><Relationship Type="http://schemas.openxmlformats.org/officeDocument/2006/relationships/notesMaster" Target="/ppt/notesMasters/notesMaster1.xml" Id="R9e32e11728f245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开场介绍课题名称、答辩身份和指导教师，背景为生成图，不作为实验照片。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本页用因果链说明选题来源，不夸大应用规模，重点落在多串成组后的管理需求。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强调验证型目标，不把CAN、蓝牙、串口屏写成当前已实现功能。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把工程价值、学习价值和应用参考分层说明，避免笼统表述。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现状页用表格归纳，不逐篇展开文献，具体依据见开题报告参考文献。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重点区分数据流与安全控制链路，避免把扩展功能说成已实现。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选型说明合适性，不宣称所有硬件均已完整验证成功。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测试顺序从通信到整机，明确当前硬件仍在联调阶段。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收束页强调从需求到总结的闭环，并对应学校进度安排。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e60ebfc584fc4" /><Relationship Type="http://schemas.openxmlformats.org/officeDocument/2006/relationships/theme" Target="/ppt/theme/theme1.xml" Id="Rbbede6cf40f04b4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e60ebfc584fc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a0253b79e4dfc" /><Relationship Type="http://schemas.openxmlformats.org/officeDocument/2006/relationships/image" Target="/ppt/media/image.png" Id="R23b1e5194e3f4224" /><Relationship Type="http://schemas.openxmlformats.org/officeDocument/2006/relationships/notesSlide" Target="/ppt/notesSlides/notesSlide1.xml" Id="R10ed817885d3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0c789b65b4595" /><Relationship Type="http://schemas.openxmlformats.org/officeDocument/2006/relationships/notesSlide" Target="/ppt/notesSlides/notesSlide2.xml" Id="R72c4fb7dcd8c46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550bf51d346da" /><Relationship Type="http://schemas.openxmlformats.org/officeDocument/2006/relationships/notesSlide" Target="/ppt/notesSlides/notesSlide3.xml" Id="Rfe19b169da5449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4d473d3114cfc" /><Relationship Type="http://schemas.openxmlformats.org/officeDocument/2006/relationships/notesSlide" Target="/ppt/notesSlides/notesSlide4.xml" Id="R44893c38121f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40fddf47c49d4" /><Relationship Type="http://schemas.openxmlformats.org/officeDocument/2006/relationships/notesSlide" Target="/ppt/notesSlides/notesSlide5.xml" Id="Rbde38908a57e46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06d06c0cd481c" /><Relationship Type="http://schemas.openxmlformats.org/officeDocument/2006/relationships/notesSlide" Target="/ppt/notesSlides/notesSlide6.xml" Id="R48138fa006de4b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28a30c55b43a0" /><Relationship Type="http://schemas.openxmlformats.org/officeDocument/2006/relationships/image" Target="/ppt/media/image2.png" Id="R14dc9b567ff54eab" /><Relationship Type="http://schemas.openxmlformats.org/officeDocument/2006/relationships/notesSlide" Target="/ppt/notesSlides/notesSlide7.xml" Id="Rbb55b818fb3f43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b2d231b724361" /><Relationship Type="http://schemas.openxmlformats.org/officeDocument/2006/relationships/notesSlide" Target="/ppt/notesSlides/notesSlide8.xml" Id="R824b33a673244e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42273d7f74d05" /><Relationship Type="http://schemas.openxmlformats.org/officeDocument/2006/relationships/notesSlide" Target="/ppt/notesSlides/notesSlide9.xml" Id="R492a2edba1f243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e452c76204444" /><Relationship Type="http://schemas.openxmlformats.org/officeDocument/2006/relationships/notesSlide" Target="/ppt/notesSlides/notesSlide10.xml" Id="R01a1f8f5cdf249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1e5194e3f4224"/>
          <a:srcRect xmlns:a="http://schemas.openxmlformats.org/drawingml/2006/main" l="0" t="33333" r="0" b="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E6A23-570F-4B99-93DD-1F33846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7C"/>
          </a:solidFill>
          <a:ln xmlns:a="http://schemas.openxmlformats.org/drawingml/2006/main" w="0">
            <a:solidFill>
              <a:srgbClr val="174A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5B380-F886-4B5E-825D-C1F5FA3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6FBB4-4373-4379-93D6-BCFBF74B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1A52B-4361-4873-95A9-AF6E1990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88290-A1BD-43B9-99B2-F9AFC796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A8C50-9997-48D7-92D5-C99A06BA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57100-F850-4C94-997C-96135EAC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30DE-0401-46AB-BD57-9EDCAC97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D9B9F-8BAD-421F-AB3C-30F69F6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C127F-CDE7-43FB-B321-32A52E0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CD810-999E-4E41-9013-AF07A67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21B5E-0A7E-41F3-9FA5-125FF84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背景图：Image2生成，仅作学术答辩视觉背景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430685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2B7E3-87CF-4247-98BC-19547223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F212D-7151-4073-85DE-590D5A90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10DD7-142D-4F0D-A082-E7E281C1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锂电池应用持续扩大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储能与小型动力场景增多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7D179-140A-4E83-A44F-EDA30CF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多串成组带来单体差异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电压、容量与温度不一致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6314B-1E76-448E-9FBB-1517272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运行风险需要实时约束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C4C52-3233-4272-8438-8DB3856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管理系统成为必要环节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采集、判断、保护与显示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439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FC645-985F-4E7A-9ED7-8838891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多串锂电池组的安全边界与单体差异有关，电池管理系统需要在有限嵌入式资源内完成状态感知、风险判断和执行控制。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AAE8D-8792-4997-9392-B88D219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课题面向这一需求，围绕多串电池组的安全运行与状态可观测性展开设计。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99B70-B06D-4058-878D-6299EE0A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816F8-8852-4A4D-A3C1-E2C72B53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资料来源：开题报告研究背景</a:t>
            </a:r>
          </a:p>
        </p:txBody>
      </p:sp>
    </p:spTree>
    <p:extLst>
      <p:ext uri="{BB962C8B-B14F-4D97-AF65-F5344CB8AC3E}">
        <p14:creationId xmlns:p14="http://schemas.microsoft.com/office/powerpoint/2010/main" val="754043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9199F-3DE7-4D2C-8F30-4CAC236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研究目的与预期成果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F9A62-0E85-4292-B04A-24C4C74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B463F-B654-49C5-949D-F72581FC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设计一套可验证的多串锂电池管理系统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CAEC-AB2A-4F51-A66F-A8BB183C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ADE83-8813-493A-9043-42284A3D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阈值判断与MOS动作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3EFF4-0F59-4F8C-8578-CE81640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SOC计算与校正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24BFD-D4BC-4A93-8F10-BCDF03D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UART命令与上位机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333625"/>
            <a:ext cx="39052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5334000" y="233362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477250" y="1857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1857375"/>
            <a:ext cx="2524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92A8C-0ADA-4EDE-AB9A-747F8C0F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预期形成一套以STM32F103C8T6与BQ76940为核心的软硬件方案，完成采样、保护、SOC估算和基础被动均衡接口，并通过上位机进行调试与验证。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6A91B-C633-4F66-9D98-06C6A2E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3A3F4-F9F3-4331-892D-A89F8744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575158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695A1-7763-4B7A-AE06-AD67A1BF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9F164-7C62-40E8-9903-E6D24AE1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6AC7B-D869-4C68-BC09-F6341E7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降低过充、过放与过温风险，延长电池组使用寿命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01A97-911D-44CC-90AD-3F10108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781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覆盖嵌入式软硬件、通信、RTOS与电池保护策略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2BD6-9235-41B4-BE04-391783B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704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为同类多串锂电池管理系统提供可复用设计思路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715000" y="2333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35718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5CB21-344C-482B-8409-42380BE3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本课题的价值不在于追求复杂算法，而在于形成结构清晰、可验证、可复用的电池管理实现路径。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D839B-E1C9-4ED2-8F10-DF8489E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5111-4B1E-4CBA-BED3-690EF5E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882028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39C1D-EF91-4970-BF77-B6618AA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FDA94-E391-4D2C-961E-28AA974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面向具体应用场景完善温度、过流与充放电保护策略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保护策略与系统架构、通信集成结合更紧密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安时积分、开路电压与滤波算法逐步融合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滤波方法与数据驱动模型融合成为重点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被动均衡与主动均衡方案均有应用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主动均衡拓扑与控制策略优化持续发展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多面向设备级监控与上位机调试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物联网集成与嵌入式平台实现较为活跃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B9FD1-7954-4F47-B856-7796E4C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已有研究为本课题提供方案与算法参考，面向STM32平台时仍需处理采样时序、共享资源调度与保护响应的工程约束。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DCCE8-38B8-43D7-8081-02279218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6A865-0431-4B86-BB35-C920E0D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280072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D5EB-F7E2-4832-AE25-966DA93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67E8F-E3C3-4316-93DD-E7E4295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D6658-5FCF-46A7-B086-E6A86688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9串18650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1365-980D-4DAB-A742-6AD9E92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41799-C8B6-43E7-95CB-0B1E120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34276-9714-4A06-93A2-AF27DD3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命令与状态交互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739F9-141E-482F-B6E9-BE790B7B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A394F-CA88-4BC4-A093-7C895F7A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软件阈值与硬件告警共同判断</a:t>
            </a:r>
          </a:p>
        </p:txBody>
      </p: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2333625"/>
            <a:ext cx="2095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619750" y="2333625"/>
            <a:ext cx="238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BC9E3-23F2-4918-96D5-5B27C36D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充放电MOS控制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77092-3C6D-4E13-A82B-86D85C90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数据流从电池组经BQ76940、STM32到达上位机，控制流由告警与阈值判断驱动MOS动作。CAN、蓝牙与串口屏仅作为扩展预留。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8B5AC-16C1-4444-9D68-3B9E12A7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7F536-5B85-49EB-8686-D3BA6D4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824084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0E7CE-DD17-4C50-AD76-F6E84D3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F8D6E-597C-4536-BFCC-45C01DC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371E2-C656-4436-9C04-F3457C2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52881-6B1A-4320-812E-5EA1282A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AB67-2D30-4F1D-901A-B3DE0B42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6A3C-11C4-4A43-BBFF-8124777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48B4-B4B1-427E-A42C-4EF09C9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1292B-EB37-4DF7-9B5C-FB61A8F0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支持多串采集、硬件告警、MOS控制与被动均衡资源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6D07E-EAAD-45AA-94F4-F72FF23E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C8B3F-C140-464D-A1E3-1813EE3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12D9-847C-4B0E-B123-74070F2A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F756D-E26F-4F31-9691-F798F35C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4AF19-3D9F-4EBA-9B6B-0BCFCE6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002AE-5BA6-45E9-BEC4-5E54F1B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9b567ff54eab"/>
          <a:stretch xmlns:a="http://schemas.openxmlformats.org/drawingml/2006/main"/>
        </p:blipFill>
        <p:spPr>
          <a:xfrm xmlns:a="http://schemas.openxmlformats.org/drawingml/2006/main">
            <a:off x="8977700" y="1285875"/>
            <a:ext cx="2332850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794DB-168A-4D48-BA3D-9D28567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DC1C6-CDE9-4EA7-8E37-B203295B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硬件仍处于联调阶段，软件I2C读取、上拉电阻、唤醒流程与寄存器读取需继续验证。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E9159-BFBC-4321-99DB-1CF8487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A387D-0E50-40E4-B2C6-CA7C767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2075232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92566-B819-4CB8-8605-B14A392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BCB9-DE50-4FCA-AD0E-602FFD88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47B75-F595-476C-9A2C-77B2A6D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2C078-0854-48C0-BA3C-26EDC07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D261E-66DF-4B78-821C-403AE7A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2B5FC-3A1A-4450-90B5-6446847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29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3524250" y="1952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195262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3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190750" y="2524125"/>
            <a:ext cx="795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CC18D-66D0-4A95-8F18-1508167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81D5A-ED5B-489E-8BE1-064C2F6E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阈值与告警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7BCAA-D541-4F04-A56E-3081396F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DF36-5787-4AD2-9348-B46CB82C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E0976-D879-4ABD-A313-309B0BB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72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48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44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DAEAD-4F53-4EF3-A2E5-882BA06E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CD372-3A11-4259-A7F9-51260DC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6F671-F878-4C11-9190-722DFFE7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04486-83A9-4904-B534-FBB45D9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170696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69028-18D1-4BBE-80E7-BA47187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D56C-3A7D-4948-A22B-25A7AF14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C8CDB-9382-4CEA-99DF-3FB72FF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BQ76940初始化、寄存器读取与ALERT响应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8F9EF-375C-45BD-B69D-93D3B4B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保护阈值触发与MOS动作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93452-1139-4385-B3D0-A270493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安时积分、OCV校正与边界校准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60A55-7BC4-4339-B5D7-C999E69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交互与运行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串口命令、上位机显示与长时间运行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698DC-7FE3-4AE3-8D09-667DFC70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问题反馈：修正驱动、参数与软件逻辑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01000" y="2667000"/>
            <a:ext cx="1762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762125" y="2667000"/>
            <a:ext cx="1285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76D81-5FA3-4268-A260-F7BC2F6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EB620-B9D5-4063-9FFC-449ACD4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92287-33D3-4535-9A3D-C5F155FA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588597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62251-0289-488F-BB76-D20EA0D9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B101-7B19-4FD6-ACE9-C0BB6B3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3DFA6-7472-4E30-AD8F-81BBAFD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31C4A-C418-4CB2-94AA-247FEE41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85898-DC41-4170-B04B-7C8957D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68F86-508B-4964-8667-022A54DF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E543-DD5B-48B2-B0E1-55AA00CB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3340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0239375" y="1857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FFA16-E3FD-4629-9B4D-F62DC77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2026.6.25-9.22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07D50-D8EF-48AF-A875-09EE20B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选题、任务书与开题报告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1C4BA-FFDC-46D2-8AED-92DA626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2026.9.23-10.19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B5D01-80FD-4671-BF2C-0FD5140D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A2644-7EEC-4E7E-A57D-E761FFA4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2026.10.20-11.1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17C89-0DC4-4B2E-82F7-9E1ED67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D34DE-F353-45F8-8A61-8955647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2026.11.2-12.22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939A1-B289-4DFC-929D-BD121C6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论文撰写、评审与送审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0F28E-43C0-4747-BE85-D765AEC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CF8AD-25B2-4FFF-9A2E-04DA6C7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12027-0CED-4CE0-9D44-4277104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48F49-9FDC-4357-81A2-B1251CD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梳理BMS架构与算法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120EA-C9FD-4F66-A768-E719384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93000-E03B-477A-B20E-BF53E9B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确定软硬件边界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CFAB5-56A5-4E9E-B5CE-842A7B3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实验调试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E3738-AACE-4725-BA65-50B66D4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验证通信与保护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2B6C2-5724-4207-83BD-937B3FE0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0ED1C-325C-4D89-8050-C86B647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分析SOC与运行稳定性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EAE6D-54D1-4C33-B85C-D97FFA7A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0C127-CC5C-4A16-AF09-80C04A6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871223376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2026-09-20T06:56:40.7670000Z</dcterms:created>
  <dcterms:modified xsi:type="dcterms:W3CDTF">2026-09-20T06:56:40.7670000Z</dcterms:modified>
</coreProperties>
</file>