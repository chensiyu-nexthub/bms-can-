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2b2507b487413f" /><Relationship Type="http://schemas.openxmlformats.org/officeDocument/2006/relationships/extended-properties" Target="/docProps/app.xml" Id="R5bc7befb027e494a" /><Relationship Type="http://schemas.openxmlformats.org/officeDocument/2006/relationships/officeDocument" Target="/ppt/presentation.xml" Id="R1c1ded1275fa49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148ecc933846e1"/>
  </p:sldMasterIdLst>
  <p:notesMasterIdLst>
    <p:notesMasterId xmlns:r="http://schemas.openxmlformats.org/officeDocument/2006/relationships" r:id="Ra87a8f7a734e4e25"/>
  </p:notesMasterIdLst>
  <p:sldIdLst>
    <p:sldId xmlns:r="http://schemas.openxmlformats.org/officeDocument/2006/relationships" id="256" r:id="Re15cde4e3bdf4fdf"/>
    <p:sldId xmlns:r="http://schemas.openxmlformats.org/officeDocument/2006/relationships" id="257" r:id="Re8a5103fb0da4a19"/>
    <p:sldId xmlns:r="http://schemas.openxmlformats.org/officeDocument/2006/relationships" id="258" r:id="R9428bbac013c46dd"/>
    <p:sldId xmlns:r="http://schemas.openxmlformats.org/officeDocument/2006/relationships" id="259" r:id="Re1272fc15be94726"/>
    <p:sldId xmlns:r="http://schemas.openxmlformats.org/officeDocument/2006/relationships" id="260" r:id="R4dbc837c327e42ef"/>
    <p:sldId xmlns:r="http://schemas.openxmlformats.org/officeDocument/2006/relationships" id="261" r:id="R49c49521ddc34d54"/>
    <p:sldId xmlns:r="http://schemas.openxmlformats.org/officeDocument/2006/relationships" id="262" r:id="R02d045ea334e4f15"/>
    <p:sldId xmlns:r="http://schemas.openxmlformats.org/officeDocument/2006/relationships" id="263" r:id="R9f40740190ec4a3a"/>
    <p:sldId xmlns:r="http://schemas.openxmlformats.org/officeDocument/2006/relationships" id="264" r:id="Rc02da4f95b0843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c1b99d05534af3" /><Relationship Type="http://schemas.openxmlformats.org/officeDocument/2006/relationships/slideMaster" Target="/ppt/slideMasters/slideMaster1.xml" Id="Rec148ecc933846e1" /><Relationship Type="http://schemas.openxmlformats.org/officeDocument/2006/relationships/notesMaster" Target="/ppt/notesMasters/notesMaster1.xml" Id="Ra87a8f7a734e4e25" /><Relationship Type="http://schemas.openxmlformats.org/officeDocument/2006/relationships/presProps" Target="/ppt/presProps.xml" Id="R04276edb0dd24616" /><Relationship Type="http://schemas.openxmlformats.org/officeDocument/2006/relationships/tableStyles" Target="/ppt/tableStyles.xml" Id="R0e86b42845f34254" /><Relationship Type="http://schemas.openxmlformats.org/officeDocument/2006/relationships/slide" Target="/ppt/slides/slide1.xml" Id="Re15cde4e3bdf4fdf" /><Relationship Type="http://schemas.openxmlformats.org/officeDocument/2006/relationships/slide" Target="/ppt/slides/slide2.xml" Id="Re8a5103fb0da4a19" /><Relationship Type="http://schemas.openxmlformats.org/officeDocument/2006/relationships/slide" Target="/ppt/slides/slide3.xml" Id="R9428bbac013c46dd" /><Relationship Type="http://schemas.openxmlformats.org/officeDocument/2006/relationships/slide" Target="/ppt/slides/slide4.xml" Id="Re1272fc15be94726" /><Relationship Type="http://schemas.openxmlformats.org/officeDocument/2006/relationships/slide" Target="/ppt/slides/slide5.xml" Id="R4dbc837c327e42ef" /><Relationship Type="http://schemas.openxmlformats.org/officeDocument/2006/relationships/slide" Target="/ppt/slides/slide6.xml" Id="R49c49521ddc34d54" /><Relationship Type="http://schemas.openxmlformats.org/officeDocument/2006/relationships/slide" Target="/ppt/slides/slide7.xml" Id="R02d045ea334e4f15" /><Relationship Type="http://schemas.openxmlformats.org/officeDocument/2006/relationships/slide" Target="/ppt/slides/slide8.xml" Id="R9f40740190ec4a3a" /><Relationship Type="http://schemas.openxmlformats.org/officeDocument/2006/relationships/slide" Target="/ppt/slides/slide9.xml" Id="Rc02da4f95b0843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a275b233b6b44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ool Blue Gray Academic">
      <a:dk1>
        <a:srgbClr val="121C27"/>
      </a:dk1>
      <a:lt1>
        <a:srgbClr val="FFFFFF"/>
      </a:lt1>
      <a:dk2>
        <a:srgbClr val="1B2B3A"/>
      </a:dk2>
      <a:lt2>
        <a:srgbClr val="DCE8F0"/>
      </a:lt2>
      <a:accent1>
        <a:srgbClr val="17395C"/>
      </a:accent1>
      <a:accent2>
        <a:srgbClr val="2C6B96"/>
      </a:accent2>
      <a:accent3>
        <a:srgbClr val="C4A55D"/>
      </a:accent3>
      <a:accent4>
        <a:srgbClr val="8F4242"/>
      </a:accent4>
      <a:accent5>
        <a:srgbClr val="2F6E52"/>
      </a:accent5>
      <a:accent6>
        <a:srgbClr val="70849A"/>
      </a:accent6>
      <a:hlink>
        <a:srgbClr val="17395C"/>
      </a:hlink>
      <a:folHlink>
        <a:srgbClr val="2C6B96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ool Blue Gray Academ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38ec50844e4f60" /><Relationship Type="http://schemas.openxmlformats.org/officeDocument/2006/relationships/notesMaster" Target="/ppt/notesMasters/notesMaster1.xml" Id="R3faf955f634743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147025dd29464e" /><Relationship Type="http://schemas.openxmlformats.org/officeDocument/2006/relationships/notesMaster" Target="/ppt/notesMasters/notesMaster1.xml" Id="Re5026dd07c0146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b75b6504b74cf1" /><Relationship Type="http://schemas.openxmlformats.org/officeDocument/2006/relationships/notesMaster" Target="/ppt/notesMasters/notesMaster1.xml" Id="Rc584ecc2b4634a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50c5224a1b4aa6" /><Relationship Type="http://schemas.openxmlformats.org/officeDocument/2006/relationships/notesMaster" Target="/ppt/notesMasters/notesMaster1.xml" Id="R74afa229550c43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9e781c2a11468e" /><Relationship Type="http://schemas.openxmlformats.org/officeDocument/2006/relationships/notesMaster" Target="/ppt/notesMasters/notesMaster1.xml" Id="R87e5730f3d8845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dda5a704c54bc3" /><Relationship Type="http://schemas.openxmlformats.org/officeDocument/2006/relationships/notesMaster" Target="/ppt/notesMasters/notesMaster1.xml" Id="R0252c220d5624f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8de63629504be0" /><Relationship Type="http://schemas.openxmlformats.org/officeDocument/2006/relationships/notesMaster" Target="/ppt/notesMasters/notesMaster1.xml" Id="R7447237d5b5b43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37edc79e0c45af" /><Relationship Type="http://schemas.openxmlformats.org/officeDocument/2006/relationships/notesMaster" Target="/ppt/notesMasters/notesMaster1.xml" Id="R20b87509027e4e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ba40dc3a944e7f" /><Relationship Type="http://schemas.openxmlformats.org/officeDocument/2006/relationships/notesMaster" Target="/ppt/notesMasters/notesMaster1.xml" Id="R4123aae7f2dd4f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各位老师好。我汇报的题目是基于STM32的多串锂电池管理系统设计与实现。课题围绕9串18650锂电池组，完成状态采集、安全保护、SOC估算和上位机交互的完整设计。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背景部分说明为什么需要BMS。多串成组后单体差异会放大风险，本课题用实时采集、阈值判断和MOS控制把这些风险纳入可控范围。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目的部分分四项说明。意义部分强调工程价值、学习价值和应用价值，同时明确CAN、蓝牙和串口屏只是扩展方向，避免夸大当前实现范围。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文献综述不逐篇读，按三个方向归纳。国内研究强调工程实现，国外研究在估算算法和均衡拓扑上更活跃，本课题关注嵌入式实现的落点。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总体方案按数据流说明。BQ76940是采集和硬件告警的前端，STM32是读取、判断和交互的控制核心。CAN、蓝牙和串口屏不写成当前功能。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软件部分说明任务结构和执行流程。高优先级BMS_Task保证采样和保护，低优先级UART_Task处理命令。互斥锁和中断边界是稳定性的关键。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方法和技术路线合并说明。重点不是流程名词，而是每一阶段留下可检查的输出，包括接口定义、驱动代码、测试数据和论文材料。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测试方案强调可检查性。对没有明确数值指标的项，不编具体误差要求，只说明验证对象和验证方法。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感谢老师聆听，请老师对方案和验证安排提出指导意见。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93729d83d4cae" /><Relationship Type="http://schemas.openxmlformats.org/officeDocument/2006/relationships/theme" Target="/ppt/theme/theme1.xml" Id="R8560e3d21cdb47b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293729d83d4cae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dd407954d44a5" /><Relationship Type="http://schemas.openxmlformats.org/officeDocument/2006/relationships/image" Target="/ppt/media/image.png" Id="R6f6a4cdf39a74ec6" /><Relationship Type="http://schemas.openxmlformats.org/officeDocument/2006/relationships/notesSlide" Target="/ppt/notesSlides/notesSlide1.xml" Id="R51dab4136ad347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66fa7b66c2447a" /><Relationship Type="http://schemas.openxmlformats.org/officeDocument/2006/relationships/image" Target="/ppt/media/image2.png" Id="R419ef10902434545" /><Relationship Type="http://schemas.openxmlformats.org/officeDocument/2006/relationships/notesSlide" Target="/ppt/notesSlides/notesSlide2.xml" Id="R765308b8be124e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bddbe37c84a0e" /><Relationship Type="http://schemas.openxmlformats.org/officeDocument/2006/relationships/notesSlide" Target="/ppt/notesSlides/notesSlide3.xml" Id="R008a1402a8c646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caa9d125e416f" /><Relationship Type="http://schemas.openxmlformats.org/officeDocument/2006/relationships/notesSlide" Target="/ppt/notesSlides/notesSlide4.xml" Id="R4428ecaa6d2148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2665efa044bf8" /><Relationship Type="http://schemas.openxmlformats.org/officeDocument/2006/relationships/image" Target="/ppt/media/image3.png" Id="Read56e3e5bce4908" /><Relationship Type="http://schemas.openxmlformats.org/officeDocument/2006/relationships/notesSlide" Target="/ppt/notesSlides/notesSlide5.xml" Id="Rb1984e9994d74a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25d5ed21a48fd" /><Relationship Type="http://schemas.openxmlformats.org/officeDocument/2006/relationships/notesSlide" Target="/ppt/notesSlides/notesSlide6.xml" Id="R94c0e574dd8c44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a75a7a3274588" /><Relationship Type="http://schemas.openxmlformats.org/officeDocument/2006/relationships/notesSlide" Target="/ppt/notesSlides/notesSlide7.xml" Id="R91be458e991543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23ec3fcf5491c" /><Relationship Type="http://schemas.openxmlformats.org/officeDocument/2006/relationships/notesSlide" Target="/ppt/notesSlides/notesSlide8.xml" Id="R87566729845548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3639c1fb04693" /><Relationship Type="http://schemas.openxmlformats.org/officeDocument/2006/relationships/notesSlide" Target="/ppt/notesSlides/notesSlide9.xml" Id="Rf12852c856214c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6a4cdf39a74ec6"/>
          <a:srcRect xmlns:a="http://schemas.openxmlformats.org/drawingml/2006/main" l="0" t="11702" r="0" b="117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2857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966A2-B1F4-4B4F-92CA-3B96CA8D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952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5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DD594-E3BE-4A65-8B44-21D11147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3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rPr>
              <a:t>本科毕业设计（论文）开题答辩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14ACA-02C5-4A84-88D4-062F5CF3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汇报人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F34EA-500A-4EEF-B6DE-D4581CD7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2143125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4E550-33FC-47EB-BC9D-B82F7714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53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学号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8C29F-E3C9-4445-8377-1CD86DC3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238750"/>
            <a:ext cx="2143125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8A75D3-6047-4B78-8CA7-479DC791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53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专业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BC041-758F-457E-90DF-BA463305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238750"/>
            <a:ext cx="2143125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2B1977-3420-49C7-AFF4-287A3F8C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953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指导教师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DBA569-8E21-40D2-BF54-9AAF2488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238750"/>
            <a:ext cx="2143125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EA76B7-4F5D-49F1-837F-1287C591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背景图：Image2生成，仅用于答辩视觉背景</a:t>
            </a:r>
          </a:p>
        </p:txBody>
      </p:sp>
    </p:spTree>
    <p:extLst>
      <p:ext uri="{BB962C8B-B14F-4D97-AF65-F5344CB8AC3E}">
        <p14:creationId xmlns:p14="http://schemas.microsoft.com/office/powerpoint/2010/main" val="20046430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0A0CC8-F997-455B-B6A8-5F2DB0E2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143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02989-4E2F-48FA-B581-D2446DBD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研究背景与选题依据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09975-A5F5-4917-8401-CE015821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048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从多串电池组的运行风险到实时管理的必要性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E60F5D-0CD7-4ADC-8F6E-672138CA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2AFA1-2F10-4118-9F1F-4FC2594F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DDA10-02D8-4501-978A-FD1C2DF6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76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BD55A7-9F08-453D-96DB-47C0F0E3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多串锂电池组存在单体差异，若缺少实时监测和保护，容易出现过充、过放、过流、过温等问题，影响使用寿命与使用安全。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FC86CC-8222-4C75-85FF-6B82BE63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11430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电池安全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5170B-D0F5-4AED-8D60-44554D27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81250"/>
            <a:ext cx="46672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高倍率放电会显著增加温升，徐伟巍等[1]强调温度保护与过流保护必须综合考虑。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577C4-570A-42DE-BB3B-D7F77592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1430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状态可见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70F21B-ECFA-464B-BEA5-A807AE69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46672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黄新星[2]提出远程监测可弥补本地计算和存储能力不足，说明数据交互是BMS的重要方向。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502A49-B293-4654-ABCD-117D52CD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11430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工程基础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68B3A5-8219-4FD1-8E76-21C101A4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86250"/>
            <a:ext cx="46672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黄青青等[3]以STM32F103为核心实现大功率电池组管理，验证了本类方案的工程可行性。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9ef1090243454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201930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8CA5DA-83E5-4DA8-AD8A-A0050D7E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24400"/>
            <a:ext cx="4572000" cy="4381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被动均衡驱动电路局部参考　来源：项目参考资料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3D0674-56A8-428E-8681-5D959AF2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619250" cy="4191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多串成组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4C0A0F-29D7-4A07-B022-AACC6EB9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29250"/>
            <a:ext cx="1619250" cy="4191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单体差异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1EA59C-D3BD-4E48-827B-9E6FDFDC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429250"/>
            <a:ext cx="1619250" cy="4191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安全风险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AD0484-92D8-41B0-B6EB-C03CB692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429250"/>
            <a:ext cx="1619250" cy="4191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实时管理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3D810C-2997-47DE-B57C-E470870B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429250"/>
            <a:ext cx="1619250" cy="4191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课题实现</a:t>
            </a:r>
          </a:p>
        </p:txBody>
      </p:sp>
      <p:cxnSp>
        <p:nvCxnSpPr>
          <p:cNvPr id="47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343150" y="56388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48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191000" y="56388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49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038850" y="56388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50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886700" y="56388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95BC74-3D59-4B01-BB9C-70322137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341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02 / 09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4B88FF-AE04-4AF0-849A-C8866094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资料来源：开题报告与项目资料</a:t>
            </a:r>
          </a:p>
        </p:txBody>
      </p:sp>
    </p:spTree>
    <p:extLst>
      <p:ext uri="{BB962C8B-B14F-4D97-AF65-F5344CB8AC3E}">
        <p14:creationId xmlns:p14="http://schemas.microsoft.com/office/powerpoint/2010/main" val="9347970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8CF468-7392-4A7C-8BB3-31ADA642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143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29E3F-7575-436B-B4E7-DE438A26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研究目的与研究意义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CC2A3-D8A8-4803-9745-D7E12AE0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048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以安全控制和工程验证为中心，不做功能堆叠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DD591-CC73-4550-A6B2-2D8CC959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E5F1F-4309-4960-98A3-4B6882CC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D219E-BE33-4D64-B755-63589DBC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76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82CC4-58B3-48AF-8691-A7E1F4D8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619250" cy="457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研究目的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919202-FC95-46A6-AFD1-D73D7019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23825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状态感知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801766-93F9-4204-9BB5-4B2F63A2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57450"/>
            <a:ext cx="419100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采集单体电压、电流和温度，形成可用的运行数据基础。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8D25E7-68E1-453A-8E21-211814FE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123825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安全控制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CDE771-69E2-417D-BDF9-48F0B864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81350"/>
            <a:ext cx="419100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结合BQ76940硬件告警与STM32软件阈值，控制充放电MOS。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879A0B-6036-487A-8D1B-76E06632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23825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状态估算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D3A67A-B691-4906-AC6E-2B9FE50D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05250"/>
            <a:ext cx="419100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采用安时积分并配合静置OCV校正，提高SOC可用性。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7677EB-8E37-490C-889B-D341932A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123825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调试交互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48991D-4939-49A6-97F8-642ACC39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29150"/>
            <a:ext cx="419100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通过UART连接Python上位机，支持状态显示和命令调试。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5AA2C8-BBF7-452D-8326-508146B1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1619250" cy="457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研究意义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D44EF1-59B7-4B62-A886-3E05B025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57450"/>
            <a:ext cx="12382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工程价值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AE9C91-0389-4039-8FCC-41DC93BA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57450"/>
            <a:ext cx="33337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降低过充、过放、过流、过温风险，延长电池组寿命。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C0EF55-9C27-4CF1-95B9-F0B87660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71850"/>
            <a:ext cx="12382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学习价值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AD2CE0-AEB2-4B06-958B-EC1118D9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71850"/>
            <a:ext cx="33337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覆盖嵌入式软硬件、I2C通信、FreeRTOS调度与保护策略。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144A6E-61F5-43AB-96F4-A547748E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86250"/>
            <a:ext cx="12382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应用价值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9C5815-04C1-4D56-B7CE-8F3BC765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86250"/>
            <a:ext cx="33337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为同类小规模多串锂电池管理系统提供可复用设计。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FBE915-7C2F-4C56-93C1-3C72189F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7334250" cy="457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8F42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8F4242"/>
                </a:solidFill>
                <a:latin typeface="Microsoft YaHei"/>
                <a:ea typeface="Microsoft YaHei"/>
                <a:cs typeface="Microsoft YaHei"/>
              </a:rPr>
              <a:t>边界说明：CAN、蓝牙、串口屏只作为扩展预留，不计入当前已实现功能范围。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03E3AF-C946-45A8-99EB-F609EC44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38750"/>
            <a:ext cx="3276600" cy="457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目标概括：形成结构清晰、安全边界明确、可在实验平台验证的完整系统。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79EC1B-F263-4CE9-8F4A-AD1B9B85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341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03 / 09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C24388-9B70-4926-82A6-B2DC87B2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资料来源：开题报告与项目资料</a:t>
            </a:r>
          </a:p>
        </p:txBody>
      </p:sp>
    </p:spTree>
    <p:extLst>
      <p:ext uri="{BB962C8B-B14F-4D97-AF65-F5344CB8AC3E}">
        <p14:creationId xmlns:p14="http://schemas.microsoft.com/office/powerpoint/2010/main" val="11224040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ECA1E4-2D3E-432E-91E1-6D7A2DCA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143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98533-9DB4-46BC-99AE-9BCE19D6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国内外研究现状与研究内容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B1BF4-296A-4A7A-B7EC-5B120987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048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从系统实现、状态估算、均衡保护三个方向归纳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E7E05-58A4-4BBD-B502-9354CEDE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BE3F7A-144F-457C-A3EE-AF0B74A3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52746-C2DA-4A69-A730-520AF40C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76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723900" y="1352550"/>
          <a:ext xmlns:a="http://schemas.openxmlformats.org/drawingml/2006/main" cx="6477000" cy="31242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59000"/>
                <a:gridCol w="2159000"/>
                <a:gridCol w="2159000"/>
              </a:tblGrid>
              <a:tr h="495300">
                <a:tc>
                  <a:txBody>
                    <a:bodyPr lIns="76200" tIns="57150" rIns="76200" bIns="57150"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研究方向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国内研究现状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国外研究现状</a:t>
                      </a:r>
                    </a:p>
                  </a:txBody>
                  <a:tcPr marL="91440" marR="91440" marT="45720" marB="45720" anchor="ctr"/>
                </a:tc>
              </a:tr>
              <a:tr h="876300">
                <a:tc>
                  <a:txBody>
                    <a:bodyPr lIns="76200" tIns="57150" rIns="76200" bIns="57150"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系统实现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STM32与多串采集保护方案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STM32、LTC6804与物联网交互</a:t>
                      </a:r>
                    </a:p>
                  </a:txBody>
                  <a:tcPr marL="91440" marR="91440" marT="45720" marB="45720" anchor="ctr"/>
                </a:tc>
              </a:tr>
              <a:tr h="876300">
                <a:tc>
                  <a:txBody>
                    <a:bodyPr lIns="76200" tIns="57150" rIns="76200" bIns="57150"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状态估算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安时积分结合OCV与滤波修正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EKF、LSTM与优化算法融合</a:t>
                      </a:r>
                    </a:p>
                  </a:txBody>
                  <a:tcPr marL="91440" marR="91440" marT="45720" marB="45720" anchor="ctr"/>
                </a:tc>
              </a:tr>
              <a:tr h="876300">
                <a:tc>
                  <a:txBody>
                    <a:bodyPr lIns="76200" tIns="57150" rIns="76200" bIns="57150"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均衡保护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主动均衡、被动均衡与温度保护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拓扑优化与多级安全保护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99B26F-80BF-46EA-A6D5-0BED2C6B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52550"/>
            <a:ext cx="161925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系统总体架构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65A65A-FB77-4FB1-BCBD-B7438AD6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352550"/>
            <a:ext cx="228600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主控、模拟前端、电池组、保护电路与上位机的连接关系。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A3691-5521-477A-B5B6-50DF1175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33600"/>
            <a:ext cx="161925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采集与保护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6A3212-83AA-4328-8373-432777A3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33600"/>
            <a:ext cx="228600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单体电压、电流、温度采集，硬件告警与软件阈值判断。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E68DA9-8EE8-4171-829A-DF9C6316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14650"/>
            <a:ext cx="161925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SOC估算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2E90B6-0592-4E55-BA6E-D43462E2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14650"/>
            <a:ext cx="228600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安时积分、静置约30s后的OCV校正和边界校准。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96C773-A483-4363-A3B9-573233A8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95700"/>
            <a:ext cx="161925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通信与交互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DF2618-3A99-4F9A-9533-12F62B93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95700"/>
            <a:ext cx="228600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UART命令解析、状态上报和Python上位机显示。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73F6B1-D5F5-4745-9566-0BC186CF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744200" cy="6096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研究切入点：在STM32F103C8T6的有限资源下，解决多串采集稳定性、保护响应速度和SOC可验证性之间的平衡问题。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1DB7D6-2179-4828-93C7-DEE79666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341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04 / 09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9D948F-F2FD-409E-9192-C715D72A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资料来源：开题报告与项目资料</a:t>
            </a:r>
          </a:p>
        </p:txBody>
      </p:sp>
    </p:spTree>
    <p:extLst>
      <p:ext uri="{BB962C8B-B14F-4D97-AF65-F5344CB8AC3E}">
        <p14:creationId xmlns:p14="http://schemas.microsoft.com/office/powerpoint/2010/main" val="20309995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78362D-F746-4144-90F1-08EBAB54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143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4DB1F-DFE9-4EA8-9C5D-DBFC0824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系统总体方案与硬件选型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DF055-987A-433C-86C7-44F71D5C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048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四层结构、四项选型，扩展能力与当前边界分开说明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2A485-2FF1-47FC-BD65-5B8C8472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226E7-F705-4816-9E67-A4E6D109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2942A-7A23-40D1-87DD-DD660D3C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76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61A9C-861D-4024-9221-0BDA4CBB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4775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电池层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4077A-A6D9-4CC5-A23E-D130CC9A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352550"/>
            <a:ext cx="409575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9串18650锂电池组，提供被管理对象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BDD63-6D9F-4FA5-8AB9-740803AC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04775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采集层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58325-6C11-49D1-93B5-4BECF7DF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095500"/>
            <a:ext cx="409575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BQ76940采集电压、电流、温度并给出硬件告警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D88C37-9133-419D-91E5-0107CB7F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104775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控制层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9871A-5032-4945-B1CF-340800CC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838450"/>
            <a:ext cx="409575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STM32读取数据，完成阈值判断、SOC估算与命令交互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2AED60-7A9B-4A85-9F4E-08F36528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4775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交互层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8CF8A1-7BD1-46BD-83B5-23C62B5A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81400"/>
            <a:ext cx="409575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UART连接Python上位机，完成状态显示与调试命令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B8AF7F-EB95-46AE-81F6-04F19C1C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52550"/>
            <a:ext cx="9525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主控方案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7F5A11-8FE3-478F-BDD5-0308EC8A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352550"/>
            <a:ext cx="1381125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STM32F103C8T6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308D4D-1296-41FE-AD70-969EDFFC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352550"/>
            <a:ext cx="2505075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外设资源较完整，实时性好，资料和成本适合课题验证。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513B1F-1799-4F93-8E23-25BAF276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9525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模拟前端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480F25-C504-4783-8FB4-1213DC3D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95500"/>
            <a:ext cx="1381125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BQ76940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25D4FE-28E9-4942-A727-49059C07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095500"/>
            <a:ext cx="2505075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面向多串电池，支持采集、硬件告警和MOS控制。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530E99-81D5-4EED-A83C-1D6701C2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38450"/>
            <a:ext cx="9525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均衡方式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56BC1F-300C-4277-A4A6-2A61CF87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38450"/>
            <a:ext cx="1381125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被动均衡接口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192200-C661-4FF6-83D3-21884B07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838450"/>
            <a:ext cx="2505075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结构简单、易于验证；主动均衡效率高但结构复杂。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736442-4E46-4FE2-B00E-9D937BF3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81400"/>
            <a:ext cx="9525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通信方式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4341E0-281B-4063-A8D3-0155A81B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81400"/>
            <a:ext cx="1381125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EE1C3B-C891-4C29-BC4C-B38D1D56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581400"/>
            <a:ext cx="2505075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当前连接Python上位机；CAN等通信作为扩展方向。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56e3e5bce4908"/>
          <a:srcRect xmlns:a="http://schemas.openxmlformats.org/drawingml/2006/main" l="0" t="25000" r="0" b="2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4457700"/>
            <a:ext cx="5086350" cy="12573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8DF6E1-CF58-483A-A081-2028C5E9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810250"/>
            <a:ext cx="508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BQ769X0外围连接局部参考　来源：BQ769X0参考设计资料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EB12CC-E4A7-42CA-A3C6-1098875E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334000" cy="76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安全控制链路：BQ76940采集与硬件告警，STM32完成数据读取和保护判断，充放电MOS执行动作。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B16504-B50B-4A18-B358-800CAD28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341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05 / 09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C568E8-3906-45EE-97D7-D49E1C88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资料来源：开题报告与项目资料</a:t>
            </a:r>
          </a:p>
        </p:txBody>
      </p:sp>
    </p:spTree>
    <p:extLst>
      <p:ext uri="{BB962C8B-B14F-4D97-AF65-F5344CB8AC3E}">
        <p14:creationId xmlns:p14="http://schemas.microsoft.com/office/powerpoint/2010/main" val="4066350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3ECA18-FACB-420F-BB7F-D443A704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143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9C7257-06D9-4983-88E8-C15A076C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软件设计与任务流程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80756D-0320-4D9A-8E4E-BA78FC5D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048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FreeRTOS任务调度、共享资源保护与数据闭环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F666A-1906-4CE5-8712-2D2A8F02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162617-2E12-4420-A09E-86BCE0C8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3F2165-50E7-42EF-AB63-F69DE003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76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53FBA-C951-43A0-9E78-C38C5123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29527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BMS_Task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高优先级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500ms周期，可由ALERT唤醒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89579-E63D-403C-9DC6-C6C1ACBB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52550"/>
            <a:ext cx="24765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8F42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8F4242"/>
                </a:solidFill>
                <a:latin typeface="Microsoft YaHei"/>
                <a:ea typeface="Microsoft YaHei"/>
                <a:cs typeface="Microsoft YaHei"/>
              </a:rPr>
              <a:t>ALERT中断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8F42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8F4242"/>
                </a:solidFill>
                <a:latin typeface="Microsoft YaHei"/>
                <a:ea typeface="Microsoft YaHei"/>
                <a:cs typeface="Microsoft YaHei"/>
              </a:rPr>
              <a:t>只发送任务通知，不执行I2C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93CCAE-121D-4704-8702-90998130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52550"/>
            <a:ext cx="22860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UART_Task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低优先级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50ms轮询串口命令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2964E-1CB0-4C1D-8AF4-786F7EEE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352550"/>
            <a:ext cx="20955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I2C互斥锁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保护BQ76940访问</a:t>
            </a:r>
          </a:p>
        </p:txBody>
      </p:sp>
      <p:cxnSp>
        <p:nvCxnSpPr>
          <p:cNvPr id="42" name=""/>
          <p:cNvCxnSpPr>
            <a:stCxn xmlns:a="http://schemas.openxmlformats.org/drawingml/2006/main" id="8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3676650" y="17430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086850" y="17430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134D1A-7A71-4F92-B9D8-55A174BC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952625" cy="685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采样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电压、电流、温度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66492-74E2-40E9-B08C-36E07B20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71750"/>
            <a:ext cx="1952625" cy="685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硬件告警与软件阈值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7E6923-5770-4E98-B8D6-C1DF8FD6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71750"/>
            <a:ext cx="1952625" cy="685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SOC更新与MOS控制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9AA35A-2250-41CC-A734-B19EC604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71750"/>
            <a:ext cx="1952625" cy="685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上报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UART状态输出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00B60F-1B84-499B-86C7-1F3FA652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71750"/>
            <a:ext cx="1952625" cy="685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显示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上位机刷新</a:t>
            </a:r>
          </a:p>
        </p:txBody>
      </p:sp>
      <p:cxnSp>
        <p:nvCxnSpPr>
          <p:cNvPr id="49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676525" y="29146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50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867275" y="29146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51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058025" y="29146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52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248775" y="29146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437A72-E82C-469E-84C4-154A1557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114300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中断边界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6D8F75-24DC-47D5-A9E1-C2CE5DF3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62350"/>
            <a:ext cx="94678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ALERT中断服务程序只发送任务通知，寄存器读取、故障解析和状态更新在任务上下文完成。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4AF5FC-D4D0-43D3-B02E-74C57C6E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14300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资源保护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114338-BA48-4DE5-B5B6-4B76AD8F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48150"/>
            <a:ext cx="94678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采样流程与串口命令都可能访问BQ76940，通过I2C互斥锁避免并发冲突。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3F0D7B-F992-4ED0-BE68-EF7B7303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114300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SOC策略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7B03F2-7A6E-4532-97F3-3672BFAD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33950"/>
            <a:ext cx="94678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安时积分作为主方法，静置约30s后结合OCV校正，并用满电、空电边界校准。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CFC750-5941-433B-BB7D-2FBB67AE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14300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上位机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C44AF8-AC78-4D70-9F71-8C4FEBFC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19750"/>
            <a:ext cx="94678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Python tkinter界面显示关键状态，接收命令后由STM32解析并执行。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BE1883-C1CE-4994-B2AF-A2AB6D1F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341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06 / 09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E07A1F-544F-4F55-856B-EAF8EABC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资料来源：开题报告与项目资料</a:t>
            </a:r>
          </a:p>
        </p:txBody>
      </p:sp>
    </p:spTree>
    <p:extLst>
      <p:ext uri="{BB962C8B-B14F-4D97-AF65-F5344CB8AC3E}">
        <p14:creationId xmlns:p14="http://schemas.microsoft.com/office/powerpoint/2010/main" val="13896236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AFC0C0-F858-4BED-A6CD-8D9C174C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143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ABA231-8D23-4275-8A3E-62F17618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研究方法与技术路线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F5CCC8-9872-4526-B237-78B9E8F5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048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从需求分析到联调验证，测试结果反哺参数修正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FFDD9-E91D-4880-B75B-24FECF46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A6496-BEA9-449C-9A2B-0E7ADA73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8D1127-0189-46DF-9AEB-A13410A1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76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2B571-E407-43FF-ABE1-B85626C8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952625" cy="742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需求分析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确定9串电池组、保护阈值与交互范围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1E3FD-D2B7-4EBC-ACEB-D3643CE9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352550"/>
            <a:ext cx="1952625" cy="742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系统设计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完成总体架构、任务划分与硬件接口设计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172018-E395-48A4-9470-B448C2B8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352550"/>
            <a:ext cx="1952625" cy="742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功能实现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完成驱动、SOC估算、通信与上位机程序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31E57-44E0-4537-A535-8FF74E90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352550"/>
            <a:ext cx="1952625" cy="742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联调测试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验证采集、保护、SOC与交互功能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33D18-6300-4215-AF96-D1A64003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352550"/>
            <a:ext cx="1952625" cy="742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总结完善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整理测试数据并撰写毕业设计论文</a:t>
            </a:r>
          </a:p>
        </p:txBody>
      </p:sp>
      <p:cxnSp>
        <p:nvCxnSpPr>
          <p:cNvPr id="4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76525" y="17240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4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867275" y="17240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5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58025" y="17240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5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248775" y="17240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F88A3E-BEDE-4C83-BF51-900FA9CE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1238250" cy="6286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文献研究法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148351-67F4-4902-8BB6-B0F7B5A9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00300"/>
            <a:ext cx="4191000" cy="6286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查阅BMS、SOC估算、均衡策略与STM32实现文献，确定技术路线。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47F512-A8DA-47A0-AEA3-5CF6C026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238250" cy="6286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模块设计法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A19B7A-AD49-4727-9804-BF471A2F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57550"/>
            <a:ext cx="4191000" cy="6286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按主控、模拟前端、保护电路、通信和上位机划分设计单元。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E6EC85-4799-403F-9472-B8A32428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1238250" cy="6286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实验验证法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86CC0C-3270-4123-A922-2E874F20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14800"/>
            <a:ext cx="4191000" cy="6286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从寄存器读取、告警响应到保护动作逐级验证，记录测试数据。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33DED1-62E4-467A-A625-95338164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185737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2026.06.25-07.02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A06FED-5A3B-46C2-BC6D-DC8C368D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381250"/>
            <a:ext cx="271462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选题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DB3535-7D83-4061-99E7-54718271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33700"/>
            <a:ext cx="185737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2026.07.03-07.16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5E9C1A-12B5-47A1-AA14-32F3C3B6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33700"/>
            <a:ext cx="271462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文献调研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9A60ED-6986-4570-87A4-5B62D16C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86150"/>
            <a:ext cx="185737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2026.07.17-09.22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9BB9EA-0066-445D-BADA-8A7A2748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486150"/>
            <a:ext cx="271462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开题报告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621FA1-52EC-48E9-BA4D-6CCE3137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38600"/>
            <a:ext cx="185737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2026.09.24-10.19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79E0CD-8C14-4A67-ABC1-FBC3E684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038600"/>
            <a:ext cx="271462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系统设计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81CF00-928B-40CF-8085-CB7BA1E5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91050"/>
            <a:ext cx="185737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2026.10.20-11.01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A8D56D-D6FA-4A7C-BA89-0E3FD519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591050"/>
            <a:ext cx="271462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硬件加工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B4D671-B891-4F19-8A00-563CEDA9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43500"/>
            <a:ext cx="185737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2026.11.02-11.30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8FDF1A-B872-4F73-91A1-58EFB665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143500"/>
            <a:ext cx="271462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论文撰写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9FF719-D3AB-4BDC-BC5F-2F6B2B0F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744200" cy="6096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技术路线闭环：测试阶段发现的采样偏差、响应延迟或估算误差，会回溯到驱动、参数与软件逻辑进行修正。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184F4B-AE06-4DAA-8CA5-897AE7F1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341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07 / 09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7F50CD-9891-4AA7-B370-09B827FB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资料来源：开题报告与项目资料</a:t>
            </a:r>
          </a:p>
        </p:txBody>
      </p:sp>
    </p:spTree>
    <p:extLst>
      <p:ext uri="{BB962C8B-B14F-4D97-AF65-F5344CB8AC3E}">
        <p14:creationId xmlns:p14="http://schemas.microsoft.com/office/powerpoint/2010/main" val="4763409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E08F13-B59E-4AE3-8D5E-AE0F36EA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143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1E99FE-D252-4596-AC82-E31B9AEE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测试与验证方案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05125-AC1F-463B-8DA6-6BB4E4BB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048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以拟验证方式表述，不虚构未取得的误差数值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02479-BCE8-45C7-A1FB-851C8AA6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7B934A-4DAE-461C-8A49-A931AE4F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24EEF9-F5B0-40B8-AF3A-7E9410AB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76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1D1DA1-5B4C-448D-9747-7C221D37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42875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通信与采集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8CD03F-73AA-4B87-A993-15A366E5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352550"/>
            <a:ext cx="476250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验证BQ76940初始化、寄存器读取、数据刷新与ALERT响应。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1BB744-1B63-4D38-ABA8-DFD4FFD6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142875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保护与执行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9505C5-6397-42AB-A128-EBAA75D5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14550"/>
            <a:ext cx="476250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验证过充、过放、过流、过温阈值触发后充放电MOS的动作。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B700C-A5A5-412F-B031-23D02FB7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142875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SOC与校正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07FC70-4832-47EC-B920-A762D3CE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76550"/>
            <a:ext cx="476250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验证安时积分、静置OCV校正和满电、空电边界校准效果。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DEB429-B95F-4BF2-B5CF-64D6B05C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142875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交互与显示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8AB18B-EBFE-4AB9-BF1E-307D6896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38550"/>
            <a:ext cx="476250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验证UART命令解析、状态上报和Python上位机显示刷新。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27165C-4C36-4BB2-98AD-2E890152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42875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运行稳定性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70FBCC-F386-418B-9B9A-A0C0BC1E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00550"/>
            <a:ext cx="476250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验证连续运行、异常恢复和均衡接口工作状态。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372D7C-790F-48A5-8F13-ECE0B82F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52550"/>
            <a:ext cx="142875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预期成果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CD5DB9-0431-41E9-9EDC-ED824476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352550"/>
            <a:ext cx="2419350" cy="6667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完成多串锂电池管理系统软硬件设计。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DD515F-71B7-4A7B-AEF1-F5C3E392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9800"/>
            <a:ext cx="2419350" cy="6667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实现状态采集、保护判断、SOC估算与上位机交互。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CFE04D-9DD7-45FD-A71A-5C4A171B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67050"/>
            <a:ext cx="2419350" cy="6667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形成测试记录、测试数据和毕业设计论文。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DD1AED-B4CC-40BF-A970-7E97BE9B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05250"/>
            <a:ext cx="403860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验证重点：采样稳定性、保护链路及时性、SOC校正可用性和上位机交互连续性。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468E70-CF67-4760-9BCA-BE347CD6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074420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测试表述采用拟验证或计划验证，硬件仍处于联调阶段，不宣称全部功能已经完成验证。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449471-52A1-4942-9A57-04D0605C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341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08 / 09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75B0DA-0FA3-45A9-9446-F71D90A2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资料来源：开题报告与项目资料</a:t>
            </a:r>
          </a:p>
        </p:txBody>
      </p:sp>
    </p:spTree>
    <p:extLst>
      <p:ext uri="{BB962C8B-B14F-4D97-AF65-F5344CB8AC3E}">
        <p14:creationId xmlns:p14="http://schemas.microsoft.com/office/powerpoint/2010/main" val="12401034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39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46B7A-7C29-4683-A1B8-5FCD7629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90750"/>
            <a:ext cx="6096000" cy="8382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汇报结束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D868B2-004F-4A22-BBB4-267F3478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7239000" cy="4381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350">
                <a:solidFill>
                  <a:srgbClr val="DC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DCE8F0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ED4E5-7318-4E23-ABA5-FA981DC9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95750"/>
            <a:ext cx="4953000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请各位老师批评指正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749705969"/>
      </p:ext>
    </p:extLst>
  </p:cSld>
</p:sld>
</file>

<file path=ppt/theme/theme1.xml><?xml version="1.0" encoding="utf-8"?>
<a:theme xmlns:a="http://schemas.openxmlformats.org/drawingml/2006/main" name="ChatGPT">
  <a:themeElements>
    <a:clrScheme name="Cool Blue Gray Academic">
      <a:dk1>
        <a:srgbClr val="121C27"/>
      </a:dk1>
      <a:lt1>
        <a:srgbClr val="FFFFFF"/>
      </a:lt1>
      <a:dk2>
        <a:srgbClr val="1B2B3A"/>
      </a:dk2>
      <a:lt2>
        <a:srgbClr val="DCE8F0"/>
      </a:lt2>
      <a:accent1>
        <a:srgbClr val="17395C"/>
      </a:accent1>
      <a:accent2>
        <a:srgbClr val="2C6B96"/>
      </a:accent2>
      <a:accent3>
        <a:srgbClr val="C4A55D"/>
      </a:accent3>
      <a:accent4>
        <a:srgbClr val="8F4242"/>
      </a:accent4>
      <a:accent5>
        <a:srgbClr val="2F6E52"/>
      </a:accent5>
      <a:accent6>
        <a:srgbClr val="70849A"/>
      </a:accent6>
      <a:hlink>
        <a:srgbClr val="17395C"/>
      </a:hlink>
      <a:folHlink>
        <a:srgbClr val="2C6B96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ool Blue Gray Academ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2026-09-21T03:37:24.6750000Z</dcterms:created>
  <dcterms:modified xsi:type="dcterms:W3CDTF">2026-09-21T03:37:24.6750000Z</dcterms:modified>
</coreProperties>
</file>