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6ae43041ab046b1" /><Relationship Type="http://schemas.openxmlformats.org/officeDocument/2006/relationships/extended-properties" Target="/docProps/app.xml" Id="R318078b6c68d42dc" /><Relationship Type="http://schemas.openxmlformats.org/officeDocument/2006/relationships/officeDocument" Target="/ppt/presentation.xml" Id="R327b427b97ec455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ca7bb43287542ed"/>
  </p:sldMasterIdLst>
  <p:notesMasterIdLst>
    <p:notesMasterId xmlns:r="http://schemas.openxmlformats.org/officeDocument/2006/relationships" r:id="R549262e619c84543"/>
  </p:notesMasterIdLst>
  <p:sldIdLst>
    <p:sldId xmlns:r="http://schemas.openxmlformats.org/officeDocument/2006/relationships" id="256" r:id="R01de44011922432d"/>
    <p:sldId xmlns:r="http://schemas.openxmlformats.org/officeDocument/2006/relationships" id="257" r:id="Re16c26c76b844d5a"/>
    <p:sldId xmlns:r="http://schemas.openxmlformats.org/officeDocument/2006/relationships" id="258" r:id="R502d0995bee7407b"/>
    <p:sldId xmlns:r="http://schemas.openxmlformats.org/officeDocument/2006/relationships" id="259" r:id="Rde72a90ed22d49eb"/>
    <p:sldId xmlns:r="http://schemas.openxmlformats.org/officeDocument/2006/relationships" id="260" r:id="R4a4dd134437445f8"/>
    <p:sldId xmlns:r="http://schemas.openxmlformats.org/officeDocument/2006/relationships" id="261" r:id="R346b1f3caac94231"/>
    <p:sldId xmlns:r="http://schemas.openxmlformats.org/officeDocument/2006/relationships" id="262" r:id="Rbe498cb9ed1e4baf"/>
    <p:sldId xmlns:r="http://schemas.openxmlformats.org/officeDocument/2006/relationships" id="263" r:id="Rd9d0fc7933084b3f"/>
    <p:sldId xmlns:r="http://schemas.openxmlformats.org/officeDocument/2006/relationships" id="264" r:id="R56339d928902404b"/>
    <p:sldId xmlns:r="http://schemas.openxmlformats.org/officeDocument/2006/relationships" id="265" r:id="R0c3fa9d62848477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07a1dc23b3b415c" /><Relationship Type="http://schemas.openxmlformats.org/officeDocument/2006/relationships/slideMaster" Target="/ppt/slideMasters/slideMaster1.xml" Id="Rbca7bb43287542ed" /><Relationship Type="http://schemas.openxmlformats.org/officeDocument/2006/relationships/notesMaster" Target="/ppt/notesMasters/notesMaster1.xml" Id="R549262e619c84543" /><Relationship Type="http://schemas.openxmlformats.org/officeDocument/2006/relationships/presProps" Target="/ppt/presProps.xml" Id="Rbab898ead93e426f" /><Relationship Type="http://schemas.openxmlformats.org/officeDocument/2006/relationships/tableStyles" Target="/ppt/tableStyles.xml" Id="Rd3835a8cf228493f" /><Relationship Type="http://schemas.openxmlformats.org/officeDocument/2006/relationships/slide" Target="/ppt/slides/slide1.xml" Id="R01de44011922432d" /><Relationship Type="http://schemas.openxmlformats.org/officeDocument/2006/relationships/slide" Target="/ppt/slides/slide2.xml" Id="Re16c26c76b844d5a" /><Relationship Type="http://schemas.openxmlformats.org/officeDocument/2006/relationships/slide" Target="/ppt/slides/slide3.xml" Id="R502d0995bee7407b" /><Relationship Type="http://schemas.openxmlformats.org/officeDocument/2006/relationships/slide" Target="/ppt/slides/slide4.xml" Id="Rde72a90ed22d49eb" /><Relationship Type="http://schemas.openxmlformats.org/officeDocument/2006/relationships/slide" Target="/ppt/slides/slide5.xml" Id="R4a4dd134437445f8" /><Relationship Type="http://schemas.openxmlformats.org/officeDocument/2006/relationships/slide" Target="/ppt/slides/slide6.xml" Id="R346b1f3caac94231" /><Relationship Type="http://schemas.openxmlformats.org/officeDocument/2006/relationships/slide" Target="/ppt/slides/slide7.xml" Id="Rbe498cb9ed1e4baf" /><Relationship Type="http://schemas.openxmlformats.org/officeDocument/2006/relationships/slide" Target="/ppt/slides/slide8.xml" Id="Rd9d0fc7933084b3f" /><Relationship Type="http://schemas.openxmlformats.org/officeDocument/2006/relationships/slide" Target="/ppt/slides/slide9.xml" Id="R56339d928902404b" /><Relationship Type="http://schemas.openxmlformats.org/officeDocument/2006/relationships/slide" Target="/ppt/slides/slide10.xml" Id="R0c3fa9d62848477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293721dfdf45483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ool Blue Gray Research">
      <a:dk1>
        <a:srgbClr val="12212B"/>
      </a:dk1>
      <a:lt1>
        <a:srgbClr val="FFFFFF"/>
      </a:lt1>
      <a:dk2>
        <a:srgbClr val="1F3342"/>
      </a:dk2>
      <a:lt2>
        <a:srgbClr val="DCEAF3"/>
      </a:lt2>
      <a:accent1>
        <a:srgbClr val="174A7C"/>
      </a:accent1>
      <a:accent2>
        <a:srgbClr val="3F7EA6"/>
      </a:accent2>
      <a:accent3>
        <a:srgbClr val="D9A25F"/>
      </a:accent3>
      <a:accent4>
        <a:srgbClr val="B94B4B"/>
      </a:accent4>
      <a:accent5>
        <a:srgbClr val="2F7D5B"/>
      </a:accent5>
      <a:accent6>
        <a:srgbClr val="6A7F95"/>
      </a:accent6>
      <a:hlink>
        <a:srgbClr val="174A7C"/>
      </a:hlink>
      <a:folHlink>
        <a:srgbClr val="3F7EA6"/>
      </a:folHlink>
    </a:clrScheme>
    <a:fontScheme name="Microsoft YaHei">
      <a:majorFont>
        <a:latin typeface="Microsoft YaHei"/>
        <a:ea typeface="Microsoft YaHei"/>
        <a:cs typeface="Microsoft YaHei"/>
      </a:majorFont>
      <a:minorFont>
        <a:latin typeface="Microsoft YaHei"/>
        <a:ea typeface="Microsoft YaHei"/>
        <a:cs typeface="Microsoft YaHei"/>
      </a:minorFont>
    </a:fontScheme>
    <a:fmtScheme name="Cool Blue Gray Research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4c5e6ee461b4959" /><Relationship Type="http://schemas.openxmlformats.org/officeDocument/2006/relationships/notesMaster" Target="/ppt/notesMasters/notesMaster1.xml" Id="R20e5e710c51e418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1a51d6668654da2" /><Relationship Type="http://schemas.openxmlformats.org/officeDocument/2006/relationships/notesMaster" Target="/ppt/notesMasters/notesMaster1.xml" Id="Rf0c623812a0b475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ecb2ba75b8f426d" /><Relationship Type="http://schemas.openxmlformats.org/officeDocument/2006/relationships/notesMaster" Target="/ppt/notesMasters/notesMaster1.xml" Id="Rc322e49bfc3145b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f194b8b5df543e5" /><Relationship Type="http://schemas.openxmlformats.org/officeDocument/2006/relationships/notesMaster" Target="/ppt/notesMasters/notesMaster1.xml" Id="Rcc5acff6be9d404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aee88d0052f428c" /><Relationship Type="http://schemas.openxmlformats.org/officeDocument/2006/relationships/notesMaster" Target="/ppt/notesMasters/notesMaster1.xml" Id="R2dbcc0262ccd4dc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f26a698f8aa446e" /><Relationship Type="http://schemas.openxmlformats.org/officeDocument/2006/relationships/notesMaster" Target="/ppt/notesMasters/notesMaster1.xml" Id="Rc882ee171994453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137f2a053df465c" /><Relationship Type="http://schemas.openxmlformats.org/officeDocument/2006/relationships/notesMaster" Target="/ppt/notesMasters/notesMaster1.xml" Id="Rc67b00387a6a4b9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77a6e5f9d1f48c7" /><Relationship Type="http://schemas.openxmlformats.org/officeDocument/2006/relationships/notesMaster" Target="/ppt/notesMasters/notesMaster1.xml" Id="R8b20515cbda74be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e0fb908003d4a38" /><Relationship Type="http://schemas.openxmlformats.org/officeDocument/2006/relationships/notesMaster" Target="/ppt/notesMasters/notesMaster1.xml" Id="Rdda6678638b341a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14b7ce356a84e37" /><Relationship Type="http://schemas.openxmlformats.org/officeDocument/2006/relationships/notesMaster" Target="/ppt/notesMasters/notesMaster1.xml" Id="R3e2ad6bcd3524dc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开场介绍课题名称、答辩身份和指导教师，背景为生成图，不作为实验照片。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本页用因果链说明选题来源，不夸大应用规模，重点落在多串成组后的管理需求。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强调验证型目标，不把CAN、蓝牙、串口屏写成当前已实现功能。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把工程价值、学习价值和应用参考分层说明，避免笼统表述。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现状页用表格归纳，不逐篇展开文献，具体依据见开题报告参考文献。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重点区分数据流与安全控制链路，避免把扩展功能说成已实现。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选型说明合适性，不宣称所有硬件均已完整验证成功。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重点讲解任务优先级、共享资源保护和ALERT处理边界。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测试顺序从通信到整机，明确当前硬件仍在联调阶段。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收束页强调从需求到总结的闭环，并对应学校进度安排。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slideLayout1.xml><?xml version="1.0" encoding="utf-8"?>
<p:sldLayout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bcef8666764115" /><Relationship Type="http://schemas.openxmlformats.org/officeDocument/2006/relationships/theme" Target="/ppt/theme/theme1.xml" Id="R51600d4ee34446fd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fbcef866676411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2ad1e4b3f94921" /><Relationship Type="http://schemas.openxmlformats.org/officeDocument/2006/relationships/image" Target="/ppt/media/image.png" Id="R0635db042d5b4c59" /><Relationship Type="http://schemas.openxmlformats.org/officeDocument/2006/relationships/notesSlide" Target="/ppt/notesSlides/notesSlide1.xml" Id="Re8cda93c993240e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04237843b8469a" /><Relationship Type="http://schemas.openxmlformats.org/officeDocument/2006/relationships/notesSlide" Target="/ppt/notesSlides/notesSlide2.xml" Id="Ra74989146c56488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c63388fed34a4c" /><Relationship Type="http://schemas.openxmlformats.org/officeDocument/2006/relationships/notesSlide" Target="/ppt/notesSlides/notesSlide3.xml" Id="R23ebc42b446d4a2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4f3c6c5d1a4341" /><Relationship Type="http://schemas.openxmlformats.org/officeDocument/2006/relationships/notesSlide" Target="/ppt/notesSlides/notesSlide4.xml" Id="Rc8a58ec62e4249d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3556355f1e4486" /><Relationship Type="http://schemas.openxmlformats.org/officeDocument/2006/relationships/notesSlide" Target="/ppt/notesSlides/notesSlide5.xml" Id="R9529ae6751404c6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e47a996e1d43e0" /><Relationship Type="http://schemas.openxmlformats.org/officeDocument/2006/relationships/notesSlide" Target="/ppt/notesSlides/notesSlide6.xml" Id="R22cbef2ab3f340d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99efc55d7a4708" /><Relationship Type="http://schemas.openxmlformats.org/officeDocument/2006/relationships/image" Target="/ppt/media/image2.png" Id="Rfc10b522d09449b2" /><Relationship Type="http://schemas.openxmlformats.org/officeDocument/2006/relationships/notesSlide" Target="/ppt/notesSlides/notesSlide7.xml" Id="R342aab73c9cd46d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e9dd3cd5ff496e" /><Relationship Type="http://schemas.openxmlformats.org/officeDocument/2006/relationships/notesSlide" Target="/ppt/notesSlides/notesSlide8.xml" Id="R1710941ae7244dd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bfd391076e4358" /><Relationship Type="http://schemas.openxmlformats.org/officeDocument/2006/relationships/notesSlide" Target="/ppt/notesSlides/notesSlide9.xml" Id="Rc6414c4ddf0540c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05e0826ac44af5" /><Relationship Type="http://schemas.openxmlformats.org/officeDocument/2006/relationships/notesSlide" Target="/ppt/notesSlides/notesSlide10.xml" Id="Racdea1a803dd40b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35db042d5b4c59"/>
          <a:srcRect xmlns:a="http://schemas.openxmlformats.org/drawingml/2006/main" l="0" t="33333" r="0" b="33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2286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C6F2EC-E418-449B-BCF0-1D41E47FC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A7C"/>
          </a:solidFill>
          <a:ln xmlns:a="http://schemas.openxmlformats.org/drawingml/2006/main" w="0">
            <a:solidFill>
              <a:srgbClr val="174A7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32F522-724C-41AA-B416-255293C4D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8191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2550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基于STM32的多串锂电池管理系统设计与实现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964A5B-8457-448F-88E6-E1C72A02F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500">
                <a:solidFill>
                  <a:srgbClr val="3F7E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3F7EA6"/>
                </a:solidFill>
                <a:latin typeface="Microsoft YaHei"/>
                <a:ea typeface="Microsoft YaHei"/>
                <a:cs typeface="Microsoft YaHei"/>
              </a:rPr>
              <a:t>本科毕业设计（论文）开题答辩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34DB48-AB2A-4DE2-A2FB-828CF2D12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91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汇报人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2B70BF-1CF0-4206-8C4B-BD9C1CB70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991100"/>
            <a:ext cx="209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6D1"/>
          </a:solidFill>
          <a:ln xmlns:a="http://schemas.openxmlformats.org/drawingml/2006/main" w="0">
            <a:solidFill>
              <a:srgbClr val="B8C6D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56D4BD-7470-4250-9CBB-E4208E843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762500"/>
            <a:ext cx="91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学号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CC1DE3-BBE9-4F51-A034-AD3BA3989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991100"/>
            <a:ext cx="209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6D1"/>
          </a:solidFill>
          <a:ln xmlns:a="http://schemas.openxmlformats.org/drawingml/2006/main" w="0">
            <a:solidFill>
              <a:srgbClr val="B8C6D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FA682A-1FD6-449A-903A-ADF867501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91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专业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FD01C6-E549-4DA4-8765-988C34B17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562600"/>
            <a:ext cx="209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6D1"/>
          </a:solidFill>
          <a:ln xmlns:a="http://schemas.openxmlformats.org/drawingml/2006/main" w="0">
            <a:solidFill>
              <a:srgbClr val="B8C6D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5F1F65-D664-4455-8CD8-07B1A0E7B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334000"/>
            <a:ext cx="91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指导教师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11455A-AE0E-4558-9509-B92D5DA62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562600"/>
            <a:ext cx="209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6D1"/>
          </a:solidFill>
          <a:ln xmlns:a="http://schemas.openxmlformats.org/drawingml/2006/main" w="0">
            <a:solidFill>
              <a:srgbClr val="B8C6D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A11896-2690-4936-8977-F67225E67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背景图：Image2生成，仅作学术答辩视觉背景</a:t>
            </a:r>
          </a:p>
        </p:txBody>
      </p:sp>
    </p:spTree>
    <p:extLst>
      <p:ext uri="{BB962C8B-B14F-4D97-AF65-F5344CB8AC3E}">
        <p14:creationId xmlns:p14="http://schemas.microsoft.com/office/powerpoint/2010/main" val="207786292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6578D7-4420-417D-B58E-8E3C25BAD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76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2250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研究背景与问题界定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F0646A-FACA-439D-9CF1-594777479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EA6"/>
          </a:solidFill>
          <a:ln xmlns:a="http://schemas.openxmlformats.org/drawingml/2006/main" w="0">
            <a:solidFill>
              <a:srgbClr val="3F7EA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E16FC2-38B3-4E65-9B27-D2750C03C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2286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锂电池应用持续扩大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储能与小型动力场景增多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A11603-4C3F-4BD1-83E3-61B6C4CC1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571625"/>
            <a:ext cx="2286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多串成组带来单体差异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电压、容量与温度不一致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C3115F-EAA8-488E-B325-5103518A5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571625"/>
            <a:ext cx="2286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运行风险需要实时约束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过充、过放、过流、过温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6C6E95-877B-46DF-B4B4-FB88CD36F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571625"/>
            <a:ext cx="2286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管理系统成为必要环节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12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采集、判断、保护与显示</a:t>
            </a:r>
          </a:p>
        </p:txBody>
      </p:sp>
      <p:cxnSp>
        <p:nvCxnSpPr>
          <p:cNvPr id="20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2895600" y="2143125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F7EA6"/>
            </a:solidFill>
            <a:prstDash val="solid"/>
            <a:headEnd type="triangle" w="med" len="med"/>
          </a:ln>
        </p:spPr>
      </p:cxnSp>
      <p:cxnSp>
        <p:nvCxnSpPr>
          <p:cNvPr id="21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5619750" y="2143125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F7EA6"/>
            </a:solidFill>
            <a:prstDash val="solid"/>
            <a:headEnd type="triangle" w="med" len="med"/>
          </a:ln>
        </p:spPr>
      </p:cxnSp>
      <p:cxnSp>
        <p:nvCxnSpPr>
          <p:cNvPr id="22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8343900" y="2143125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F7EA6"/>
            </a:solidFill>
            <a:prstDash val="solid"/>
            <a:headEnd type="triangle" w="med" len="me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9DD3FD-4888-44C6-8DBC-547E75236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990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70000"/>
              </a:lnSpc>
              <a:buNone/>
              <a:defRPr sz="127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多串锂电池组的安全边界与单体差异有关，电池管理系统需要在有限嵌入式资源内完成状态感知、风险判断和执行控制。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3C1DA7-3763-4E44-951B-918DB1390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9125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70000"/>
              </a:lnSpc>
              <a:buNone/>
              <a:defRPr sz="127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课题面向这一需求，围绕多串电池组的安全运行与状态可观测性展开设计。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4940DB-78AD-4228-A8AE-5DCA3CCE3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238875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50000"/>
              </a:lnSpc>
              <a:buNone/>
              <a:def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02 / 10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431087-D6E7-4A59-BF62-E70FAEF38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3887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资料来源：开题报告研究背景</a:t>
            </a:r>
          </a:p>
        </p:txBody>
      </p:sp>
    </p:spTree>
    <p:extLst>
      <p:ext uri="{BB962C8B-B14F-4D97-AF65-F5344CB8AC3E}">
        <p14:creationId xmlns:p14="http://schemas.microsoft.com/office/powerpoint/2010/main" val="195361242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B893FF-3E35-461A-A144-3192639D1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76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2250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研究目的与预期成果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D5009B-29AE-4EE2-8344-77CFF5D6F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EA6"/>
          </a:solidFill>
          <a:ln xmlns:a="http://schemas.openxmlformats.org/drawingml/2006/main" w="0">
            <a:solidFill>
              <a:srgbClr val="3F7EA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8D3273-9183-4E7C-91AD-CAE7B412D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381125"/>
            <a:ext cx="4762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设计一套可验证的多串锂电池管理系统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B9F470-61D1-4E73-9497-2D293EC7D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48000"/>
            <a:ext cx="2476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状态感知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电压、电流、温度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F61FB2-D726-406D-B37F-A0A36CE5E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48000"/>
            <a:ext cx="2476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安全控制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阈值判断与MOS动作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41104D-2241-4042-9AE1-01E35C404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0"/>
            <a:ext cx="2476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状态估算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SOC计算与校正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431CF4-F3F8-4745-A2DA-8DE52D3C0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48000"/>
            <a:ext cx="1238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7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调试交互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97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UART命令与上位机</a:t>
            </a:r>
          </a:p>
        </p:txBody>
      </p:sp>
      <p:cxnSp>
        <p:nvCxnSpPr>
          <p:cNvPr id="22" name=""/>
          <p:cNvCxnSpPr>
            <a:stCxn xmlns:a="http://schemas.openxmlformats.org/drawingml/2006/main" id="3" idx="2"/>
            <a:endCxn xmlns:a="http://schemas.openxmlformats.org/drawingml/2006/main" id="4" idx="0"/>
          </p:cNvCxnSpPr>
          <p:nvPr/>
        </p:nvCxnSpPr>
        <p:spPr>
          <a:xfrm xmlns:a="http://schemas.openxmlformats.org/drawingml/2006/main" flipH="1">
            <a:off x="2190750" y="2333625"/>
            <a:ext cx="3905250" cy="714375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F7EA6"/>
            </a:solidFill>
            <a:prstDash val="solid"/>
            <a:headEnd type="triangle" w="med" len="med"/>
          </a:ln>
        </p:spPr>
      </p:cxnSp>
      <p:cxnSp>
        <p:nvCxnSpPr>
          <p:cNvPr id="23" name=""/>
          <p:cNvCxnSpPr>
            <a:stCxn xmlns:a="http://schemas.openxmlformats.org/drawingml/2006/main" id="3" idx="2"/>
            <a:endCxn xmlns:a="http://schemas.openxmlformats.org/drawingml/2006/main" id="5" idx="0"/>
          </p:cNvCxnSpPr>
          <p:nvPr/>
        </p:nvCxnSpPr>
        <p:spPr>
          <a:xfrm xmlns:a="http://schemas.openxmlformats.org/drawingml/2006/main" flipH="1">
            <a:off x="5334000" y="2333625"/>
            <a:ext cx="762000" cy="714375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F7EA6"/>
            </a:solidFill>
            <a:prstDash val="solid"/>
            <a:headEnd type="triangle" w="med" len="med"/>
          </a:ln>
        </p:spPr>
      </p:cxnSp>
      <p:cxnSp>
        <p:nvCxnSpPr>
          <p:cNvPr id="24" name=""/>
          <p:cNvCxnSpPr>
            <a:stCxn xmlns:a="http://schemas.openxmlformats.org/drawingml/2006/main" id="3" idx="3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8477250" y="1857375"/>
            <a:ext cx="0" cy="1190625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F7EA6"/>
            </a:solidFill>
            <a:prstDash val="solid"/>
            <a:headEnd type="triangle" w="med" len="med"/>
          </a:ln>
        </p:spPr>
      </p:cxnSp>
      <p:cxnSp>
        <p:nvCxnSpPr>
          <p:cNvPr id="25" name=""/>
          <p:cNvCxnSpPr>
            <a:stCxn xmlns:a="http://schemas.openxmlformats.org/drawingml/2006/main" id="3" idx="3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8477250" y="1857375"/>
            <a:ext cx="2524125" cy="1190625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F7EA6"/>
            </a:solidFill>
            <a:prstDash val="solid"/>
            <a:headEnd type="triangle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6055CA-1160-47F3-878B-5CFF17A39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62500"/>
            <a:ext cx="9334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70000"/>
              </a:lnSpc>
              <a:buNone/>
              <a:defRPr sz="127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预期形成一套以STM32F103C8T6与BQ76940为核心的软硬件方案，完成采样、保护、SOC估算和基础被动均衡接口，并通过上位机进行调试与验证。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98345C-1E29-448A-80B0-FF30FD833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238875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50000"/>
              </a:lnSpc>
              <a:buNone/>
              <a:def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03 / 10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216B17-B742-4B09-9851-461187512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3887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资料来源：开题报告研究目的与预期目标</a:t>
            </a:r>
          </a:p>
        </p:txBody>
      </p:sp>
    </p:spTree>
    <p:extLst>
      <p:ext uri="{BB962C8B-B14F-4D97-AF65-F5344CB8AC3E}">
        <p14:creationId xmlns:p14="http://schemas.microsoft.com/office/powerpoint/2010/main" val="29563398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EA8BBF-0C13-4191-9BB2-65DDA6C24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76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2250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研究意义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C283B7-DE9D-400A-B44F-FEF9F23C7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EA6"/>
          </a:solidFill>
          <a:ln xmlns:a="http://schemas.openxmlformats.org/drawingml/2006/main" w="0">
            <a:solidFill>
              <a:srgbClr val="3F7EA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0FC2D7-CE0C-4AF1-B597-6DB4E72D2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381125"/>
            <a:ext cx="8572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27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工程意义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27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降低过充、过放与过温风险，延长电池组使用寿命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5DBB19-5ED8-41E5-AD51-86A8A4818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619375"/>
            <a:ext cx="7810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27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学习意义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27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覆盖嵌入式软硬件、通信、RTOS与电池保护策略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90D637-CAFA-4537-A4B3-59D3144C1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857625"/>
            <a:ext cx="7048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27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应用参考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27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为同类多串锂电池管理系统提供可复用设计思路</a:t>
            </a:r>
          </a:p>
        </p:txBody>
      </p:sp>
      <p:cxnSp>
        <p:nvCxnSpPr>
          <p:cNvPr id="16" name=""/>
          <p:cNvCxnSpPr>
            <a:stCxn xmlns:a="http://schemas.openxmlformats.org/drawingml/2006/main" id="3" idx="2"/>
            <a:endCxn xmlns:a="http://schemas.openxmlformats.org/drawingml/2006/main" id="4" idx="0"/>
          </p:cNvCxnSpPr>
          <p:nvPr/>
        </p:nvCxnSpPr>
        <p:spPr>
          <a:xfrm xmlns:a="http://schemas.openxmlformats.org/drawingml/2006/main">
            <a:off x="5715000" y="2333625"/>
            <a:ext cx="0" cy="28575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F7EA6"/>
            </a:solidFill>
            <a:prstDash val="solid"/>
            <a:headEnd type="triangle" w="med" len="med"/>
          </a:ln>
        </p:spPr>
      </p:cxnSp>
      <p:cxnSp>
        <p:nvCxnSpPr>
          <p:cNvPr id="17" name=""/>
          <p:cNvCxnSpPr>
            <a:stCxn xmlns:a="http://schemas.openxmlformats.org/drawingml/2006/main" id="4" idx="2"/>
            <a:endCxn xmlns:a="http://schemas.openxmlformats.org/drawingml/2006/main" id="5" idx="0"/>
          </p:cNvCxnSpPr>
          <p:nvPr/>
        </p:nvCxnSpPr>
        <p:spPr>
          <a:xfrm xmlns:a="http://schemas.openxmlformats.org/drawingml/2006/main">
            <a:off x="5715000" y="3571875"/>
            <a:ext cx="0" cy="28575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F7EA6"/>
            </a:solidFill>
            <a:prstDash val="solid"/>
            <a:headEnd type="triangle" w="med" len="me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11AFE8-E592-4799-9ABD-AF9C99E1D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191125"/>
            <a:ext cx="762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70000"/>
              </a:lnSpc>
              <a:buNone/>
              <a:defRPr sz="1350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本课题的价值不在于追求复杂算法，而在于形成结构清晰、可验证、可复用的电池管理实现路径。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28FFB4-652F-484B-BC2D-077C26F74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238875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50000"/>
              </a:lnSpc>
              <a:buNone/>
              <a:def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04 / 10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7F431C-2D79-4072-BD13-83C52E3F4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3887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资料来源：开题报告研究意义</a:t>
            </a:r>
          </a:p>
        </p:txBody>
      </p:sp>
    </p:spTree>
    <p:extLst>
      <p:ext uri="{BB962C8B-B14F-4D97-AF65-F5344CB8AC3E}">
        <p14:creationId xmlns:p14="http://schemas.microsoft.com/office/powerpoint/2010/main" val="1192741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CFCD32-C519-4CC0-89AE-7DE44B850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76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2250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国内外研究现状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4D3AED-9FDA-4B26-BB28-AD684E60A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EA6"/>
          </a:solidFill>
          <a:ln xmlns:a="http://schemas.openxmlformats.org/drawingml/2006/main" w="0">
            <a:solidFill>
              <a:srgbClr val="3F7EA6"/>
            </a:solidFill>
            <a:prstDash val="solid"/>
          </a:ln>
        </p:spPr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381125"/>
          <a:ext xmlns:a="http://schemas.openxmlformats.org/drawingml/2006/main" cx="10287000" cy="3238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429000"/>
                <a:gridCol w="3429000"/>
                <a:gridCol w="3429000"/>
              </a:tblGrid>
              <a:tr h="4953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研究方向</a:t>
                      </a:r>
                    </a:p>
                  </a:txBody>
                  <a:tcPr marL="91440" marR="91440" marT="45720" marB="45720" anchor="ctr">
                    <a:solidFill>
                      <a:srgbClr val="174A7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国内研究进展</a:t>
                      </a:r>
                    </a:p>
                  </a:txBody>
                  <a:tcPr marL="91440" marR="91440" marT="45720" marB="45720" anchor="ctr">
                    <a:solidFill>
                      <a:srgbClr val="174A7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国外研究进展</a:t>
                      </a:r>
                    </a:p>
                  </a:txBody>
                  <a:tcPr marL="91440" marR="91440" marT="45720" marB="45720" anchor="ctr">
                    <a:solidFill>
                      <a:srgbClr val="174A7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125" b="0">
                          <a:solidFill>
                            <a:srgbClr val="2230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安全保护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sz="1125" b="0">
                          <a:solidFill>
                            <a:srgbClr val="2230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面向具体应用场景完善温度、过流与充放电保护策略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sz="1125" b="0">
                          <a:solidFill>
                            <a:srgbClr val="2230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保护策略与系统架构、通信集成结合更紧密</a:t>
                      </a:r>
                    </a:p>
                  </a:txBody>
                  <a:tcPr marL="91440" marR="91440" marT="45720" marB="45720" anchor="ctr"/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125" b="0">
                          <a:solidFill>
                            <a:srgbClr val="2230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SOC估算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sz="1125" b="0">
                          <a:solidFill>
                            <a:srgbClr val="2230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安时积分、开路电压与滤波算法逐步融合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sz="1125" b="0">
                          <a:solidFill>
                            <a:srgbClr val="2230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滤波方法与数据驱动模型融合成为重点</a:t>
                      </a:r>
                    </a:p>
                  </a:txBody>
                  <a:tcPr marL="91440" marR="91440" marT="45720" marB="45720" anchor="ctr"/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125" b="0">
                          <a:solidFill>
                            <a:srgbClr val="2230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均衡控制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sz="1125" b="0">
                          <a:solidFill>
                            <a:srgbClr val="2230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被动均衡与主动均衡方案均有应用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sz="1125" b="0">
                          <a:solidFill>
                            <a:srgbClr val="2230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主动均衡拓扑与控制策略优化持续发展</a:t>
                      </a:r>
                    </a:p>
                  </a:txBody>
                  <a:tcPr marL="91440" marR="91440" marT="45720" marB="45720" anchor="ctr"/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125" b="0">
                          <a:solidFill>
                            <a:srgbClr val="2230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系统集成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sz="1125" b="0">
                          <a:solidFill>
                            <a:srgbClr val="2230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多面向设备级监控与上位机调试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sz="1125" b="0">
                          <a:solidFill>
                            <a:srgbClr val="2230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物联网集成与嵌入式平台实现较为活跃</a:t>
                      </a:r>
                    </a:p>
                  </a:txBody>
                  <a:tcPr marL="91440" marR="91440" marT="45720" marB="45720" anchor="ctr"/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2C31F5-9F1C-4180-B40A-E742210F9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70000"/>
              </a:lnSpc>
              <a:buNone/>
              <a:defRPr sz="127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已有研究为本课题提供方案与算法参考，面向STM32平台时仍需处理采样时序、共享资源调度与保护响应的工程约束。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BAB0EC-DDB4-4423-8ADB-41A629C5C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238875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50000"/>
              </a:lnSpc>
              <a:buNone/>
              <a:def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05 /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27444B-B88E-4DD3-AB0B-62B15C49B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3887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资料来源：开题报告国内外研究现状</a:t>
            </a:r>
          </a:p>
        </p:txBody>
      </p:sp>
    </p:spTree>
    <p:extLst>
      <p:ext uri="{BB962C8B-B14F-4D97-AF65-F5344CB8AC3E}">
        <p14:creationId xmlns:p14="http://schemas.microsoft.com/office/powerpoint/2010/main" val="146261798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1F43ED-A448-47D7-8CB5-317D27DE3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76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2250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系统总体方案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8CC77A-6395-42D7-A5B7-BC599BF1E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EA6"/>
          </a:solidFill>
          <a:ln xmlns:a="http://schemas.openxmlformats.org/drawingml/2006/main" w="0">
            <a:solidFill>
              <a:srgbClr val="3F7EA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B18155-EA35-4C80-B950-AE80AEA31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619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9串18650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锂电池组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83F8AC-6EE2-4B0A-A22B-C005A780B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381125"/>
            <a:ext cx="1905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BQ76940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12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采集与硬件告警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1EDA89-BED6-4303-A7B3-FB856F87F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381125"/>
            <a:ext cx="2095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STM32F103C8T6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数据处理与策略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30676F-D49E-4FBD-93D6-7F599D6F1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381125"/>
            <a:ext cx="1714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命令与状态交互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F6B380-E9C4-4F68-A0AA-B399CF0F3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381125"/>
            <a:ext cx="1809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Python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tkinter上位机</a:t>
            </a:r>
          </a:p>
        </p:txBody>
      </p:sp>
      <p:cxnSp>
        <p:nvCxnSpPr>
          <p:cNvPr id="27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2228850" y="1857375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F7EA6"/>
            </a:solidFill>
            <a:prstDash val="solid"/>
            <a:headEnd type="triangle" w="med" len="med"/>
          </a:ln>
        </p:spPr>
      </p:cxnSp>
      <p:cxnSp>
        <p:nvCxnSpPr>
          <p:cNvPr id="28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4476750" y="1857375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F7EA6"/>
            </a:solidFill>
            <a:prstDash val="solid"/>
            <a:headEnd type="triangle" w="med" len="med"/>
          </a:ln>
        </p:spPr>
      </p:cxnSp>
      <p:cxnSp>
        <p:nvCxnSpPr>
          <p:cNvPr id="29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6905625" y="1857375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F7EA6"/>
            </a:solidFill>
            <a:prstDash val="solid"/>
            <a:headEnd type="triangle" w="med" len="med"/>
          </a:ln>
        </p:spPr>
      </p:cxnSp>
      <p:cxnSp>
        <p:nvCxnSpPr>
          <p:cNvPr id="3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8953500" y="1857375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F7EA6"/>
            </a:solidFill>
            <a:prstDash val="solid"/>
            <a:headEnd type="triangle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DBCFD1-1174-4A53-8CEC-9BA3BFB9A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143250"/>
            <a:ext cx="4000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200" b="1">
                <a:solidFill>
                  <a:srgbClr val="B94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94B4B"/>
                </a:solidFill>
                <a:latin typeface="Microsoft YaHei"/>
                <a:ea typeface="Microsoft YaHei"/>
                <a:cs typeface="Microsoft YaHei"/>
              </a:rPr>
              <a:t>安全控制链路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200" b="1">
                <a:solidFill>
                  <a:srgbClr val="B94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94B4B"/>
                </a:solidFill>
                <a:latin typeface="Microsoft YaHei"/>
                <a:ea typeface="Microsoft YaHei"/>
                <a:cs typeface="Microsoft YaHei"/>
              </a:rPr>
              <a:t>软件阈值与硬件告警共同判断</a:t>
            </a:r>
          </a:p>
        </p:txBody>
      </p:sp>
      <p:cxnSp>
        <p:nvCxnSpPr>
          <p:cNvPr id="32" name=""/>
          <p:cNvCxnSpPr>
            <a:stCxn xmlns:a="http://schemas.openxmlformats.org/drawingml/2006/main" id="4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3524250" y="2333625"/>
            <a:ext cx="2095500" cy="809625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F7EA6"/>
            </a:solidFill>
            <a:prstDash val="solid"/>
            <a:headEnd type="triangle" w="med" len="med"/>
          </a:ln>
        </p:spPr>
      </p:cxnSp>
      <p:cxnSp>
        <p:nvCxnSpPr>
          <p:cNvPr id="33" name=""/>
          <p:cNvCxnSpPr>
            <a:stCxn xmlns:a="http://schemas.openxmlformats.org/drawingml/2006/main" id="5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 flipH="1">
            <a:off x="5619750" y="2333625"/>
            <a:ext cx="238125" cy="809625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F7EA6"/>
            </a:solidFill>
            <a:prstDash val="solid"/>
            <a:headEnd type="triangle" w="med" len="me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1CD65B-3A2E-4139-8F93-23BF2306E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43250"/>
            <a:ext cx="2095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200" b="1">
                <a:solidFill>
                  <a:srgbClr val="2F7D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7D5B"/>
                </a:solidFill>
                <a:latin typeface="Microsoft YaHei"/>
                <a:ea typeface="Microsoft YaHei"/>
                <a:cs typeface="Microsoft YaHei"/>
              </a:rPr>
              <a:t>充放电MOS控制</a:t>
            </a:r>
          </a:p>
        </p:txBody>
      </p:sp>
      <p:cxnSp>
        <p:nvCxnSpPr>
          <p:cNvPr id="35" name=""/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7620000" y="361950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F7EA6"/>
            </a:solidFill>
            <a:prstDash val="solid"/>
            <a:headEnd type="triangle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7BDBAC-C9B1-47BA-82FE-855D4DDB3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70000"/>
              </a:lnSpc>
              <a:buNone/>
              <a:defRPr sz="127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数据流从电池组经BQ76940、STM32到达上位机，控制流由告警与阈值判断驱动MOS动作。CAN、蓝牙与串口屏仅作为扩展预留。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1E2B23-9180-479C-9E5A-8A0D8126B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238875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50000"/>
              </a:lnSpc>
              <a:buNone/>
              <a:def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06 / 10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C6AC75-AABB-4E31-9A92-2D099F4D4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3887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资料来源：开题报告系统总体设计</a:t>
            </a:r>
          </a:p>
        </p:txBody>
      </p:sp>
    </p:spTree>
    <p:extLst>
      <p:ext uri="{BB962C8B-B14F-4D97-AF65-F5344CB8AC3E}">
        <p14:creationId xmlns:p14="http://schemas.microsoft.com/office/powerpoint/2010/main" val="149938254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F561BA-27CB-4E6C-B69E-EDEFB4667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76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2250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硬件选型与模块设计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2121AF-1FEB-411D-AD65-DE7DCB8C3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EA6"/>
          </a:solidFill>
          <a:ln xmlns:a="http://schemas.openxmlformats.org/drawingml/2006/main" w="0">
            <a:solidFill>
              <a:srgbClr val="3F7EA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BCB0FF-95FD-4F4D-B4E9-1A00BEF62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47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主控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E1887B-C1E5-4E6B-96E7-4232E3F5B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333500"/>
            <a:ext cx="2000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200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STM32F103C8T6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605CA1-F286-47D1-95D9-83098AE8B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409700"/>
            <a:ext cx="457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外设资源、实时性、资料成熟度与成本均衡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19ADC7-0B90-4B60-8BFB-AFEA59A52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1047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模拟前端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1A43E7-7480-472C-9E34-9C185C933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190750"/>
            <a:ext cx="2000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200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BQ76940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414734-0B6F-4643-A7F6-63DDEEC8F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266950"/>
            <a:ext cx="457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支持多串采集、硬件告警、MOS控制与被动均衡资源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4BA2AC-44D7-44F8-B63F-1CECACE4F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47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均衡方式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DAD523-E06F-44EA-9876-91E8069AB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048000"/>
            <a:ext cx="2000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200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被动均衡接口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78D556-20C3-419F-985B-2739C9D37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124200"/>
            <a:ext cx="457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结构简单、成本可控，主动均衡效率高但复杂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7CD25D-F6F9-425A-975D-84D5125D9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1047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通信方式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773B6E-7FCE-4971-91FF-91C41F835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905250"/>
            <a:ext cx="2000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200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2C9AA9-195C-4C26-A1A8-A4E8C2C77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981450"/>
            <a:ext cx="457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当前连接Python上位机，CAN等作为扩展方向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10b522d09449b2"/>
          <a:stretch xmlns:a="http://schemas.openxmlformats.org/drawingml/2006/main"/>
        </p:blipFill>
        <p:spPr>
          <a:xfrm xmlns:a="http://schemas.openxmlformats.org/drawingml/2006/main">
            <a:off x="8977700" y="1285875"/>
            <a:ext cx="2332850" cy="352425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8BC551-D6B4-4BCE-9DDD-DA7BD1CFB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857750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BQ769X0外围连接参考图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来源：BQ769X0参考设计资料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2F1415-77DA-401B-9F98-70EF1396E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60000"/>
              </a:lnSpc>
              <a:buNone/>
              <a:defRPr sz="1125">
                <a:solidFill>
                  <a:srgbClr val="B94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B94B4B"/>
                </a:solidFill>
                <a:latin typeface="Microsoft YaHei"/>
                <a:ea typeface="Microsoft YaHei"/>
                <a:cs typeface="Microsoft YaHei"/>
              </a:rPr>
              <a:t>硬件仍处于联调阶段，软件I2C读取、上拉电阻、唤醒流程与寄存器读取需继续验证。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459223-A3A7-4351-AB33-7DEBD98E8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238875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50000"/>
              </a:lnSpc>
              <a:buNone/>
              <a:def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07 / 10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6DCE52-929A-431A-A59F-E600E6185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3887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资料来源：开题报告硬件选型与模块设计</a:t>
            </a:r>
          </a:p>
        </p:txBody>
      </p:sp>
    </p:spTree>
    <p:extLst>
      <p:ext uri="{BB962C8B-B14F-4D97-AF65-F5344CB8AC3E}">
        <p14:creationId xmlns:p14="http://schemas.microsoft.com/office/powerpoint/2010/main" val="45517623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E2FC6D-1F55-4B9A-B3DC-AC518FE43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76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2250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软件设计与任务流程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4DA4CE-B81A-4C96-8A47-17672959E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EA6"/>
          </a:solidFill>
          <a:ln xmlns:a="http://schemas.openxmlformats.org/drawingml/2006/main" w="0">
            <a:solidFill>
              <a:srgbClr val="3F7EA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510FDA-1000-49D7-ACE5-D84149E34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81125"/>
            <a:ext cx="2667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BMS_Task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高优先级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500ms周期，可由ALERT唤醒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83054E-B3C2-4712-B7FA-7615FB2FA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381125"/>
            <a:ext cx="2476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UART_Task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低优先级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50ms轮询串口命令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81DDFD-B1AA-4EF3-A2B5-D06DFBF67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381125"/>
            <a:ext cx="1809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B94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B94B4B"/>
                </a:solidFill>
                <a:latin typeface="Microsoft YaHei"/>
                <a:ea typeface="Microsoft YaHei"/>
                <a:cs typeface="Microsoft YaHei"/>
              </a:rPr>
              <a:t>ALERT中断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B94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B94B4B"/>
                </a:solidFill>
                <a:latin typeface="Microsoft YaHei"/>
                <a:ea typeface="Microsoft YaHei"/>
                <a:cs typeface="Microsoft YaHei"/>
              </a:rPr>
              <a:t>只发送任务通知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0A8507-9E45-44B3-BFCD-F7508D734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81125"/>
            <a:ext cx="1809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I2C互斥锁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保护BQ76940访问</a:t>
            </a:r>
          </a:p>
        </p:txBody>
      </p:sp>
      <p:cxnSp>
        <p:nvCxnSpPr>
          <p:cNvPr id="28" name=""/>
          <p:cNvCxnSpPr>
            <a:stCxn xmlns:a="http://schemas.openxmlformats.org/drawingml/2006/main" id="5" idx="1"/>
            <a:endCxn xmlns:a="http://schemas.openxmlformats.org/drawingml/2006/main" id="3" idx="3"/>
          </p:cNvCxnSpPr>
          <p:nvPr/>
        </p:nvCxnSpPr>
        <p:spPr>
          <a:xfrm xmlns:a="http://schemas.openxmlformats.org/drawingml/2006/main" flipH="1">
            <a:off x="3524250" y="1952625"/>
            <a:ext cx="34290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F7EA6"/>
            </a:solidFill>
            <a:prstDash val="solid"/>
            <a:headEnd type="triangle" w="med" len="med"/>
          </a:ln>
        </p:spPr>
      </p:cxnSp>
      <p:cxnSp>
        <p:nvCxnSpPr>
          <p:cNvPr id="29" name=""/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6477000" y="1952625"/>
            <a:ext cx="276225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F7EA6"/>
            </a:solidFill>
            <a:prstDash val="solid"/>
            <a:headEnd type="triangle" w="med" len="me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B84575-B372-4CE1-99C7-7A98BB3AB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1714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采样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电压、电流、温度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F9A3F6-2B9E-4068-8448-DDF6060B1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143250"/>
            <a:ext cx="1714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判断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阈值与告警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668DFC-BFAC-4104-B259-C9D83A881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143250"/>
            <a:ext cx="2095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执行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SOC更新与MOS控制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38EEF8-4C2B-42D9-A8FB-8F8C475C2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143250"/>
            <a:ext cx="1714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上报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UART状态输出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78716A-D5BA-41D9-9033-579AA5518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0"/>
            <a:ext cx="1714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显示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上位机刷新</a:t>
            </a:r>
          </a:p>
        </p:txBody>
      </p:sp>
      <p:cxnSp>
        <p:nvCxnSpPr>
          <p:cNvPr id="35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476500" y="357187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F7EA6"/>
            </a:solidFill>
            <a:prstDash val="solid"/>
            <a:headEnd type="triangle" w="med" len="med"/>
          </a:ln>
        </p:spPr>
      </p:cxnSp>
      <p:cxnSp>
        <p:nvCxnSpPr>
          <p:cNvPr id="36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572000" y="357187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F7EA6"/>
            </a:solidFill>
            <a:prstDash val="solid"/>
            <a:headEnd type="triangle" w="med" len="med"/>
          </a:ln>
        </p:spPr>
      </p:cxnSp>
      <p:cxnSp>
        <p:nvCxnSpPr>
          <p:cNvPr id="37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7048500" y="357187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F7EA6"/>
            </a:solidFill>
            <a:prstDash val="solid"/>
            <a:headEnd type="triangle" w="med" len="med"/>
          </a:ln>
        </p:spPr>
      </p:cxnSp>
      <p:cxnSp>
        <p:nvCxnSpPr>
          <p:cNvPr id="38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9144000" y="357187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F7EA6"/>
            </a:solidFill>
            <a:prstDash val="solid"/>
            <a:headEnd type="triangle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1717E9-0849-45BC-8BED-5CA2B1985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952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70000"/>
              </a:lnSpc>
              <a:buNone/>
              <a:defRPr sz="120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中断服务程序不执行I2C操作，寄存器读取、故障解析与状态更新在任务上下文完成。串口命令访问BQ76940时，同样由互斥锁保护。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1C0114-249A-42C1-8BF5-23D258E31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0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70000"/>
              </a:lnSpc>
              <a:buNone/>
              <a:defRPr sz="120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SOC采用安时积分，静置约30s后结合开路电压校正，并以满电、空电边界校准。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1B8C73-08B0-4A5B-971A-F5AE13A0F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238875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50000"/>
              </a:lnSpc>
              <a:buNone/>
              <a:def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08 / 10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3D38A9-08E3-4EA5-B5E6-BE24FDCD2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3887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资料来源：开题报告软件设计与流程设计</a:t>
            </a:r>
          </a:p>
        </p:txBody>
      </p:sp>
    </p:spTree>
    <p:extLst>
      <p:ext uri="{BB962C8B-B14F-4D97-AF65-F5344CB8AC3E}">
        <p14:creationId xmlns:p14="http://schemas.microsoft.com/office/powerpoint/2010/main" val="16368271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E8B995-EBE4-4330-A62D-3613BB179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76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2250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测试与验证方案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93FD68-CAF4-4F56-87C6-3F56D5BDD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EA6"/>
          </a:solidFill>
          <a:ln xmlns:a="http://schemas.openxmlformats.org/drawingml/2006/main" w="0">
            <a:solidFill>
              <a:srgbClr val="3F7EA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D1B00A-3BFF-49C6-B7FF-BEA835268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21907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通信与采集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BQ76940初始化、寄存器读取与ALERT响应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74D462-9CBA-4A4D-96F1-4C264D9B8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428750"/>
            <a:ext cx="21907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保护与执行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保护阈值触发与MOS动作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9EDDD9-A939-48C2-B84C-23A3B5D8D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428750"/>
            <a:ext cx="21907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SOC与校正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安时积分、OCV校正与边界校准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05E2B8-E4AE-4960-A8F3-F57A72E6A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428750"/>
            <a:ext cx="21907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交互与运行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串口命令、上位机显示与长时间运行</a:t>
            </a:r>
          </a:p>
        </p:txBody>
      </p:sp>
      <p:cxnSp>
        <p:nvCxnSpPr>
          <p:cNvPr id="22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2857500" y="20478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F7EA6"/>
            </a:solidFill>
            <a:prstDash val="solid"/>
            <a:headEnd type="triangle" w="med" len="med"/>
          </a:ln>
        </p:spPr>
      </p:cxnSp>
      <p:cxnSp>
        <p:nvCxnSpPr>
          <p:cNvPr id="23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5524500" y="20478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F7EA6"/>
            </a:solidFill>
            <a:prstDash val="solid"/>
            <a:headEnd type="triangle" w="med" len="med"/>
          </a:ln>
        </p:spPr>
      </p:cxnSp>
      <p:cxnSp>
        <p:nvCxnSpPr>
          <p:cNvPr id="24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8191500" y="20478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F7EA6"/>
            </a:solidFill>
            <a:prstDash val="solid"/>
            <a:headEnd type="triangle" w="med" len="me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FBA7A2-BEAB-452B-88DC-614627746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429000"/>
            <a:ext cx="4953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200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问题反馈：修正驱动、参数与软件逻辑</a:t>
            </a:r>
          </a:p>
        </p:txBody>
      </p:sp>
      <p:cxnSp>
        <p:nvCxnSpPr>
          <p:cNvPr id="26" name=""/>
          <p:cNvCxnSpPr>
            <a:stCxn xmlns:a="http://schemas.openxmlformats.org/drawingml/2006/main" id="6" idx="2"/>
            <a:endCxn xmlns:a="http://schemas.openxmlformats.org/drawingml/2006/main" id="10" idx="3"/>
          </p:cNvCxnSpPr>
          <p:nvPr/>
        </p:nvCxnSpPr>
        <p:spPr>
          <a:xfrm xmlns:a="http://schemas.openxmlformats.org/drawingml/2006/main" flipH="1">
            <a:off x="8001000" y="2667000"/>
            <a:ext cx="1762125" cy="1190625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F7EA6"/>
            </a:solidFill>
            <a:prstDash val="solid"/>
            <a:headEnd type="triangle" w="med" len="med"/>
          </a:ln>
        </p:spPr>
      </p:cxnSp>
      <p:cxnSp>
        <p:nvCxnSpPr>
          <p:cNvPr id="27" name=""/>
          <p:cNvCxnSpPr>
            <a:stCxn xmlns:a="http://schemas.openxmlformats.org/drawingml/2006/main" id="10" idx="1"/>
            <a:endCxn xmlns:a="http://schemas.openxmlformats.org/drawingml/2006/main" id="3" idx="2"/>
          </p:cNvCxnSpPr>
          <p:nvPr/>
        </p:nvCxnSpPr>
        <p:spPr>
          <a:xfrm xmlns:a="http://schemas.openxmlformats.org/drawingml/2006/main" flipH="1" flipV="1">
            <a:off x="1762125" y="2667000"/>
            <a:ext cx="1285875" cy="1190625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F7EA6"/>
            </a:solidFill>
            <a:prstDash val="solid"/>
            <a:headEnd type="triangle" w="med" len="me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A61A00-9893-4B31-BD51-716735E46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70000"/>
              </a:lnSpc>
              <a:buNone/>
              <a:defRPr sz="127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测试表述以拟验证为主，未设定具体误差指标的项目不虚构数值。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C72255-E009-4A80-AFB3-8F1654A99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238875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50000"/>
              </a:lnSpc>
              <a:buNone/>
              <a:def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09 / 10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3F78E7-5A0D-46A5-9E9C-49A21045F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3887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资料来源：开题报告测试与验证方案</a:t>
            </a:r>
          </a:p>
        </p:txBody>
      </p:sp>
    </p:spTree>
    <p:extLst>
      <p:ext uri="{BB962C8B-B14F-4D97-AF65-F5344CB8AC3E}">
        <p14:creationId xmlns:p14="http://schemas.microsoft.com/office/powerpoint/2010/main" val="37079245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0C29534-50C8-42E7-9CFA-D97AB6248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76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2250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研究方法与技术路线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729834-40FF-4437-A3FC-D262CB721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EA6"/>
          </a:solidFill>
          <a:ln xmlns:a="http://schemas.openxmlformats.org/drawingml/2006/main" w="0">
            <a:solidFill>
              <a:srgbClr val="3F7EA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66B2E6-C74D-4FC2-A24A-0057B52D9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81125"/>
            <a:ext cx="2095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需求分析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功能范围与边界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940328-1170-4092-830D-FB4C59962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381125"/>
            <a:ext cx="2095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系统设计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硬件结构与任务划分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5DBA35-4B67-4193-A6D7-439046175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381125"/>
            <a:ext cx="2095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功能实现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驱动、算法与通信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2B9DC1-46BA-46BE-8FD2-289F4FA72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381125"/>
            <a:ext cx="2095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联调测试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保护、SOC与上位机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6E6D8E-73E3-4A8F-84D9-930D916F1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1381125"/>
            <a:ext cx="1428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7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总结完善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97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数据整理与论文撰写</a:t>
            </a:r>
          </a:p>
        </p:txBody>
      </p:sp>
      <p:cxnSp>
        <p:nvCxnSpPr>
          <p:cNvPr id="39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2857500" y="185737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F7EA6"/>
            </a:solidFill>
            <a:prstDash val="solid"/>
            <a:headEnd type="triangle" w="med" len="med"/>
          </a:ln>
        </p:spPr>
      </p:cxnSp>
      <p:cxnSp>
        <p:nvCxnSpPr>
          <p:cNvPr id="40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5334000" y="185737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F7EA6"/>
            </a:solidFill>
            <a:prstDash val="solid"/>
            <a:headEnd type="triangle" w="med" len="med"/>
          </a:ln>
        </p:spPr>
      </p:cxnSp>
      <p:cxnSp>
        <p:nvCxnSpPr>
          <p:cNvPr id="41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810500" y="185737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F7EA6"/>
            </a:solidFill>
            <a:prstDash val="solid"/>
            <a:headEnd type="triangle" w="med" len="med"/>
          </a:ln>
        </p:spPr>
      </p:cxnSp>
      <p:cxnSp>
        <p:nvCxnSpPr>
          <p:cNvPr id="42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H="1">
            <a:off x="10239375" y="1857375"/>
            <a:ext cx="47625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F7EA6"/>
            </a:solidFill>
            <a:prstDash val="solid"/>
            <a:headEnd type="triangle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C8913E-6467-4951-8232-8CD7D1D9C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1809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7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2026.6.25-9.22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67F520-8AA5-42B8-AFBC-0B93C3009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019425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选题、任务书与开题报告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BC805F-0CD4-4F62-B00D-E566170B0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43300"/>
            <a:ext cx="1809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7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2026.9.23-10.19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9AD025-2D0C-4A53-8FFA-3743D5D98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09975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开题答辩与系统设计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0A2811-8653-49F8-AF95-E4BCBB28A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33850"/>
            <a:ext cx="1809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7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2026.10.20-11.1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CC2929-A720-4C39-95FF-6631701E5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200525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中期检查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482BA6-ADBA-442A-BA59-CABBB4900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24400"/>
            <a:ext cx="1809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7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2026.11.2-12.22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E8E870-8A21-46E8-ABBC-2E57B31C3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791075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论文撰写、评审与送审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7A4B7B-D09D-410B-9FF0-EC095A78C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14950"/>
            <a:ext cx="1809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7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2026.12.23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ACEF68-66DF-4A3A-B88B-00A83BA10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381625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毕业答辩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838488-84E9-4C2B-9709-8D675A83F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52750"/>
            <a:ext cx="12382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7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文献研究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BC3DE9-E18A-47A0-84FA-6A2705D58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1942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梳理BMS架构与算法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7C4BB5-5EDA-4C47-B5E1-23E84F1C6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43300"/>
            <a:ext cx="12382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7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系统设计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69E488-DFDC-41A6-A1C1-C6CD6434D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60997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确定软硬件边界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4B3DE2-CDA9-4B91-B7F6-A85B98482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33850"/>
            <a:ext cx="12382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7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实验调试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4932509-9D56-49B2-9DE6-993A11B99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20052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验证通信与保护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2818873-574A-438B-AC66-DE8011480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724400"/>
            <a:ext cx="12382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6D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7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4A7C"/>
                </a:solidFill>
                <a:latin typeface="Microsoft YaHei"/>
                <a:ea typeface="Microsoft YaHei"/>
                <a:cs typeface="Microsoft YaHei"/>
              </a:rPr>
              <a:t>对比验证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0D86B39-C255-4838-8975-A9854DD8F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79107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22303B"/>
                </a:solidFill>
                <a:latin typeface="Microsoft YaHei"/>
                <a:ea typeface="Microsoft YaHei"/>
                <a:cs typeface="Microsoft YaHei"/>
              </a:rPr>
              <a:t>分析SOC与运行稳定性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34AA47D-6663-4EF8-84D7-7C34C0621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238875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50000"/>
              </a:lnSpc>
              <a:buNone/>
              <a:def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10 / 10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9A9331D-73A5-48F9-AD36-CE64CE2B8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3887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资料来源：开题报告研究方法、技术路线与进度安排</a:t>
            </a:r>
          </a:p>
        </p:txBody>
      </p:sp>
    </p:spTree>
    <p:extLst>
      <p:ext uri="{BB962C8B-B14F-4D97-AF65-F5344CB8AC3E}">
        <p14:creationId xmlns:p14="http://schemas.microsoft.com/office/powerpoint/2010/main" val="1764023277"/>
      </p:ext>
    </p:extLst>
  </p:cSld>
</p:sld>
</file>

<file path=ppt/theme/theme1.xml><?xml version="1.0" encoding="utf-8"?>
<a:theme xmlns:a="http://schemas.openxmlformats.org/drawingml/2006/main" name="ChatGPT">
  <a:themeElements>
    <a:clrScheme name="Cool Blue Gray Research">
      <a:dk1>
        <a:srgbClr val="12212B"/>
      </a:dk1>
      <a:lt1>
        <a:srgbClr val="FFFFFF"/>
      </a:lt1>
      <a:dk2>
        <a:srgbClr val="1F3342"/>
      </a:dk2>
      <a:lt2>
        <a:srgbClr val="DCEAF3"/>
      </a:lt2>
      <a:accent1>
        <a:srgbClr val="174A7C"/>
      </a:accent1>
      <a:accent2>
        <a:srgbClr val="3F7EA6"/>
      </a:accent2>
      <a:accent3>
        <a:srgbClr val="D9A25F"/>
      </a:accent3>
      <a:accent4>
        <a:srgbClr val="B94B4B"/>
      </a:accent4>
      <a:accent5>
        <a:srgbClr val="2F7D5B"/>
      </a:accent5>
      <a:accent6>
        <a:srgbClr val="6A7F95"/>
      </a:accent6>
      <a:hlink>
        <a:srgbClr val="174A7C"/>
      </a:hlink>
      <a:folHlink>
        <a:srgbClr val="3F7EA6"/>
      </a:folHlink>
    </a:clrScheme>
    <a:fontScheme name="Microsoft YaHei">
      <a:majorFont>
        <a:latin typeface="Microsoft YaHei"/>
        <a:ea typeface="Microsoft YaHei"/>
        <a:cs typeface="Microsoft YaHei"/>
      </a:majorFont>
      <a:minorFont>
        <a:latin typeface="Microsoft YaHei"/>
        <a:ea typeface="Microsoft YaHei"/>
        <a:cs typeface="Microsoft YaHei"/>
      </a:minorFont>
    </a:fontScheme>
    <a:fmtScheme name="Cool Blue Gray Research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2026-09-20T07:07:31.4310000Z</dcterms:created>
  <dcterms:modified xsi:type="dcterms:W3CDTF">2026-09-20T07:07:31.4310000Z</dcterms:modified>
</coreProperties>
</file>